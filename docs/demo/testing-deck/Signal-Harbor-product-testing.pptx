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857500"/>
            <a:ext cx="1143000" cy="57150"/>
          </a:xfrm>
          <a:prstGeom prst="rect">
            <a:avLst/>
          </a:prstGeom>
          <a:solidFill>
            <a:srgbClr val="E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43250"/>
            <a:ext cx="104775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Testing Signal Harbor the way you will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530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C9D4E2"/>
                </a:solidFill>
                <a:latin typeface="Calibri"/>
              </a:rPr>
              <a:t>Product testing for Evergreen Office. Real use cases, synthetic data, month by month.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C9D4E2"/>
                </a:solidFill>
                <a:latin typeface="Calibri"/>
              </a:rPr>
              <a:t>13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How we test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8750"/>
            <a:ext cx="108204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We take a real family-office question and run it end to end.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All data is synthetic. Evergreen Office, its entities and funds are invented.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We run month by month: a build month, then the months after it.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Each step is done as the person who would do it: owner, sponsor, data engineer, head of data, approver.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Every figure is checked against an answer key written before the run.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Every run has a run ID, so any figure can be traced back to its files.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F1B2D"/>
                </a:solidFill>
                <a:latin typeface="Calibri"/>
              </a:rPr>
              <a:t>•  What breaks is written down, fixed, and run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The ten family-office use cases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81125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381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The question it answers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P&amp;L and NAV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Why did NAV move this month?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Reconciliation and break 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Where do two records of the same money disagree?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Manager information inbox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What did our managers send, and what is late?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Certified reporting and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Is the signed monthly report right against the benchmark?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Allocation and limit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Are we inside our limits?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Private-asset liquidity and commitments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Can we meet the capital calls?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Manager diligence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What do we know about this manager, in one place?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Trade and valuation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Do our trades agree with the administrator?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Process map and SOP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How is the monthly work done, step by step?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UC10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Data pipeline and insight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How does a question become a live dashboard?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WHY THESE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Why we ran UC5, UC6 and UC8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Files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Bank, administrator, notices, trades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274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894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Bronze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Kept exactly as received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968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588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Silver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Clean, shared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662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2282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Gold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One table per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356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Dashboards and cases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What people read and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57500"/>
            <a:ext cx="1082040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They load new files every month, so the whole data path is tested, not a demo screen.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They end in something a person uses: a Lumen dashboard and Tally cases in Action.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Together they cover limits, liquidity and trades, the three monthly worries of a family office.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They use all four centres and all three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Every use case takes the same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Intent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North drafts with the owner. The sponsor signs.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274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894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Build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Span designs. Files land in bronze. Silver is reused. Gold is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968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588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Prove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The first run is on a copy, checked against the answer key. Then it goes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662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2282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Consume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Lumen builds the dashboard. Every figure says where it came from.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3560" y="1381125"/>
            <a:ext cx="2072640" cy="1238250"/>
          </a:xfrm>
          <a:prstGeom prst="roundRect">
            <a:avLst/>
          </a:prstGeom>
          <a:solidFill>
            <a:srgbClr val="FFFFFF"/>
          </a:solidFill>
          <a:ln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42875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77878"/>
                </a:solidFill>
                <a:latin typeface="Calibri"/>
              </a:rPr>
              <a:t>Action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Tally opens a case for each break. A person decides.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57500"/>
            <a:ext cx="1082040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Humans act at four points: sign the intent, approve the design, go live, close a case.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F1B2D"/>
                </a:solidFill>
                <a:latin typeface="Calibri"/>
              </a:rPr>
              <a:t>•  Agents draft and check. People decide.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UC5 ·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Are we inside our limits?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Each month the office checks every portfolio against its signed limits.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Limits cover share in an asset class, a manager and a single holding.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The risk owner runs the check. The CIO signs any change to a limit.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A breach becomes a case with a maker and a checker.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Run: July 2026 as the build month, then August, September and October.</a:t>
            </a:r>
          </a:p>
        </p:txBody>
      </p:sp>
      <p:pic>
        <p:nvPicPr>
          <p:cNvPr id="7" name="Picture 6" descr="uc5-limits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Reconciliations: the monthly check, with the date the files were received.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UC5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September matched the answer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Hedge funds 54.95% and listed equity 80.61%, as in the key.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Two breaches, each split into real or stale.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Harborview: 5.75% against a 5% limit. Real. Over by USD 308,000.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Cedarpoint: 56.50%, over by USD 343,750, because one input was stale.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Tally wrote the case from the records. The person decides what to do.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Run ID run-20261012-235352-2869.</a:t>
            </a:r>
          </a:p>
        </p:txBody>
      </p:sp>
      <p:pic>
        <p:nvPicPr>
          <p:cNvPr id="7" name="Picture 6" descr="uc5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The Harborview case: what Tally found and what to do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8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UC5 · FOUND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What the test found, and what we changed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81125"/>
          <a:ext cx="1082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0"/>
                <a:gridCol w="5410200"/>
              </a:tblGrid>
              <a:tr h="381000">
                <a:tc>
                  <a:txBody>
                    <a:bodyPr/>
                    <a:lstStyle/>
                    <a:p>
                      <a:r>
                        <a:rPr sz="1300"/>
                        <a:t>Found in the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Fixed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A file loaded late never counted for the day it arrived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The check now reads by the date a file was received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A breach that stayed open opened a new case every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One case per standing breach; later months are added to it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The administrator's totals block under the data was ignored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Read as control totals and checked against the rows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Limit changes had to be typed in by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Import the signed limits workbook; the CIO signs the changes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Still open: a limits dashboard in Consume, and new valuations inside the administrator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Two decisions for you; see the last slide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9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UC6 · LIQUIDITY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Can we meet the capital calls?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The CFO wants one page per month: cash per entity, calls due in 30 and in 31 to 60 days, and any shortfall.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It also shows what is still to be called on each private fund.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Mei, the owner, described it to North in plain words. North drafted the intent beside her.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Daniel, the sponsor, read it and signed it.</a:t>
            </a:r>
          </a:p>
        </p:txBody>
      </p:sp>
      <p:pic>
        <p:nvPicPr>
          <p:cNvPr id="7" name="Picture 6" descr="uc6-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Intent: North drafts the intent as Mei talks.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10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UC6 ·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Two months,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Mei handed the project to Leo, the data engineer.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Span drafted the design pack. Anita, head of data, approved 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July: six files in. Commitments loaded after the five funds were approved.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Run on a copy: 11 of 11 checks passed. Then live.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Lumen's starter dashboard, six tiles, approved by Anita.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August loaded with July's mappings and no edits.</a:t>
            </a:r>
          </a:p>
        </p:txBody>
      </p:sp>
      <p:pic>
        <p:nvPicPr>
          <p:cNvPr id="7" name="Picture 6" descr="uc6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Build: Span's design pack, with gold tables and silver reused.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UC6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Cash by entity matched to the 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81125"/>
          <a:ext cx="1082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381000">
                <a:tc>
                  <a:txBody>
                    <a:bodyPr/>
                    <a:lstStyle/>
                    <a:p>
                      <a:r>
                        <a:rPr sz="1300"/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Key 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Run 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Key 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Run August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Cash, Holdings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2,305,906.48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2,305,906.48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2,287,630.12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2,287,630.12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Cash,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1,252,492.34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1,252,492.34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1,199,690.58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1,199,690.58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Cash, Entity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905,000.00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905,000.00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654,014.07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654,014.07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Cash, three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4,463,398.82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4,463,398.82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4,141,334.77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4,141,334.77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Calls due, shortfall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24300"/>
            <a:ext cx="108204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7A4E0C"/>
                </a:solidFill>
                <a:latin typeface="Calibri"/>
              </a:rPr>
              <a:t>Fixed after the test: Span's first gold design did not run; one late notice changed the amount still to be called; North listed some figures as sources. Still open: Action raised a case for a call already paid.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UC6 ·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What a person sees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One list of what needs a person today.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Each line says what happened and the one thing to do.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Here: a capital call case from Tally, with a button to take 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The test showed this call was already paid, so Mei dismissed it as paid. Next: paid calls will not raise a case.</a:t>
            </a:r>
          </a:p>
        </p:txBody>
      </p:sp>
      <p:pic>
        <p:nvPicPr>
          <p:cNvPr id="7" name="Picture 6" descr="uc6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393" y="1381125"/>
            <a:ext cx="6086563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Action, as Raj the approver, in the August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UC8 ·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Do our trades agree with the administrator?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Each month, every trade in our export is matched to the administrator's file.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A break above USD 5,000 needs a person. Raj approves corrections.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Mei wrote the intent with North in about 20 minutes.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Daniel signed it. Span drafted the design. Anita approved it.</a:t>
            </a:r>
          </a:p>
        </p:txBody>
      </p:sp>
      <p:pic>
        <p:nvPicPr>
          <p:cNvPr id="7" name="Picture 6" descr="uc8-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The signed intent: purpose, readers, figures and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UC8 · HONEST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Blocked at the first load,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Intent, signature and design approval all worked.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July's trades did not reach the silver trades table, so the check compared 0 trades.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The check itself works and holds the signed USD 5,000 allowance.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Months 2 to 4 were not run; they would only repeat the empty check.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Next: a trade loader into silver, then rerun from the load step.</a:t>
            </a:r>
          </a:p>
        </p:txBody>
      </p:sp>
      <p:pic>
        <p:nvPicPr>
          <p:cNvPr id="7" name="Picture 6" descr="uc8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78" y="1381125"/>
            <a:ext cx="6024392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The trade check before any trades were loaded.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Silver layer and lineage</a:t>
            </a:r>
          </a:p>
        </p:txBody>
      </p:sp>
      <p:pic>
        <p:nvPicPr>
          <p:cNvPr id="6" name="Picture 5" descr="data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333500"/>
            <a:ext cx="5029200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24375"/>
            <a:ext cx="5295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Map, Data model: bronze, silver and gold, and what a change would touch.</a:t>
            </a:r>
          </a:p>
        </p:txBody>
      </p:sp>
      <p:pic>
        <p:nvPicPr>
          <p:cNvPr id="8" name="Picture 7" descr="uc6-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64" y="1333500"/>
            <a:ext cx="4623370" cy="3143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0300" y="4524375"/>
            <a:ext cx="5295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Operations: every source, every run, every run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53000"/>
            <a:ext cx="1082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B2D"/>
                </a:solidFill>
                <a:latin typeface="Calibri"/>
              </a:rPr>
              <a:t>•  Source to bronze: kept exactly as received, with arrival time.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B2D"/>
                </a:solidFill>
                <a:latin typeface="Calibri"/>
              </a:rPr>
              <a:t>•  Bronze to silver: clean shared tables for entity, fund, cash and trades. Reused, not rebuilt.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B2D"/>
                </a:solidFill>
                <a:latin typeface="Calibri"/>
              </a:rPr>
              <a:t>•  Silver to gold: one table per question. Every figure keeps its trail back to file and row.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A dashboard studio shaped by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You say what you want in plain words. Lumen places the tile at once.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Select a tile and talk about that tile only.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Every change is a numbered step, so you can go back.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Comments and approval stay on the dashboard.</a:t>
            </a:r>
          </a:p>
        </p:txBody>
      </p:sp>
      <p:pic>
        <p:nvPicPr>
          <p:cNvPr id="7" name="Picture 6" descr="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716" y="1381125"/>
            <a:ext cx="5005916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The studio: talk to Lumen on the left, the tiles it placed on the right.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From a sketch to a dashboard</a:t>
            </a:r>
          </a:p>
        </p:txBody>
      </p:sp>
      <p:pic>
        <p:nvPicPr>
          <p:cNvPr id="6" name="Picture 5" descr="sketch-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3454400" cy="234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000625"/>
            <a:ext cx="345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1. The sketch, drawn by hand</a:t>
            </a:r>
          </a:p>
        </p:txBody>
      </p:sp>
      <p:pic>
        <p:nvPicPr>
          <p:cNvPr id="8" name="Picture 7" descr="sketch-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1333500"/>
            <a:ext cx="345440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68800" y="5000625"/>
            <a:ext cx="345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2. What Lumen read</a:t>
            </a:r>
          </a:p>
        </p:txBody>
      </p:sp>
      <p:pic>
        <p:nvPicPr>
          <p:cNvPr id="10" name="Picture 9" descr="sketch-bui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044" y="1333500"/>
            <a:ext cx="258591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51800" y="5000625"/>
            <a:ext cx="345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3. The built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29250"/>
            <a:ext cx="1082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B2D"/>
                </a:solidFill>
                <a:latin typeface="Calibri"/>
              </a:rPr>
              <a:t>•  Draw the page you want. Lumen reads the boxes and labels, says what it understood, and builds it on your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18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Lumen offers three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For any tile, Lumen offers three ways to show 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Each option says why, in one line, based on industry practice.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One is marked as Lumen's pick. You choose.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If you choose otherwise, Lumen does it your way.</a:t>
            </a:r>
          </a:p>
        </p:txBody>
      </p:sp>
      <p:pic>
        <p:nvPicPr>
          <p:cNvPr id="7" name="Picture 6" descr="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45" y="1381125"/>
            <a:ext cx="2303859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Lumen's pick, with the industry practice behind it. The next option follows below.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19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Chart checks before you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Lumen checks the dashboard before anyone reads 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Same money counted twice.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A trend flattened by the wrong scale.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Wasted space, house style, too many things on one page.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Each check offers a one-click fix.</a:t>
            </a:r>
          </a:p>
        </p:txBody>
      </p:sp>
      <p:pic>
        <p:nvPicPr>
          <p:cNvPr id="7" name="Picture 6" descr="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0" y="1381125"/>
            <a:ext cx="6115050" cy="407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The checks panel, each finding with its fix.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20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New chart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447675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Bullet: a figure against its target or limit.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Waterfall: what moved a total.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Small multiples: one small chart per entity, same scale.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Calendar: what falls due on which day.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Treemap and KPI strip: the whole and the headline figures.</a:t>
            </a:r>
          </a:p>
        </p:txBody>
      </p:sp>
      <p:pic>
        <p:nvPicPr>
          <p:cNvPr id="7" name="Picture 6" descr="new-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594" y="1381125"/>
            <a:ext cx="2926161" cy="409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1150" y="5619750"/>
            <a:ext cx="61150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B6678"/>
                </a:solidFill>
                <a:latin typeface="Calibri"/>
              </a:rPr>
              <a:t>New chart types on synthetic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21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77878"/>
                </a:solidFill>
                <a:latin typeface="Calibri"/>
              </a:rPr>
              <a:t>NEW · TEACH 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0F1B2D"/>
                </a:solidFill>
                <a:latin typeface="Georgia"/>
              </a:rPr>
              <a:t>Books distilled into playbooks for the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1125"/>
            <a:ext cx="5295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77878"/>
                </a:solidFill>
                <a:latin typeface="Georgia"/>
              </a:rPr>
              <a:t>Lumen: how to build a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9750"/>
            <a:ext cx="52959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Ask who reads it and the three to five questions it answers.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Lead with the answer, each figure beside a comparison.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Match the chart to the question: line for trend, sorted bars to compare, waterfall for what moved.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No pies, gauges or 3-D. Check for double counting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300" y="1381125"/>
            <a:ext cx="5295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77878"/>
                </a:solidFill>
                <a:latin typeface="Georgia"/>
              </a:rPr>
              <a:t>Span: how to design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300" y="1809750"/>
            <a:ext cx="52959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Name the business question before any column.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Reuse the shared silver tables; a new one needs a reason.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Write the grain of each table in one sentence.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Calibri"/>
              </a:rPr>
              <a:t>•  Balances are taken at a date, never added across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43500"/>
            <a:ext cx="108204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7A4E0C"/>
                </a:solidFill>
                <a:latin typeface="Calibri"/>
              </a:rPr>
              <a:t>Drawn from classic books on dashboard design, data modelling and investment basics. Practice is suggested, never forced: the person decides.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3890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Evergreen Office is a synthetic family office. All names, files and figures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678"/>
                </a:solidFill>
                <a:latin typeface="Calibri"/>
              </a:rPr>
              <a:t>22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47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5FC2C2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2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What is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8750"/>
            <a:ext cx="108204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UC8: build the trade loader into silver, then rerun July to October.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UC5: two decisions for you: a limits dashboard in Consume, and new valuations in the administrator file.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UC6: Span's gold design runs first time, with no hand rewrite.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Run UC1 to UC4, UC7, UC9 and UC10 the same way, month by month.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Then a trial month on a copy of your own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