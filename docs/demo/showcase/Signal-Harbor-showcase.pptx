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(0:00, 3 minutes with slides 2 and 3). Say: 'Every figure should be able to show where it came from.' Evergreen Office is a fictional family office; every name, file and figure is invented. Do not name any real client.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council asks one question each month. The answer is in manager statements (PDFs), an administrator export, a trading file and someone's working spreadsheet. Three things go wrong: it is late, it is revised after issue, and a number cannot be walked back to its file or the person who checked it. The question is simple; every figure should be able to show where it came from.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four centres, four agents; agents draft, people sign. Action is what needs a person today. Build turns a need into a live approved report. Consume is where the council reads. Map shows what each number is made of. North listens and drafts the intent; Span designs the data as architect and builds it as builder; Lumen proposes the dashboard; Tally explains a case.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(0:03 to 0:06): sign in as Daniel Foo, open Intent, read the signed intent, then open the Process map tab. Say: 'The sponsor signed this. It is read-only; a change is a new version.' Point at the signature line and the process map lanes. Measured in our walkthrough: about ten minutes of conversation, ten messages from the business owner, one signature. Fallback: img/intent-ready.png.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(0:06 to 0:10): sign in as Anita Rao, open Build, pick the project, open Tables and SQL, open one gold table. Say: 'Span drafted the design. Anita approves it before anything is built. Approved means locked.' Measured: two gold tables, five silver tables, 19 mapping rows, four questions answered. Fallback: img/span-design-pack.png and img/head-of-data-approve.png.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(0:10 to 0:15): still as Anita, open Pipelines and show the last check result. Say: 'The builder ran on a copy and checked every line against the September report. All three figures matched.' Point at the 4.17 / 2.71 / 1.46 lines with Matches. Sign convention: say 'portfolio minus benchmark, in percentage points'. The first run matched; version 2 corrected four definition texts and the rerun matched again before go-live. Fallbacks: img/builder-variance.png, img/pack-v2-approved.png, img/go-live.png.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(0:15 to 0:20): sign in as Daniel Foo. Open Consume: Today, then Financial health, then Markets. On one Markets line read the FILE or LIVE API tag and its date. Say: 'Every outside line says where it came from and when.' Also mention Reports (library and approved dashboards), What if, and the USD/SGD switch at top right. A missing input shows as missing. Fallbacks: img/consume-today.png, consume-health.png, consume-markets.png.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(0:20 to 0:24): sign in as Raj Patel, open Action, open one case, click Where is this from? on a figure. Say: 'Action is one page of what needs a person. Every figure shows its trail.' Show Close as timing on a break Tally reads as timing, and Done today growing. Follow-ups to managers are drafted for a person to copy; nothing is sent. Fallback: img/action-one-page.png.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(0:24 to 0:27): sign in as Anita Rao, open Map. The default view is Ontology. Zoom with the plus and minus buttons or ctrl-wheel at the pointer, Fit resets, drag pans. Click a node for its owner, state and connections. Pick one project to see its steps grow. Then switch to Data model on the next slide. Fallback: img/map-ontology.png.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still on Map, switch to Data model. Say: 'The Map shows what each number is made of.' Point at the Bronze, Silver and Gold labels. Switch between Loaded and Whole model. Pick a silver table and show what it feeds; pick a gold table and show what it reads and 'If this table changes'. The data team sees every layer; everyone else sees only the gold tables of projects they may see. Fallback: img/map-data-model.png.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sign in as Leo Park (data engineer and ops), open Build, then the Operations tab next to Projects. Four tiles, then the Sources table (when each source last arrived), Live pipelines, Runs (run ID, TEST or PRODUCTION badge, click a run for its steps) and Deliveries (email and Slack previews). Anything wrong also lands in Action for the person who owns it. Fallback: img/operations.png.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(0:27 to 0:28): as Leo Park, open Build, then Connect an API (also under Settings, Connectors). Show the four providers and their key status. Do not enter or paste any key. Say: 'Market data comes in through the same gateway and labels as the files.' Frankfurter and MAS need no key; FRED and Finnhub use a key stored by the administrator. SGS yields are the yield at the last auction of each tenor, not a daily curve. SORA is not connected: it needs a MAS API key registration. Fallback: img/connect-api.png.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every run, test or production, gets an ID such as run-20261012-131500-ab12. Operations lists them. The chain is: source file, file batch, record, bronze with its load ID, gold with the run ID that built it. Be honest about the edges: the run ID is on gold tables today; the bronze load ID on the market-data loader and the run ID on silver tables are still being joined up. Runs are visible to the data team in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agents draft, people sign. Sponsor signs the intent and approves the dashboard and each delivery channel. The business owner sends work for approval and never approves her own. The head of data approves the design pack, the build plan and verified Map items. The data engineer confirms sources and presses Go live. The admin gives access. Every role opens on Action and can read Consume, with figures filtered by access. Settings follow the role: three items for the sponsor and the business owner, up to sixteen for the administrator. Operations and the full data model are for the data team. Signing in per role is on the run sheet.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Slides only. Say: 'one exit'. People use a browser; the API has one permission table and refuses any route not in it; four agents share one read-only loop with a guard that every figure must trace to a recorded fact; the only way out is the egress gateway (allowlist, names masked, no raw rows, every call logged, outage breaker). Company data sits in its own plane: landing, bronze, silver, gold per project, checks, cases, documents and logs. Deployment: one service, one persistent volume per company, a health check; the office's own cloud is a rollout option.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Slides only. Say: names are masked and raw rows never leave. Every figure traces through Where is this from?. Approvals are by a different person; approved is locked. Text in files is data, never instructions; agents cannot approve or send. Run tracking: every run, test or production, has a run ID, its person, its trigger and its steps; slide 13 shows the chain. Demo data is synthetic. Production controls (keys, roles, retention) are set per office during rollout.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Slides only. Measured in our walkthrough (11 Oct 2026, synthetic data): about 45 minutes from first words to delivery live, of which about 10 minutes was the conversation with North; four people; 26 model calls and about USD 0.01 of model cost in test mode. Estimated, to be validated with the client's team: the typical manual month-end (two working days). Never present the manual figure as measured. Not included in the 45 minutes: waiting for managers to send statements, and real corrections found later.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Slides only. Four steps: choose one use case with an owner (proposed: the monthly portfolio against its benchmark); prove it on synthetic or pilot files, checking every line against a report already issued; run alongside one real month-end with the head of data signing off; extend one use case at a time. Hosting: the demo platform today, your own cloud when the pilot ends. Timing depends on file access.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Slides only. The six decisions: one use case and one owner; sample files for each source; a head of data who approves the design pack and the plan; an access list (who signs, who reads, who approves); the hosting choice; and the success line (the pilot report ties to the issued figures). Next step: a working session with the owner, the head of data and the business reader, within the week.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(0:29 to 0:30). If a question goes beyond the deck, say you will follow up in writing. Do not guess at a figure. See the run sheet for likely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Rectangle 1"/>
          <p:cNvSpPr/>
          <p:nvPr/>
        </p:nvSpPr>
        <p:spPr>
          <a:xfrm>
            <a:off x="685800" y="2011680"/>
            <a:ext cx="1280160" cy="64008"/>
          </a:xfrm>
          <a:prstGeom prst="rect">
            <a:avLst/>
          </a:prstGeom>
          <a:solidFill>
            <a:srgbClr val="E0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0"/>
            <a:ext cx="10515600" cy="365760"/>
          </a:xfrm>
          <a:prstGeom prst="rect">
            <a:avLst/>
          </a:prstGeom>
          <a:noFill/>
        </p:spPr>
        <p:txBody>
          <a:bodyPr wrap="square" lIns="45720" rIns="45720" tIns="27432" bIns="27432">
            <a:spAutoFit/>
          </a:bodyPr>
          <a:lstStyle/>
          <a:p>
            <a:r>
              <a:rPr sz="1300" b="1">
                <a:solidFill>
                  <a:srgbClr val="5FC2C2"/>
                </a:solidFill>
                <a:latin typeface="Calibri"/>
              </a:rPr>
              <a:t>CLIENT SHOWCASE · EVERGREEN OFFICE · 13 OCT 2026</a:t>
            </a:r>
          </a:p>
        </p:txBody>
      </p:sp>
      <p:sp>
        <p:nvSpPr>
          <p:cNvPr id="4" name="Title"/>
          <p:cNvSpPr txBox="1"/>
          <p:nvPr/>
        </p:nvSpPr>
        <p:spPr>
          <a:xfrm>
            <a:off x="685800" y="2697480"/>
            <a:ext cx="10515600" cy="1645920"/>
          </a:xfrm>
          <a:prstGeom prst="rect">
            <a:avLst/>
          </a:prstGeom>
          <a:noFill/>
        </p:spPr>
        <p:txBody>
          <a:bodyPr wrap="square" lIns="45720" rIns="45720" tIns="27432" bIns="27432">
            <a:spAutoFit/>
          </a:bodyPr>
          <a:lstStyle/>
          <a:p>
            <a:r>
              <a:rPr sz="4400" b="1">
                <a:solidFill>
                  <a:srgbClr val="FFFFFF"/>
                </a:solidFill>
                <a:latin typeface="Georgia"/>
              </a:rPr>
              <a:t>Signal Harbor — every figure, explained</a:t>
            </a:r>
          </a:p>
        </p:txBody>
      </p:sp>
      <p:sp>
        <p:nvSpPr>
          <p:cNvPr id="5" name="TextBox 4"/>
          <p:cNvSpPr txBox="1"/>
          <p:nvPr/>
        </p:nvSpPr>
        <p:spPr>
          <a:xfrm>
            <a:off x="685800" y="4526280"/>
            <a:ext cx="9601200" cy="1097280"/>
          </a:xfrm>
          <a:prstGeom prst="rect">
            <a:avLst/>
          </a:prstGeom>
          <a:noFill/>
        </p:spPr>
        <p:txBody>
          <a:bodyPr wrap="square" lIns="45720" rIns="45720" tIns="27432" bIns="27432">
            <a:spAutoFit/>
          </a:bodyPr>
          <a:lstStyle/>
          <a:p>
            <a:r>
              <a:rPr sz="1800" b="0">
                <a:solidFill>
                  <a:srgbClr val="C9D4E2"/>
                </a:solidFill>
                <a:latin typeface="Calibri"/>
              </a:rPr>
              <a:t>How a monthly number moves from the source file, through a design the head of data approves, to a dashboard, a case and a traceable answer for the family council.</a:t>
            </a:r>
          </a:p>
        </p:txBody>
      </p:sp>
      <p:sp>
        <p:nvSpPr>
          <p:cNvPr id="6" name="TextBox 5"/>
          <p:cNvSpPr txBox="1"/>
          <p:nvPr/>
        </p:nvSpPr>
        <p:spPr>
          <a:xfrm>
            <a:off x="685800" y="6446520"/>
            <a:ext cx="9144000" cy="274320"/>
          </a:xfrm>
          <a:prstGeom prst="rect">
            <a:avLst/>
          </a:prstGeom>
          <a:noFill/>
        </p:spPr>
        <p:txBody>
          <a:bodyPr wrap="square" lIns="45720" rIns="45720" tIns="27432" bIns="27432">
            <a:spAutoFit/>
          </a:bodyPr>
          <a:lstStyle/>
          <a:p>
            <a:r>
              <a:rPr sz="900" b="0">
                <a:solidFill>
                  <a:srgbClr val="9FB0C4"/>
                </a:solidFill>
                <a:latin typeface="Calibri"/>
              </a:rPr>
              <a:t>Evergreen Office is a synthetic family office. All names, files and figures are invented.</a:t>
            </a:r>
          </a:p>
        </p:txBody>
      </p:sp>
      <p:sp>
        <p:nvSpPr>
          <p:cNvPr id="7" name="TextBox 6"/>
          <p:cNvSpPr txBox="1"/>
          <p:nvPr/>
        </p:nvSpPr>
        <p:spPr>
          <a:xfrm>
            <a:off x="10607040" y="6446520"/>
            <a:ext cx="914400" cy="274320"/>
          </a:xfrm>
          <a:prstGeom prst="rect">
            <a:avLst/>
          </a:prstGeom>
          <a:noFill/>
        </p:spPr>
        <p:txBody>
          <a:bodyPr wrap="square" lIns="45720" rIns="45720" tIns="27432" bIns="27432">
            <a:spAutoFit/>
          </a:bodyPr>
          <a:lstStyle/>
          <a:p>
            <a:pPr algn="r"/>
            <a:r>
              <a:rPr sz="900" b="0">
                <a:solidFill>
                  <a:srgbClr val="9FB0C4"/>
                </a:solidFill>
                <a:latin typeface="Calibri"/>
              </a:rPr>
              <a:t>1 /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Kicker"/>
          <p:cNvSpPr txBox="1"/>
          <p:nvPr/>
        </p:nvSpPr>
        <p:spPr>
          <a:xfrm>
            <a:off x="685800" y="384048"/>
            <a:ext cx="10789920" cy="274320"/>
          </a:xfrm>
          <a:prstGeom prst="rect">
            <a:avLst/>
          </a:prstGeom>
          <a:noFill/>
        </p:spPr>
        <p:txBody>
          <a:bodyPr wrap="square" lIns="45720" rIns="45720" tIns="27432" bIns="27432">
            <a:spAutoFit/>
          </a:bodyPr>
          <a:lstStyle/>
          <a:p>
            <a:r>
              <a:rPr sz="1100" b="1">
                <a:solidFill>
                  <a:srgbClr val="177878"/>
                </a:solidFill>
                <a:latin typeface="Calibri"/>
              </a:rPr>
              <a:t>THE PROBLEM</a:t>
            </a:r>
          </a:p>
        </p:txBody>
      </p:sp>
      <p:sp>
        <p:nvSpPr>
          <p:cNvPr id="3" name="Title"/>
          <p:cNvSpPr txBox="1"/>
          <p:nvPr/>
        </p:nvSpPr>
        <p:spPr>
          <a:xfrm>
            <a:off x="685800" y="658368"/>
            <a:ext cx="10789920" cy="914400"/>
          </a:xfrm>
          <a:prstGeom prst="rect">
            <a:avLst/>
          </a:prstGeom>
          <a:noFill/>
        </p:spPr>
        <p:txBody>
          <a:bodyPr wrap="square" lIns="45720" rIns="45720" tIns="27432" bIns="27432">
            <a:spAutoFit/>
          </a:bodyPr>
          <a:lstStyle/>
          <a:p>
            <a:r>
              <a:rPr sz="2700" b="1">
                <a:solidFill>
                  <a:srgbClr val="0F1B2D"/>
                </a:solidFill>
                <a:latin typeface="Georgia"/>
              </a:rPr>
              <a:t>When the council asks “how did we do?”, the answer is in six places.</a:t>
            </a:r>
          </a:p>
        </p:txBody>
      </p:sp>
      <p:sp>
        <p:nvSpPr>
          <p:cNvPr id="4" name="Footer"/>
          <p:cNvSpPr txBox="1"/>
          <p:nvPr/>
        </p:nvSpPr>
        <p:spPr>
          <a:xfrm>
            <a:off x="685800" y="6446520"/>
            <a:ext cx="9144000" cy="274320"/>
          </a:xfrm>
          <a:prstGeom prst="rect">
            <a:avLst/>
          </a:prstGeom>
          <a:noFill/>
        </p:spPr>
        <p:txBody>
          <a:bodyPr wrap="square" lIns="45720" rIns="45720" tIns="27432" bIns="27432">
            <a:spAutoFit/>
          </a:bodyPr>
          <a:lstStyle/>
          <a:p>
            <a:r>
              <a:rPr sz="900" b="0">
                <a:solidFill>
                  <a:srgbClr val="5B6678"/>
                </a:solidFill>
                <a:latin typeface="Calibri"/>
              </a:rPr>
              <a:t>Signal Harbor</a:t>
            </a:r>
          </a:p>
        </p:txBody>
      </p:sp>
      <p:sp>
        <p:nvSpPr>
          <p:cNvPr id="5" name="Slide number"/>
          <p:cNvSpPr txBox="1"/>
          <p:nvPr/>
        </p:nvSpPr>
        <p:spPr>
          <a:xfrm>
            <a:off x="10607040" y="6446520"/>
            <a:ext cx="914400" cy="274320"/>
          </a:xfrm>
          <a:prstGeom prst="rect">
            <a:avLst/>
          </a:prstGeom>
          <a:noFill/>
        </p:spPr>
        <p:txBody>
          <a:bodyPr wrap="square" lIns="45720" rIns="45720" tIns="27432" bIns="27432">
            <a:spAutoFit/>
          </a:bodyPr>
          <a:lstStyle/>
          <a:p>
            <a:pPr algn="r"/>
            <a:r>
              <a:rPr sz="900" b="0">
                <a:solidFill>
                  <a:srgbClr val="5B6678"/>
                </a:solidFill>
                <a:latin typeface="Calibri"/>
              </a:rPr>
              <a:t>2 / 20</a:t>
            </a:r>
          </a:p>
        </p:txBody>
      </p:sp>
      <p:sp>
        <p:nvSpPr>
          <p:cNvPr id="6" name="Rounded Rectangle 5"/>
          <p:cNvSpPr/>
          <p:nvPr/>
        </p:nvSpPr>
        <p:spPr>
          <a:xfrm>
            <a:off x="685800" y="1783080"/>
            <a:ext cx="2560320" cy="132588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2286000" cy="365760"/>
          </a:xfrm>
          <a:prstGeom prst="rect">
            <a:avLst/>
          </a:prstGeom>
          <a:noFill/>
        </p:spPr>
        <p:txBody>
          <a:bodyPr wrap="square" lIns="45720" rIns="45720" tIns="27432" bIns="27432">
            <a:spAutoFit/>
          </a:bodyPr>
          <a:lstStyle/>
          <a:p>
            <a:r>
              <a:rPr sz="1600" b="1">
                <a:solidFill>
                  <a:srgbClr val="177878"/>
                </a:solidFill>
                <a:latin typeface="Georgia"/>
              </a:rPr>
              <a:t>Manager statements</a:t>
            </a:r>
          </a:p>
        </p:txBody>
      </p:sp>
      <p:sp>
        <p:nvSpPr>
          <p:cNvPr id="8" name="TextBox 7"/>
          <p:cNvSpPr txBox="1"/>
          <p:nvPr/>
        </p:nvSpPr>
        <p:spPr>
          <a:xfrm>
            <a:off x="822960" y="2286000"/>
            <a:ext cx="2286000" cy="777239"/>
          </a:xfrm>
          <a:prstGeom prst="rect">
            <a:avLst/>
          </a:prstGeom>
          <a:noFill/>
        </p:spPr>
        <p:txBody>
          <a:bodyPr wrap="square" lIns="45720" rIns="45720" tIns="27432" bIns="27432">
            <a:spAutoFit/>
          </a:bodyPr>
          <a:lstStyle/>
          <a:p>
            <a:r>
              <a:rPr sz="1300" b="0">
                <a:solidFill>
                  <a:srgbClr val="0F1B2D"/>
                </a:solidFill>
                <a:latin typeface="Calibri"/>
              </a:rPr>
              <a:t>PDFs, one per fund, arriving at different times.</a:t>
            </a:r>
          </a:p>
        </p:txBody>
      </p:sp>
      <p:sp>
        <p:nvSpPr>
          <p:cNvPr id="9" name="Rounded Rectangle 8"/>
          <p:cNvSpPr/>
          <p:nvPr/>
        </p:nvSpPr>
        <p:spPr>
          <a:xfrm>
            <a:off x="3429000" y="1783080"/>
            <a:ext cx="2560320" cy="132588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1874519"/>
            <a:ext cx="2286000" cy="365760"/>
          </a:xfrm>
          <a:prstGeom prst="rect">
            <a:avLst/>
          </a:prstGeom>
          <a:noFill/>
        </p:spPr>
        <p:txBody>
          <a:bodyPr wrap="square" lIns="45720" rIns="45720" tIns="27432" bIns="27432">
            <a:spAutoFit/>
          </a:bodyPr>
          <a:lstStyle/>
          <a:p>
            <a:r>
              <a:rPr sz="1600" b="1">
                <a:solidFill>
                  <a:srgbClr val="177878"/>
                </a:solidFill>
                <a:latin typeface="Georgia"/>
              </a:rPr>
              <a:t>Administrator export</a:t>
            </a:r>
          </a:p>
        </p:txBody>
      </p:sp>
      <p:sp>
        <p:nvSpPr>
          <p:cNvPr id="11" name="TextBox 10"/>
          <p:cNvSpPr txBox="1"/>
          <p:nvPr/>
        </p:nvSpPr>
        <p:spPr>
          <a:xfrm>
            <a:off x="3566160" y="2560320"/>
            <a:ext cx="2286000" cy="502919"/>
          </a:xfrm>
          <a:prstGeom prst="rect">
            <a:avLst/>
          </a:prstGeom>
          <a:noFill/>
        </p:spPr>
        <p:txBody>
          <a:bodyPr wrap="square" lIns="45720" rIns="45720" tIns="27432" bIns="27432">
            <a:spAutoFit/>
          </a:bodyPr>
          <a:lstStyle/>
          <a:p>
            <a:r>
              <a:rPr sz="1300" b="0">
                <a:solidFill>
                  <a:srgbClr val="0F1B2D"/>
                </a:solidFill>
                <a:latin typeface="Calibri"/>
              </a:rPr>
              <a:t>Month-end positions and values, as a spreadsheet.</a:t>
            </a:r>
          </a:p>
        </p:txBody>
      </p:sp>
      <p:sp>
        <p:nvSpPr>
          <p:cNvPr id="12" name="Rounded Rectangle 11"/>
          <p:cNvSpPr/>
          <p:nvPr/>
        </p:nvSpPr>
        <p:spPr>
          <a:xfrm>
            <a:off x="685800" y="3291839"/>
            <a:ext cx="2560320" cy="132588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383279"/>
            <a:ext cx="2286000" cy="365760"/>
          </a:xfrm>
          <a:prstGeom prst="rect">
            <a:avLst/>
          </a:prstGeom>
          <a:noFill/>
        </p:spPr>
        <p:txBody>
          <a:bodyPr wrap="square" lIns="45720" rIns="45720" tIns="27432" bIns="27432">
            <a:spAutoFit/>
          </a:bodyPr>
          <a:lstStyle/>
          <a:p>
            <a:r>
              <a:rPr sz="1600" b="1">
                <a:solidFill>
                  <a:srgbClr val="177878"/>
                </a:solidFill>
                <a:latin typeface="Georgia"/>
              </a:rPr>
              <a:t>Trading file</a:t>
            </a:r>
          </a:p>
        </p:txBody>
      </p:sp>
      <p:sp>
        <p:nvSpPr>
          <p:cNvPr id="14" name="TextBox 13"/>
          <p:cNvSpPr txBox="1"/>
          <p:nvPr/>
        </p:nvSpPr>
        <p:spPr>
          <a:xfrm>
            <a:off x="822960" y="3794759"/>
            <a:ext cx="2286000" cy="777239"/>
          </a:xfrm>
          <a:prstGeom prst="rect">
            <a:avLst/>
          </a:prstGeom>
          <a:noFill/>
        </p:spPr>
        <p:txBody>
          <a:bodyPr wrap="square" lIns="45720" rIns="45720" tIns="27432" bIns="27432">
            <a:spAutoFit/>
          </a:bodyPr>
          <a:lstStyle/>
          <a:p>
            <a:r>
              <a:rPr sz="1300" b="0">
                <a:solidFill>
                  <a:srgbClr val="0F1B2D"/>
                </a:solidFill>
                <a:latin typeface="Calibri"/>
              </a:rPr>
              <a:t>Trades and cash, on its own daily cycle.</a:t>
            </a:r>
          </a:p>
        </p:txBody>
      </p:sp>
      <p:sp>
        <p:nvSpPr>
          <p:cNvPr id="15" name="Rounded Rectangle 14"/>
          <p:cNvSpPr/>
          <p:nvPr/>
        </p:nvSpPr>
        <p:spPr>
          <a:xfrm>
            <a:off x="3429000" y="3291839"/>
            <a:ext cx="2560320" cy="132588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66160" y="3383279"/>
            <a:ext cx="2286000" cy="365760"/>
          </a:xfrm>
          <a:prstGeom prst="rect">
            <a:avLst/>
          </a:prstGeom>
          <a:noFill/>
        </p:spPr>
        <p:txBody>
          <a:bodyPr wrap="square" lIns="45720" rIns="45720" tIns="27432" bIns="27432">
            <a:spAutoFit/>
          </a:bodyPr>
          <a:lstStyle/>
          <a:p>
            <a:r>
              <a:rPr sz="1600" b="1">
                <a:solidFill>
                  <a:srgbClr val="177878"/>
                </a:solidFill>
                <a:latin typeface="Georgia"/>
              </a:rPr>
              <a:t>Working spreadsheets</a:t>
            </a:r>
          </a:p>
        </p:txBody>
      </p:sp>
      <p:sp>
        <p:nvSpPr>
          <p:cNvPr id="17" name="TextBox 16"/>
          <p:cNvSpPr txBox="1"/>
          <p:nvPr/>
        </p:nvSpPr>
        <p:spPr>
          <a:xfrm>
            <a:off x="3566160" y="4069079"/>
            <a:ext cx="2286000" cy="502919"/>
          </a:xfrm>
          <a:prstGeom prst="rect">
            <a:avLst/>
          </a:prstGeom>
          <a:noFill/>
        </p:spPr>
        <p:txBody>
          <a:bodyPr wrap="square" lIns="45720" rIns="45720" tIns="27432" bIns="27432">
            <a:spAutoFit/>
          </a:bodyPr>
          <a:lstStyle/>
          <a:p>
            <a:r>
              <a:rPr sz="1300" b="0">
                <a:solidFill>
                  <a:srgbClr val="0F1B2D"/>
                </a:solidFill>
                <a:latin typeface="Calibri"/>
              </a:rPr>
              <a:t>Copied tabs, typed-in formulas, one person’s version.</a:t>
            </a:r>
          </a:p>
        </p:txBody>
      </p:sp>
      <p:sp>
        <p:nvSpPr>
          <p:cNvPr id="18" name="Bullets"/>
          <p:cNvSpPr txBox="1"/>
          <p:nvPr/>
        </p:nvSpPr>
        <p:spPr>
          <a:xfrm>
            <a:off x="6309360" y="1783080"/>
            <a:ext cx="5212080" cy="2926080"/>
          </a:xfrm>
          <a:prstGeom prst="rect">
            <a:avLst/>
          </a:prstGeom>
          <a:noFill/>
        </p:spPr>
        <p:txBody>
          <a:bodyPr wrap="square">
            <a:spAutoFit/>
          </a:bodyPr>
          <a:lstStyle/>
          <a:p>
            <a:pPr>
              <a:spcAft>
                <a:spcPts val="700"/>
              </a:spcAft>
            </a:pPr>
            <a:r>
              <a:rPr sz="900">
                <a:solidFill>
                  <a:srgbClr val="177878"/>
                </a:solidFill>
                <a:latin typeface="Calibri"/>
              </a:rPr>
              <a:t>●  </a:t>
            </a:r>
            <a:r>
              <a:rPr sz="1500" b="1">
                <a:solidFill>
                  <a:srgbClr val="0F1B2D"/>
                </a:solidFill>
                <a:latin typeface="Calibri"/>
              </a:rPr>
              <a:t>Late.</a:t>
            </a:r>
            <a:r>
              <a:rPr sz="1500" b="0">
                <a:solidFill>
                  <a:srgbClr val="0F1B2D"/>
                </a:solidFill>
                <a:latin typeface="Calibri"/>
              </a:rPr>
              <a:t> The figures arrive after the date the council needs them.</a:t>
            </a:r>
          </a:p>
          <a:p>
            <a:pPr>
              <a:spcAft>
                <a:spcPts val="700"/>
              </a:spcAft>
            </a:pPr>
            <a:r>
              <a:rPr sz="900">
                <a:solidFill>
                  <a:srgbClr val="177878"/>
                </a:solidFill>
                <a:latin typeface="Calibri"/>
              </a:rPr>
              <a:t>●  </a:t>
            </a:r>
            <a:r>
              <a:rPr sz="1500" b="1">
                <a:solidFill>
                  <a:srgbClr val="0F1B2D"/>
                </a:solidFill>
                <a:latin typeface="Calibri"/>
              </a:rPr>
              <a:t>Revised.</a:t>
            </a:r>
            <a:r>
              <a:rPr sz="1500" b="0">
                <a:solidFill>
                  <a:srgbClr val="0F1B2D"/>
                </a:solidFill>
                <a:latin typeface="Calibri"/>
              </a:rPr>
              <a:t> A statement is amended after a report has been issued, and nobody is sure which version was used.</a:t>
            </a:r>
          </a:p>
          <a:p>
            <a:pPr>
              <a:spcAft>
                <a:spcPts val="700"/>
              </a:spcAft>
            </a:pPr>
            <a:r>
              <a:rPr sz="900">
                <a:solidFill>
                  <a:srgbClr val="177878"/>
                </a:solidFill>
                <a:latin typeface="Calibri"/>
              </a:rPr>
              <a:t>●  </a:t>
            </a:r>
            <a:r>
              <a:rPr sz="1500" b="1">
                <a:solidFill>
                  <a:srgbClr val="0F1B2D"/>
                </a:solidFill>
                <a:latin typeface="Calibri"/>
              </a:rPr>
              <a:t>Untraceable.</a:t>
            </a:r>
            <a:r>
              <a:rPr sz="1500" b="0">
                <a:solidFill>
                  <a:srgbClr val="0F1B2D"/>
                </a:solidFill>
                <a:latin typeface="Calibri"/>
              </a:rPr>
              <a:t> A number cannot be walked back to its file, its row or the person who checked it.</a:t>
            </a:r>
          </a:p>
        </p:txBody>
      </p:sp>
      <p:sp>
        <p:nvSpPr>
          <p:cNvPr id="19" name="Rectangle 18"/>
          <p:cNvSpPr/>
          <p:nvPr/>
        </p:nvSpPr>
        <p:spPr>
          <a:xfrm>
            <a:off x="6309360" y="4754880"/>
            <a:ext cx="5212080" cy="1005840"/>
          </a:xfrm>
          <a:prstGeom prst="rect">
            <a:avLst/>
          </a:prstGeom>
          <a:solidFill>
            <a:srgbClr val="FBE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4754880"/>
            <a:ext cx="64008" cy="1005840"/>
          </a:xfrm>
          <a:prstGeom prst="rect">
            <a:avLst/>
          </a:prstGeom>
          <a:solidFill>
            <a:srgbClr val="E0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4983480" cy="914400"/>
          </a:xfrm>
          <a:prstGeom prst="rect">
            <a:avLst/>
          </a:prstGeom>
          <a:noFill/>
        </p:spPr>
        <p:txBody>
          <a:bodyPr wrap="square" lIns="45720" rIns="45720" tIns="27432" bIns="27432" anchor="ctr">
            <a:spAutoFit/>
          </a:bodyPr>
          <a:lstStyle/>
          <a:p>
            <a:r>
              <a:rPr sz="1400" b="0">
                <a:solidFill>
                  <a:srgbClr val="0F1B2D"/>
                </a:solidFill>
                <a:latin typeface="Calibri"/>
              </a:rPr>
              <a:t>The question is simple. Answering it should take minutes, and every figure should be able to show where it came from.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Kicker"/>
          <p:cNvSpPr txBox="1"/>
          <p:nvPr/>
        </p:nvSpPr>
        <p:spPr>
          <a:xfrm>
            <a:off x="685800" y="384048"/>
            <a:ext cx="10789920" cy="274320"/>
          </a:xfrm>
          <a:prstGeom prst="rect">
            <a:avLst/>
          </a:prstGeom>
          <a:noFill/>
        </p:spPr>
        <p:txBody>
          <a:bodyPr wrap="square" lIns="45720" rIns="45720" tIns="27432" bIns="27432">
            <a:spAutoFit/>
          </a:bodyPr>
          <a:lstStyle/>
          <a:p>
            <a:r>
              <a:rPr sz="1100" b="1">
                <a:solidFill>
                  <a:srgbClr val="177878"/>
                </a:solidFill>
                <a:latin typeface="Calibri"/>
              </a:rPr>
              <a:t>WHAT IT IS</a:t>
            </a:r>
          </a:p>
        </p:txBody>
      </p:sp>
      <p:sp>
        <p:nvSpPr>
          <p:cNvPr id="3" name="Title"/>
          <p:cNvSpPr txBox="1"/>
          <p:nvPr/>
        </p:nvSpPr>
        <p:spPr>
          <a:xfrm>
            <a:off x="685800" y="658368"/>
            <a:ext cx="10789920" cy="914400"/>
          </a:xfrm>
          <a:prstGeom prst="rect">
            <a:avLst/>
          </a:prstGeom>
          <a:noFill/>
        </p:spPr>
        <p:txBody>
          <a:bodyPr wrap="square" lIns="45720" rIns="45720" tIns="27432" bIns="27432">
            <a:spAutoFit/>
          </a:bodyPr>
          <a:lstStyle/>
          <a:p>
            <a:r>
              <a:rPr sz="2700" b="1">
                <a:solidFill>
                  <a:srgbClr val="0F1B2D"/>
                </a:solidFill>
                <a:latin typeface="Georgia"/>
              </a:rPr>
              <a:t>Four centres for the work, four agents that draft. People sign.</a:t>
            </a:r>
          </a:p>
        </p:txBody>
      </p:sp>
      <p:sp>
        <p:nvSpPr>
          <p:cNvPr id="4" name="Footer"/>
          <p:cNvSpPr txBox="1"/>
          <p:nvPr/>
        </p:nvSpPr>
        <p:spPr>
          <a:xfrm>
            <a:off x="685800" y="6446520"/>
            <a:ext cx="9144000" cy="274320"/>
          </a:xfrm>
          <a:prstGeom prst="rect">
            <a:avLst/>
          </a:prstGeom>
          <a:noFill/>
        </p:spPr>
        <p:txBody>
          <a:bodyPr wrap="square" lIns="45720" rIns="45720" tIns="27432" bIns="27432">
            <a:spAutoFit/>
          </a:bodyPr>
          <a:lstStyle/>
          <a:p>
            <a:r>
              <a:rPr sz="900" b="0">
                <a:solidFill>
                  <a:srgbClr val="5B6678"/>
                </a:solidFill>
                <a:latin typeface="Calibri"/>
              </a:rPr>
              <a:t>Signal Harbor</a:t>
            </a:r>
          </a:p>
        </p:txBody>
      </p:sp>
      <p:sp>
        <p:nvSpPr>
          <p:cNvPr id="5" name="Slide number"/>
          <p:cNvSpPr txBox="1"/>
          <p:nvPr/>
        </p:nvSpPr>
        <p:spPr>
          <a:xfrm>
            <a:off x="10607040" y="6446520"/>
            <a:ext cx="914400" cy="274320"/>
          </a:xfrm>
          <a:prstGeom prst="rect">
            <a:avLst/>
          </a:prstGeom>
          <a:noFill/>
        </p:spPr>
        <p:txBody>
          <a:bodyPr wrap="square" lIns="45720" rIns="45720" tIns="27432" bIns="27432">
            <a:spAutoFit/>
          </a:bodyPr>
          <a:lstStyle/>
          <a:p>
            <a:pPr algn="r"/>
            <a:r>
              <a:rPr sz="900" b="0">
                <a:solidFill>
                  <a:srgbClr val="5B6678"/>
                </a:solidFill>
                <a:latin typeface="Calibri"/>
              </a:rPr>
              <a:t>3 / 20</a:t>
            </a:r>
          </a:p>
        </p:txBody>
      </p:sp>
      <p:sp>
        <p:nvSpPr>
          <p:cNvPr id="6" name="Rounded Rectangle 5"/>
          <p:cNvSpPr/>
          <p:nvPr/>
        </p:nvSpPr>
        <p:spPr>
          <a:xfrm>
            <a:off x="685800" y="1737360"/>
            <a:ext cx="2560320" cy="146304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28800"/>
            <a:ext cx="2286000" cy="365760"/>
          </a:xfrm>
          <a:prstGeom prst="rect">
            <a:avLst/>
          </a:prstGeom>
          <a:noFill/>
        </p:spPr>
        <p:txBody>
          <a:bodyPr wrap="square" lIns="45720" rIns="45720" tIns="27432" bIns="27432">
            <a:spAutoFit/>
          </a:bodyPr>
          <a:lstStyle/>
          <a:p>
            <a:r>
              <a:rPr sz="1600" b="1">
                <a:solidFill>
                  <a:srgbClr val="177878"/>
                </a:solidFill>
                <a:latin typeface="Georgia"/>
              </a:rPr>
              <a:t>Action</a:t>
            </a:r>
          </a:p>
        </p:txBody>
      </p:sp>
      <p:sp>
        <p:nvSpPr>
          <p:cNvPr id="8" name="TextBox 7"/>
          <p:cNvSpPr txBox="1"/>
          <p:nvPr/>
        </p:nvSpPr>
        <p:spPr>
          <a:xfrm>
            <a:off x="822960" y="2240280"/>
            <a:ext cx="2286000" cy="914400"/>
          </a:xfrm>
          <a:prstGeom prst="rect">
            <a:avLst/>
          </a:prstGeom>
          <a:noFill/>
        </p:spPr>
        <p:txBody>
          <a:bodyPr wrap="square" lIns="45720" rIns="45720" tIns="27432" bIns="27432">
            <a:spAutoFit/>
          </a:bodyPr>
          <a:lstStyle/>
          <a:p>
            <a:r>
              <a:rPr sz="1250" b="0">
                <a:solidFill>
                  <a:srgbClr val="0F1B2D"/>
                </a:solidFill>
                <a:latin typeface="Calibri"/>
              </a:rPr>
              <a:t>Today’s cases, reconciliations and what waits for a person.</a:t>
            </a:r>
          </a:p>
        </p:txBody>
      </p:sp>
      <p:sp>
        <p:nvSpPr>
          <p:cNvPr id="9" name="Rounded Rectangle 8"/>
          <p:cNvSpPr/>
          <p:nvPr/>
        </p:nvSpPr>
        <p:spPr>
          <a:xfrm>
            <a:off x="3429000" y="1737360"/>
            <a:ext cx="2560320" cy="146304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1828800"/>
            <a:ext cx="2286000" cy="365760"/>
          </a:xfrm>
          <a:prstGeom prst="rect">
            <a:avLst/>
          </a:prstGeom>
          <a:noFill/>
        </p:spPr>
        <p:txBody>
          <a:bodyPr wrap="square" lIns="45720" rIns="45720" tIns="27432" bIns="27432">
            <a:spAutoFit/>
          </a:bodyPr>
          <a:lstStyle/>
          <a:p>
            <a:r>
              <a:rPr sz="1600" b="1">
                <a:solidFill>
                  <a:srgbClr val="177878"/>
                </a:solidFill>
                <a:latin typeface="Georgia"/>
              </a:rPr>
              <a:t>Build</a:t>
            </a:r>
          </a:p>
        </p:txBody>
      </p:sp>
      <p:sp>
        <p:nvSpPr>
          <p:cNvPr id="11" name="TextBox 10"/>
          <p:cNvSpPr txBox="1"/>
          <p:nvPr/>
        </p:nvSpPr>
        <p:spPr>
          <a:xfrm>
            <a:off x="3566160" y="2240280"/>
            <a:ext cx="2286000" cy="914400"/>
          </a:xfrm>
          <a:prstGeom prst="rect">
            <a:avLst/>
          </a:prstGeom>
          <a:noFill/>
        </p:spPr>
        <p:txBody>
          <a:bodyPr wrap="square" lIns="45720" rIns="45720" tIns="27432" bIns="27432">
            <a:spAutoFit/>
          </a:bodyPr>
          <a:lstStyle/>
          <a:p>
            <a:r>
              <a:rPr sz="1250" b="0">
                <a:solidFill>
                  <a:srgbClr val="0F1B2D"/>
                </a:solidFill>
                <a:latin typeface="Calibri"/>
              </a:rPr>
              <a:t>Intent, design pack, pipelines and the dashboard studio.</a:t>
            </a:r>
          </a:p>
        </p:txBody>
      </p:sp>
      <p:sp>
        <p:nvSpPr>
          <p:cNvPr id="12" name="Rounded Rectangle 11"/>
          <p:cNvSpPr/>
          <p:nvPr/>
        </p:nvSpPr>
        <p:spPr>
          <a:xfrm>
            <a:off x="6172200" y="1737360"/>
            <a:ext cx="2560320" cy="146304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1828800"/>
            <a:ext cx="2286000" cy="365760"/>
          </a:xfrm>
          <a:prstGeom prst="rect">
            <a:avLst/>
          </a:prstGeom>
          <a:noFill/>
        </p:spPr>
        <p:txBody>
          <a:bodyPr wrap="square" lIns="45720" rIns="45720" tIns="27432" bIns="27432">
            <a:spAutoFit/>
          </a:bodyPr>
          <a:lstStyle/>
          <a:p>
            <a:r>
              <a:rPr sz="1600" b="1">
                <a:solidFill>
                  <a:srgbClr val="177878"/>
                </a:solidFill>
                <a:latin typeface="Georgia"/>
              </a:rPr>
              <a:t>Consume</a:t>
            </a:r>
          </a:p>
        </p:txBody>
      </p:sp>
      <p:sp>
        <p:nvSpPr>
          <p:cNvPr id="14" name="TextBox 13"/>
          <p:cNvSpPr txBox="1"/>
          <p:nvPr/>
        </p:nvSpPr>
        <p:spPr>
          <a:xfrm>
            <a:off x="6309360" y="2240280"/>
            <a:ext cx="2286000" cy="914400"/>
          </a:xfrm>
          <a:prstGeom prst="rect">
            <a:avLst/>
          </a:prstGeom>
          <a:noFill/>
        </p:spPr>
        <p:txBody>
          <a:bodyPr wrap="square" lIns="45720" rIns="45720" tIns="27432" bIns="27432">
            <a:spAutoFit/>
          </a:bodyPr>
          <a:lstStyle/>
          <a:p>
            <a:r>
              <a:rPr sz="1250" b="0">
                <a:solidFill>
                  <a:srgbClr val="0F1B2D"/>
                </a:solidFill>
                <a:latin typeface="Calibri"/>
              </a:rPr>
              <a:t>Today, financial health, markets, reports and what if, in USD or SGD.</a:t>
            </a:r>
          </a:p>
        </p:txBody>
      </p:sp>
      <p:sp>
        <p:nvSpPr>
          <p:cNvPr id="15" name="Rounded Rectangle 14"/>
          <p:cNvSpPr/>
          <p:nvPr/>
        </p:nvSpPr>
        <p:spPr>
          <a:xfrm>
            <a:off x="8915400" y="1737360"/>
            <a:ext cx="2560320" cy="146304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1828800"/>
            <a:ext cx="2286000" cy="365760"/>
          </a:xfrm>
          <a:prstGeom prst="rect">
            <a:avLst/>
          </a:prstGeom>
          <a:noFill/>
        </p:spPr>
        <p:txBody>
          <a:bodyPr wrap="square" lIns="45720" rIns="45720" tIns="27432" bIns="27432">
            <a:spAutoFit/>
          </a:bodyPr>
          <a:lstStyle/>
          <a:p>
            <a:r>
              <a:rPr sz="1600" b="1">
                <a:solidFill>
                  <a:srgbClr val="177878"/>
                </a:solidFill>
                <a:latin typeface="Georgia"/>
              </a:rPr>
              <a:t>Map</a:t>
            </a:r>
          </a:p>
        </p:txBody>
      </p:sp>
      <p:sp>
        <p:nvSpPr>
          <p:cNvPr id="17" name="TextBox 16"/>
          <p:cNvSpPr txBox="1"/>
          <p:nvPr/>
        </p:nvSpPr>
        <p:spPr>
          <a:xfrm>
            <a:off x="9052560" y="2240280"/>
            <a:ext cx="2286000" cy="914400"/>
          </a:xfrm>
          <a:prstGeom prst="rect">
            <a:avLst/>
          </a:prstGeom>
          <a:noFill/>
        </p:spPr>
        <p:txBody>
          <a:bodyPr wrap="square" lIns="45720" rIns="45720" tIns="27432" bIns="27432">
            <a:spAutoFit/>
          </a:bodyPr>
          <a:lstStyle/>
          <a:p>
            <a:r>
              <a:rPr sz="1250" b="0">
                <a:solidFill>
                  <a:srgbClr val="0F1B2D"/>
                </a:solidFill>
                <a:latin typeface="Calibri"/>
              </a:rPr>
              <a:t>The office’s ontology, data model with impact, process maps and glossary.</a:t>
            </a:r>
          </a:p>
        </p:txBody>
      </p:sp>
      <p:sp>
        <p:nvSpPr>
          <p:cNvPr id="18" name="Rounded Rectangle 17"/>
          <p:cNvSpPr/>
          <p:nvPr/>
        </p:nvSpPr>
        <p:spPr>
          <a:xfrm>
            <a:off x="685800" y="3429000"/>
            <a:ext cx="2560320" cy="146304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3429000"/>
            <a:ext cx="2560320" cy="64008"/>
          </a:xfrm>
          <a:prstGeom prst="rect">
            <a:avLst/>
          </a:prstGeom>
          <a:solidFill>
            <a:srgbClr val="E0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520440"/>
            <a:ext cx="2286000" cy="365760"/>
          </a:xfrm>
          <a:prstGeom prst="rect">
            <a:avLst/>
          </a:prstGeom>
          <a:noFill/>
        </p:spPr>
        <p:txBody>
          <a:bodyPr wrap="square" lIns="45720" rIns="45720" tIns="27432" bIns="27432">
            <a:spAutoFit/>
          </a:bodyPr>
          <a:lstStyle/>
          <a:p>
            <a:r>
              <a:rPr sz="1600" b="1">
                <a:solidFill>
                  <a:srgbClr val="177878"/>
                </a:solidFill>
                <a:latin typeface="Georgia"/>
              </a:rPr>
              <a:t>North</a:t>
            </a:r>
          </a:p>
        </p:txBody>
      </p:sp>
      <p:sp>
        <p:nvSpPr>
          <p:cNvPr id="21" name="TextBox 20"/>
          <p:cNvSpPr txBox="1"/>
          <p:nvPr/>
        </p:nvSpPr>
        <p:spPr>
          <a:xfrm>
            <a:off x="822960" y="3931920"/>
            <a:ext cx="2286000" cy="914400"/>
          </a:xfrm>
          <a:prstGeom prst="rect">
            <a:avLst/>
          </a:prstGeom>
          <a:noFill/>
        </p:spPr>
        <p:txBody>
          <a:bodyPr wrap="square" lIns="45720" rIns="45720" tIns="27432" bIns="27432">
            <a:spAutoFit/>
          </a:bodyPr>
          <a:lstStyle/>
          <a:p>
            <a:r>
              <a:rPr sz="1250" b="0">
                <a:solidFill>
                  <a:srgbClr val="0F1B2D"/>
                </a:solidFill>
                <a:latin typeface="Calibri"/>
              </a:rPr>
              <a:t>Listens and drafts the intent of work and the process map.</a:t>
            </a:r>
          </a:p>
        </p:txBody>
      </p:sp>
      <p:sp>
        <p:nvSpPr>
          <p:cNvPr id="22" name="Rounded Rectangle 21"/>
          <p:cNvSpPr/>
          <p:nvPr/>
        </p:nvSpPr>
        <p:spPr>
          <a:xfrm>
            <a:off x="3429000" y="3429000"/>
            <a:ext cx="2560320" cy="146304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29000" y="3429000"/>
            <a:ext cx="2560320" cy="64008"/>
          </a:xfrm>
          <a:prstGeom prst="rect">
            <a:avLst/>
          </a:prstGeom>
          <a:solidFill>
            <a:srgbClr val="E0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66160" y="3520440"/>
            <a:ext cx="2286000" cy="365760"/>
          </a:xfrm>
          <a:prstGeom prst="rect">
            <a:avLst/>
          </a:prstGeom>
          <a:noFill/>
        </p:spPr>
        <p:txBody>
          <a:bodyPr wrap="square" lIns="45720" rIns="45720" tIns="27432" bIns="27432">
            <a:spAutoFit/>
          </a:bodyPr>
          <a:lstStyle/>
          <a:p>
            <a:r>
              <a:rPr sz="1600" b="1">
                <a:solidFill>
                  <a:srgbClr val="177878"/>
                </a:solidFill>
                <a:latin typeface="Georgia"/>
              </a:rPr>
              <a:t>Span</a:t>
            </a:r>
          </a:p>
        </p:txBody>
      </p:sp>
      <p:sp>
        <p:nvSpPr>
          <p:cNvPr id="25" name="TextBox 24"/>
          <p:cNvSpPr txBox="1"/>
          <p:nvPr/>
        </p:nvSpPr>
        <p:spPr>
          <a:xfrm>
            <a:off x="3566160" y="3931920"/>
            <a:ext cx="2286000" cy="914400"/>
          </a:xfrm>
          <a:prstGeom prst="rect">
            <a:avLst/>
          </a:prstGeom>
          <a:noFill/>
        </p:spPr>
        <p:txBody>
          <a:bodyPr wrap="square" lIns="45720" rIns="45720" tIns="27432" bIns="27432">
            <a:spAutoFit/>
          </a:bodyPr>
          <a:lstStyle/>
          <a:p>
            <a:r>
              <a:rPr sz="1250" b="0">
                <a:solidFill>
                  <a:srgbClr val="0F1B2D"/>
                </a:solidFill>
                <a:latin typeface="Calibri"/>
              </a:rPr>
              <a:t>Architect designs the data. Builder connects, runs and checks it.</a:t>
            </a:r>
          </a:p>
        </p:txBody>
      </p:sp>
      <p:sp>
        <p:nvSpPr>
          <p:cNvPr id="26" name="Rounded Rectangle 25"/>
          <p:cNvSpPr/>
          <p:nvPr/>
        </p:nvSpPr>
        <p:spPr>
          <a:xfrm>
            <a:off x="6172200" y="3429000"/>
            <a:ext cx="2560320" cy="146304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72200" y="3429000"/>
            <a:ext cx="2560320" cy="64008"/>
          </a:xfrm>
          <a:prstGeom prst="rect">
            <a:avLst/>
          </a:prstGeom>
          <a:solidFill>
            <a:srgbClr val="E0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20440"/>
            <a:ext cx="2286000" cy="365760"/>
          </a:xfrm>
          <a:prstGeom prst="rect">
            <a:avLst/>
          </a:prstGeom>
          <a:noFill/>
        </p:spPr>
        <p:txBody>
          <a:bodyPr wrap="square" lIns="45720" rIns="45720" tIns="27432" bIns="27432">
            <a:spAutoFit/>
          </a:bodyPr>
          <a:lstStyle/>
          <a:p>
            <a:r>
              <a:rPr sz="1600" b="1">
                <a:solidFill>
                  <a:srgbClr val="177878"/>
                </a:solidFill>
                <a:latin typeface="Georgia"/>
              </a:rPr>
              <a:t>Lumen</a:t>
            </a:r>
          </a:p>
        </p:txBody>
      </p:sp>
      <p:sp>
        <p:nvSpPr>
          <p:cNvPr id="29" name="TextBox 28"/>
          <p:cNvSpPr txBox="1"/>
          <p:nvPr/>
        </p:nvSpPr>
        <p:spPr>
          <a:xfrm>
            <a:off x="6309360" y="3931920"/>
            <a:ext cx="2286000" cy="914400"/>
          </a:xfrm>
          <a:prstGeom prst="rect">
            <a:avLst/>
          </a:prstGeom>
          <a:noFill/>
        </p:spPr>
        <p:txBody>
          <a:bodyPr wrap="square" lIns="45720" rIns="45720" tIns="27432" bIns="27432">
            <a:spAutoFit/>
          </a:bodyPr>
          <a:lstStyle/>
          <a:p>
            <a:r>
              <a:rPr sz="1250" b="0">
                <a:solidFill>
                  <a:srgbClr val="0F1B2D"/>
                </a:solidFill>
                <a:latin typeface="Calibri"/>
              </a:rPr>
              <a:t>Proposes a starter dashboard and drafts the briefs.</a:t>
            </a:r>
          </a:p>
        </p:txBody>
      </p:sp>
      <p:sp>
        <p:nvSpPr>
          <p:cNvPr id="30" name="Rounded Rectangle 29"/>
          <p:cNvSpPr/>
          <p:nvPr/>
        </p:nvSpPr>
        <p:spPr>
          <a:xfrm>
            <a:off x="8915400" y="3429000"/>
            <a:ext cx="2560320" cy="146304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915400" y="3429000"/>
            <a:ext cx="2560320" cy="64008"/>
          </a:xfrm>
          <a:prstGeom prst="rect">
            <a:avLst/>
          </a:prstGeom>
          <a:solidFill>
            <a:srgbClr val="E0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0" y="3520440"/>
            <a:ext cx="2286000" cy="365760"/>
          </a:xfrm>
          <a:prstGeom prst="rect">
            <a:avLst/>
          </a:prstGeom>
          <a:noFill/>
        </p:spPr>
        <p:txBody>
          <a:bodyPr wrap="square" lIns="45720" rIns="45720" tIns="27432" bIns="27432">
            <a:spAutoFit/>
          </a:bodyPr>
          <a:lstStyle/>
          <a:p>
            <a:r>
              <a:rPr sz="1600" b="1">
                <a:solidFill>
                  <a:srgbClr val="177878"/>
                </a:solidFill>
                <a:latin typeface="Georgia"/>
              </a:rPr>
              <a:t>Tally</a:t>
            </a:r>
          </a:p>
        </p:txBody>
      </p:sp>
      <p:sp>
        <p:nvSpPr>
          <p:cNvPr id="33" name="TextBox 32"/>
          <p:cNvSpPr txBox="1"/>
          <p:nvPr/>
        </p:nvSpPr>
        <p:spPr>
          <a:xfrm>
            <a:off x="9052560" y="3931920"/>
            <a:ext cx="2286000" cy="914400"/>
          </a:xfrm>
          <a:prstGeom prst="rect">
            <a:avLst/>
          </a:prstGeom>
          <a:noFill/>
        </p:spPr>
        <p:txBody>
          <a:bodyPr wrap="square" lIns="45720" rIns="45720" tIns="27432" bIns="27432">
            <a:spAutoFit/>
          </a:bodyPr>
          <a:lstStyle/>
          <a:p>
            <a:r>
              <a:rPr sz="1250" b="0">
                <a:solidFill>
                  <a:srgbClr val="0F1B2D"/>
                </a:solidFill>
                <a:latin typeface="Calibri"/>
              </a:rPr>
              <a:t>Explains a case and answers questions about Action items.</a:t>
            </a:r>
          </a:p>
        </p:txBody>
      </p:sp>
      <p:sp>
        <p:nvSpPr>
          <p:cNvPr id="34" name="Rectangle 33"/>
          <p:cNvSpPr/>
          <p:nvPr/>
        </p:nvSpPr>
        <p:spPr>
          <a:xfrm>
            <a:off x="685800" y="5257800"/>
            <a:ext cx="10789920" cy="640080"/>
          </a:xfrm>
          <a:prstGeom prst="rect">
            <a:avLst/>
          </a:prstGeom>
          <a:solidFill>
            <a:srgbClr val="FBE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85800" y="5257800"/>
            <a:ext cx="64008" cy="640080"/>
          </a:xfrm>
          <a:prstGeom prst="rect">
            <a:avLst/>
          </a:prstGeom>
          <a:solidFill>
            <a:srgbClr val="E0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5303520"/>
            <a:ext cx="10561320" cy="548640"/>
          </a:xfrm>
          <a:prstGeom prst="rect">
            <a:avLst/>
          </a:prstGeom>
          <a:noFill/>
        </p:spPr>
        <p:txBody>
          <a:bodyPr wrap="square" lIns="45720" rIns="45720" tIns="27432" bIns="27432" anchor="ctr">
            <a:spAutoFit/>
          </a:bodyPr>
          <a:lstStyle/>
          <a:p>
            <a:r>
              <a:rPr sz="1400" b="0">
                <a:solidFill>
                  <a:srgbClr val="0F1B2D"/>
                </a:solidFill>
                <a:latin typeface="Calibri"/>
              </a:rPr>
              <a:t>Agents draft and check. A named person approves each step that changes what the council sees.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Kicker"/>
          <p:cNvSpPr txBox="1"/>
          <p:nvPr/>
        </p:nvSpPr>
        <p:spPr>
          <a:xfrm>
            <a:off x="685800" y="384048"/>
            <a:ext cx="10789920" cy="274320"/>
          </a:xfrm>
          <a:prstGeom prst="rect">
            <a:avLst/>
          </a:prstGeom>
          <a:noFill/>
        </p:spPr>
        <p:txBody>
          <a:bodyPr wrap="square" lIns="45720" rIns="45720" tIns="27432" bIns="27432">
            <a:spAutoFit/>
          </a:bodyPr>
          <a:lstStyle/>
          <a:p>
            <a:r>
              <a:rPr sz="1100" b="1">
                <a:solidFill>
                  <a:srgbClr val="177878"/>
                </a:solidFill>
                <a:latin typeface="Calibri"/>
              </a:rPr>
              <a:t>HOW IT WORKS · 1 OF 5 · INTENT (NORTH)</a:t>
            </a:r>
          </a:p>
        </p:txBody>
      </p:sp>
      <p:sp>
        <p:nvSpPr>
          <p:cNvPr id="3" name="Title"/>
          <p:cNvSpPr txBox="1"/>
          <p:nvPr/>
        </p:nvSpPr>
        <p:spPr>
          <a:xfrm>
            <a:off x="685800" y="658368"/>
            <a:ext cx="10789920" cy="914400"/>
          </a:xfrm>
          <a:prstGeom prst="rect">
            <a:avLst/>
          </a:prstGeom>
          <a:noFill/>
        </p:spPr>
        <p:txBody>
          <a:bodyPr wrap="square" lIns="45720" rIns="45720" tIns="27432" bIns="27432">
            <a:spAutoFit/>
          </a:bodyPr>
          <a:lstStyle/>
          <a:p>
            <a:r>
              <a:rPr sz="2700" b="1">
                <a:solidFill>
                  <a:srgbClr val="0F1B2D"/>
                </a:solidFill>
                <a:latin typeface="Georgia"/>
              </a:rPr>
              <a:t>The business owner says what is needed, in her own words.</a:t>
            </a:r>
          </a:p>
        </p:txBody>
      </p:sp>
      <p:sp>
        <p:nvSpPr>
          <p:cNvPr id="4" name="Footer"/>
          <p:cNvSpPr txBox="1"/>
          <p:nvPr/>
        </p:nvSpPr>
        <p:spPr>
          <a:xfrm>
            <a:off x="685800" y="6446520"/>
            <a:ext cx="9144000" cy="274320"/>
          </a:xfrm>
          <a:prstGeom prst="rect">
            <a:avLst/>
          </a:prstGeom>
          <a:noFill/>
        </p:spPr>
        <p:txBody>
          <a:bodyPr wrap="square" lIns="45720" rIns="45720" tIns="27432" bIns="27432">
            <a:spAutoFit/>
          </a:bodyPr>
          <a:lstStyle/>
          <a:p>
            <a:r>
              <a:rPr sz="900" b="0">
                <a:solidFill>
                  <a:srgbClr val="5B6678"/>
                </a:solidFill>
                <a:latin typeface="Calibri"/>
              </a:rPr>
              <a:t>Signal Harbor</a:t>
            </a:r>
          </a:p>
        </p:txBody>
      </p:sp>
      <p:sp>
        <p:nvSpPr>
          <p:cNvPr id="5" name="Slide number"/>
          <p:cNvSpPr txBox="1"/>
          <p:nvPr/>
        </p:nvSpPr>
        <p:spPr>
          <a:xfrm>
            <a:off x="10607040" y="6446520"/>
            <a:ext cx="914400" cy="274320"/>
          </a:xfrm>
          <a:prstGeom prst="rect">
            <a:avLst/>
          </a:prstGeom>
          <a:noFill/>
        </p:spPr>
        <p:txBody>
          <a:bodyPr wrap="square" lIns="45720" rIns="45720" tIns="27432" bIns="27432">
            <a:spAutoFit/>
          </a:bodyPr>
          <a:lstStyle/>
          <a:p>
            <a:pPr algn="r"/>
            <a:r>
              <a:rPr sz="900" b="0">
                <a:solidFill>
                  <a:srgbClr val="5B6678"/>
                </a:solidFill>
                <a:latin typeface="Calibri"/>
              </a:rPr>
              <a:t>4 / 20</a:t>
            </a:r>
          </a:p>
        </p:txBody>
      </p:sp>
      <p:sp>
        <p:nvSpPr>
          <p:cNvPr id="6" name="Bullets"/>
          <p:cNvSpPr txBox="1"/>
          <p:nvPr/>
        </p:nvSpPr>
        <p:spPr>
          <a:xfrm>
            <a:off x="685800" y="1783080"/>
            <a:ext cx="4206240" cy="3840480"/>
          </a:xfrm>
          <a:prstGeom prst="rect">
            <a:avLst/>
          </a:prstGeom>
          <a:noFill/>
        </p:spPr>
        <p:txBody>
          <a:bodyPr wrap="square">
            <a:spAutoFit/>
          </a:bodyPr>
          <a:lstStyle/>
          <a:p>
            <a:pPr>
              <a:spcAft>
                <a:spcPts val="700"/>
              </a:spcAft>
            </a:pPr>
            <a:r>
              <a:rPr sz="900">
                <a:solidFill>
                  <a:srgbClr val="177878"/>
                </a:solidFill>
                <a:latin typeface="Calibri"/>
              </a:rPr>
              <a:t>●  </a:t>
            </a:r>
            <a:r>
              <a:rPr sz="1500" b="0">
                <a:solidFill>
                  <a:srgbClr val="0F1B2D"/>
                </a:solidFill>
                <a:latin typeface="Calibri"/>
              </a:rPr>
              <a:t>North asks one question at a time and drafts the figures, readers, sources and the process map as the conversation goes.</a:t>
            </a:r>
          </a:p>
          <a:p>
            <a:pPr>
              <a:spcAft>
                <a:spcPts val="700"/>
              </a:spcAft>
            </a:pPr>
            <a:r>
              <a:rPr sz="900">
                <a:solidFill>
                  <a:srgbClr val="177878"/>
                </a:solidFill>
                <a:latin typeface="Calibri"/>
              </a:rPr>
              <a:t>●  </a:t>
            </a:r>
            <a:r>
              <a:rPr sz="1500" b="0">
                <a:solidFill>
                  <a:srgbClr val="0F1B2D"/>
                </a:solidFill>
                <a:latin typeface="Calibri"/>
              </a:rPr>
              <a:t>The sponsor reads the signed intent and signs it.</a:t>
            </a:r>
          </a:p>
          <a:p>
            <a:pPr>
              <a:spcAft>
                <a:spcPts val="700"/>
              </a:spcAft>
            </a:pPr>
            <a:r>
              <a:rPr sz="900">
                <a:solidFill>
                  <a:srgbClr val="177878"/>
                </a:solidFill>
                <a:latin typeface="Calibri"/>
              </a:rPr>
              <a:t>●  </a:t>
            </a:r>
            <a:r>
              <a:rPr sz="1500" b="0">
                <a:solidFill>
                  <a:srgbClr val="0F1B2D"/>
                </a:solidFill>
                <a:latin typeface="Calibri"/>
              </a:rPr>
              <a:t>A signed intent is read-only. Changes go in as a new version.</a:t>
            </a:r>
          </a:p>
        </p:txBody>
      </p:sp>
      <p:pic>
        <p:nvPicPr>
          <p:cNvPr id="7" name="Picture 6" descr="intent-ready.png"/>
          <p:cNvPicPr>
            <a:picLocks noChangeAspect="1"/>
          </p:cNvPicPr>
          <p:nvPr/>
        </p:nvPicPr>
        <p:blipFill>
          <a:blip r:embed="rId3"/>
          <a:srcRect b="6337"/>
          <a:stretch>
            <a:fillRect/>
          </a:stretch>
        </p:blipFill>
        <p:spPr>
          <a:xfrm>
            <a:off x="5257800" y="1783080"/>
            <a:ext cx="6248095" cy="3657600"/>
          </a:xfrm>
          <a:prstGeom prst="rect">
            <a:avLst/>
          </a:prstGeom>
          <a:ln w="12700">
            <a:solidFill>
              <a:srgbClr val="D9DED8"/>
            </a:solidFill>
          </a:ln>
        </p:spPr>
      </p:pic>
      <p:sp>
        <p:nvSpPr>
          <p:cNvPr id="8" name="TextBox 7"/>
          <p:cNvSpPr txBox="1"/>
          <p:nvPr/>
        </p:nvSpPr>
        <p:spPr>
          <a:xfrm>
            <a:off x="5257800" y="5486400"/>
            <a:ext cx="6248095" cy="457200"/>
          </a:xfrm>
          <a:prstGeom prst="rect">
            <a:avLst/>
          </a:prstGeom>
          <a:noFill/>
        </p:spPr>
        <p:txBody>
          <a:bodyPr wrap="square" lIns="45720" rIns="45720" tIns="27432" bIns="27432">
            <a:spAutoFit/>
          </a:bodyPr>
          <a:lstStyle/>
          <a:p>
            <a:r>
              <a:rPr sz="1050" b="0">
                <a:solidFill>
                  <a:srgbClr val="5B6678"/>
                </a:solidFill>
                <a:latin typeface="Calibri"/>
              </a:rPr>
              <a:t>Intent drafted with North, ready for the sponsor to sign. Evergreen Office, synthetic data.</a:t>
            </a:r>
          </a:p>
        </p:txBody>
      </p:sp>
      <p:sp>
        <p:nvSpPr>
          <p:cNvPr id="9" name="TextBox 8"/>
          <p:cNvSpPr txBox="1"/>
          <p:nvPr/>
        </p:nvSpPr>
        <p:spPr>
          <a:xfrm>
            <a:off x="685800" y="4572000"/>
            <a:ext cx="4206240" cy="822960"/>
          </a:xfrm>
          <a:prstGeom prst="rect">
            <a:avLst/>
          </a:prstGeom>
          <a:noFill/>
        </p:spPr>
        <p:txBody>
          <a:bodyPr wrap="square" lIns="45720" rIns="45720" tIns="27432" bIns="27432">
            <a:spAutoFit/>
          </a:bodyPr>
          <a:lstStyle/>
          <a:p>
            <a:r>
              <a:rPr sz="1200" b="1">
                <a:solidFill>
                  <a:srgbClr val="177878"/>
                </a:solidFill>
                <a:latin typeface="Calibri"/>
              </a:rPr>
              <a:t>MEASURED</a:t>
            </a:r>
            <a:r>
              <a:rPr sz="1200" b="0">
                <a:solidFill>
                  <a:srgbClr val="5B6678"/>
                </a:solidFill>
                <a:latin typeface="Calibri"/>
              </a:rPr>
              <a:t>  In our walkthrough: about ten minutes of conversation, ten messages from the business owner, one signature.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Kicker"/>
          <p:cNvSpPr txBox="1"/>
          <p:nvPr/>
        </p:nvSpPr>
        <p:spPr>
          <a:xfrm>
            <a:off x="685800" y="384048"/>
            <a:ext cx="10789920" cy="274320"/>
          </a:xfrm>
          <a:prstGeom prst="rect">
            <a:avLst/>
          </a:prstGeom>
          <a:noFill/>
        </p:spPr>
        <p:txBody>
          <a:bodyPr wrap="square" lIns="45720" rIns="45720" tIns="27432" bIns="27432">
            <a:spAutoFit/>
          </a:bodyPr>
          <a:lstStyle/>
          <a:p>
            <a:r>
              <a:rPr sz="1100" b="1">
                <a:solidFill>
                  <a:srgbClr val="177878"/>
                </a:solidFill>
                <a:latin typeface="Calibri"/>
              </a:rPr>
              <a:t>HOW IT WORKS · 2 OF 5 · DESIGN PACK (SPAN, ARCHITECT)</a:t>
            </a:r>
          </a:p>
        </p:txBody>
      </p:sp>
      <p:sp>
        <p:nvSpPr>
          <p:cNvPr id="3" name="Title"/>
          <p:cNvSpPr txBox="1"/>
          <p:nvPr/>
        </p:nvSpPr>
        <p:spPr>
          <a:xfrm>
            <a:off x="685800" y="658368"/>
            <a:ext cx="10789920" cy="914400"/>
          </a:xfrm>
          <a:prstGeom prst="rect">
            <a:avLst/>
          </a:prstGeom>
          <a:noFill/>
        </p:spPr>
        <p:txBody>
          <a:bodyPr wrap="square" lIns="45720" rIns="45720" tIns="27432" bIns="27432">
            <a:spAutoFit/>
          </a:bodyPr>
          <a:lstStyle/>
          <a:p>
            <a:r>
              <a:rPr sz="2700" b="1">
                <a:solidFill>
                  <a:srgbClr val="0F1B2D"/>
                </a:solidFill>
                <a:latin typeface="Georgia"/>
              </a:rPr>
              <a:t>Span designs the target. The head of data approves it before anything is built.</a:t>
            </a:r>
          </a:p>
        </p:txBody>
      </p:sp>
      <p:sp>
        <p:nvSpPr>
          <p:cNvPr id="4" name="Footer"/>
          <p:cNvSpPr txBox="1"/>
          <p:nvPr/>
        </p:nvSpPr>
        <p:spPr>
          <a:xfrm>
            <a:off x="685800" y="6446520"/>
            <a:ext cx="9144000" cy="274320"/>
          </a:xfrm>
          <a:prstGeom prst="rect">
            <a:avLst/>
          </a:prstGeom>
          <a:noFill/>
        </p:spPr>
        <p:txBody>
          <a:bodyPr wrap="square" lIns="45720" rIns="45720" tIns="27432" bIns="27432">
            <a:spAutoFit/>
          </a:bodyPr>
          <a:lstStyle/>
          <a:p>
            <a:r>
              <a:rPr sz="900" b="0">
                <a:solidFill>
                  <a:srgbClr val="5B6678"/>
                </a:solidFill>
                <a:latin typeface="Calibri"/>
              </a:rPr>
              <a:t>Signal Harbor</a:t>
            </a:r>
          </a:p>
        </p:txBody>
      </p:sp>
      <p:sp>
        <p:nvSpPr>
          <p:cNvPr id="5" name="Slide number"/>
          <p:cNvSpPr txBox="1"/>
          <p:nvPr/>
        </p:nvSpPr>
        <p:spPr>
          <a:xfrm>
            <a:off x="10607040" y="6446520"/>
            <a:ext cx="914400" cy="274320"/>
          </a:xfrm>
          <a:prstGeom prst="rect">
            <a:avLst/>
          </a:prstGeom>
          <a:noFill/>
        </p:spPr>
        <p:txBody>
          <a:bodyPr wrap="square" lIns="45720" rIns="45720" tIns="27432" bIns="27432">
            <a:spAutoFit/>
          </a:bodyPr>
          <a:lstStyle/>
          <a:p>
            <a:pPr algn="r"/>
            <a:r>
              <a:rPr sz="900" b="0">
                <a:solidFill>
                  <a:srgbClr val="5B6678"/>
                </a:solidFill>
                <a:latin typeface="Calibri"/>
              </a:rPr>
              <a:t>5 / 20</a:t>
            </a:r>
          </a:p>
        </p:txBody>
      </p:sp>
      <p:sp>
        <p:nvSpPr>
          <p:cNvPr id="6" name="Bullets"/>
          <p:cNvSpPr txBox="1"/>
          <p:nvPr/>
        </p:nvSpPr>
        <p:spPr>
          <a:xfrm>
            <a:off x="685800" y="1783080"/>
            <a:ext cx="4389120" cy="3840480"/>
          </a:xfrm>
          <a:prstGeom prst="rect">
            <a:avLst/>
          </a:prstGeom>
          <a:noFill/>
        </p:spPr>
        <p:txBody>
          <a:bodyPr wrap="square">
            <a:spAutoFit/>
          </a:bodyPr>
          <a:lstStyle/>
          <a:p>
            <a:pPr>
              <a:spcAft>
                <a:spcPts val="700"/>
              </a:spcAft>
            </a:pPr>
            <a:r>
              <a:rPr sz="840">
                <a:solidFill>
                  <a:srgbClr val="177878"/>
                </a:solidFill>
                <a:latin typeface="Calibri"/>
              </a:rPr>
              <a:t>●  </a:t>
            </a:r>
            <a:r>
              <a:rPr sz="1400" b="0">
                <a:solidFill>
                  <a:srgbClr val="0F1B2D"/>
                </a:solidFill>
                <a:latin typeface="Calibri"/>
              </a:rPr>
              <a:t>Span reads the signed intent and asks only what it does not already know, each with a default to accept.</a:t>
            </a:r>
          </a:p>
          <a:p>
            <a:pPr>
              <a:spcAft>
                <a:spcPts val="700"/>
              </a:spcAft>
            </a:pPr>
            <a:r>
              <a:rPr sz="840">
                <a:solidFill>
                  <a:srgbClr val="177878"/>
                </a:solidFill>
                <a:latin typeface="Calibri"/>
              </a:rPr>
              <a:t>●  </a:t>
            </a:r>
            <a:r>
              <a:rPr sz="1400" b="0">
                <a:solidFill>
                  <a:srgbClr val="0F1B2D"/>
                </a:solidFill>
                <a:latin typeface="Calibri"/>
              </a:rPr>
              <a:t>It profiles the sample files and drafts a versioned pack: bronze, silver and gold tables, the catalogue, and a mapping sheet from each source field to the figure.</a:t>
            </a:r>
          </a:p>
          <a:p>
            <a:pPr>
              <a:spcAft>
                <a:spcPts val="700"/>
              </a:spcAft>
            </a:pPr>
            <a:r>
              <a:rPr sz="840">
                <a:solidFill>
                  <a:srgbClr val="177878"/>
                </a:solidFill>
                <a:latin typeface="Calibri"/>
              </a:rPr>
              <a:t>●  </a:t>
            </a:r>
            <a:r>
              <a:rPr sz="1400" b="0">
                <a:solidFill>
                  <a:srgbClr val="0F1B2D"/>
                </a:solidFill>
                <a:latin typeface="Calibri"/>
              </a:rPr>
              <a:t>The head of data approves. Approved means locked for the builder; any change is a new version.</a:t>
            </a:r>
          </a:p>
        </p:txBody>
      </p:sp>
      <p:pic>
        <p:nvPicPr>
          <p:cNvPr id="7" name="Picture 6" descr="span-design-pack.png"/>
          <p:cNvPicPr>
            <a:picLocks noChangeAspect="1"/>
          </p:cNvPicPr>
          <p:nvPr/>
        </p:nvPicPr>
        <p:blipFill>
          <a:blip r:embed="rId3"/>
          <a:srcRect b="3513"/>
          <a:stretch>
            <a:fillRect/>
          </a:stretch>
        </p:blipFill>
        <p:spPr>
          <a:xfrm>
            <a:off x="5440680" y="1783080"/>
            <a:ext cx="6065215" cy="3657600"/>
          </a:xfrm>
          <a:prstGeom prst="rect">
            <a:avLst/>
          </a:prstGeom>
          <a:ln w="12700">
            <a:solidFill>
              <a:srgbClr val="D9DED8"/>
            </a:solidFill>
          </a:ln>
        </p:spPr>
      </p:pic>
      <p:sp>
        <p:nvSpPr>
          <p:cNvPr id="8" name="TextBox 7"/>
          <p:cNvSpPr txBox="1"/>
          <p:nvPr/>
        </p:nvSpPr>
        <p:spPr>
          <a:xfrm>
            <a:off x="5440680" y="5486400"/>
            <a:ext cx="6065215" cy="457200"/>
          </a:xfrm>
          <a:prstGeom prst="rect">
            <a:avLst/>
          </a:prstGeom>
          <a:noFill/>
        </p:spPr>
        <p:txBody>
          <a:bodyPr wrap="square" lIns="45720" rIns="45720" tIns="27432" bIns="27432">
            <a:spAutoFit/>
          </a:bodyPr>
          <a:lstStyle/>
          <a:p>
            <a:r>
              <a:rPr sz="1050" b="0">
                <a:solidFill>
                  <a:srgbClr val="5B6678"/>
                </a:solidFill>
                <a:latin typeface="Calibri"/>
              </a:rPr>
              <a:t>Design pack as drafted by the architect. Approval is a separate step.</a:t>
            </a:r>
          </a:p>
        </p:txBody>
      </p:sp>
      <p:sp>
        <p:nvSpPr>
          <p:cNvPr id="9" name="TextBox 8"/>
          <p:cNvSpPr txBox="1"/>
          <p:nvPr/>
        </p:nvSpPr>
        <p:spPr>
          <a:xfrm>
            <a:off x="685800" y="5394960"/>
            <a:ext cx="4389120" cy="731520"/>
          </a:xfrm>
          <a:prstGeom prst="rect">
            <a:avLst/>
          </a:prstGeom>
          <a:noFill/>
        </p:spPr>
        <p:txBody>
          <a:bodyPr wrap="square" lIns="45720" rIns="45720" tIns="27432" bIns="27432">
            <a:spAutoFit/>
          </a:bodyPr>
          <a:lstStyle/>
          <a:p>
            <a:r>
              <a:rPr sz="1200" b="1">
                <a:solidFill>
                  <a:srgbClr val="177878"/>
                </a:solidFill>
                <a:latin typeface="Calibri"/>
              </a:rPr>
              <a:t>MEASURED</a:t>
            </a:r>
            <a:r>
              <a:rPr sz="1200" b="0">
                <a:solidFill>
                  <a:srgbClr val="5B6678"/>
                </a:solidFill>
                <a:latin typeface="Calibri"/>
              </a:rPr>
              <a:t>  Walkthrough pack: two gold tables, five silver tables, 19 mapping rows, four questions answered.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Kicker"/>
          <p:cNvSpPr txBox="1"/>
          <p:nvPr/>
        </p:nvSpPr>
        <p:spPr>
          <a:xfrm>
            <a:off x="685800" y="384048"/>
            <a:ext cx="10789920" cy="274320"/>
          </a:xfrm>
          <a:prstGeom prst="rect">
            <a:avLst/>
          </a:prstGeom>
          <a:noFill/>
        </p:spPr>
        <p:txBody>
          <a:bodyPr wrap="square" lIns="45720" rIns="45720" tIns="27432" bIns="27432">
            <a:spAutoFit/>
          </a:bodyPr>
          <a:lstStyle/>
          <a:p>
            <a:r>
              <a:rPr sz="1100" b="1">
                <a:solidFill>
                  <a:srgbClr val="177878"/>
                </a:solidFill>
                <a:latin typeface="Calibri"/>
              </a:rPr>
              <a:t>HOW IT WORKS · 3 OF 5 · BUILD AND PROVE (SPAN, BUILDER)</a:t>
            </a:r>
          </a:p>
        </p:txBody>
      </p:sp>
      <p:sp>
        <p:nvSpPr>
          <p:cNvPr id="3" name="Title"/>
          <p:cNvSpPr txBox="1"/>
          <p:nvPr/>
        </p:nvSpPr>
        <p:spPr>
          <a:xfrm>
            <a:off x="685800" y="658368"/>
            <a:ext cx="10789920" cy="914400"/>
          </a:xfrm>
          <a:prstGeom prst="rect">
            <a:avLst/>
          </a:prstGeom>
          <a:noFill/>
        </p:spPr>
        <p:txBody>
          <a:bodyPr wrap="square" lIns="45720" rIns="45720" tIns="27432" bIns="27432">
            <a:spAutoFit/>
          </a:bodyPr>
          <a:lstStyle/>
          <a:p>
            <a:r>
              <a:rPr sz="2700" b="1">
                <a:solidFill>
                  <a:srgbClr val="0F1B2D"/>
                </a:solidFill>
                <a:latin typeface="Georgia"/>
              </a:rPr>
              <a:t>The builder runs on a copy and checks every line against the report already issued.</a:t>
            </a:r>
          </a:p>
        </p:txBody>
      </p:sp>
      <p:sp>
        <p:nvSpPr>
          <p:cNvPr id="4" name="Footer"/>
          <p:cNvSpPr txBox="1"/>
          <p:nvPr/>
        </p:nvSpPr>
        <p:spPr>
          <a:xfrm>
            <a:off x="685800" y="6446520"/>
            <a:ext cx="9144000" cy="274320"/>
          </a:xfrm>
          <a:prstGeom prst="rect">
            <a:avLst/>
          </a:prstGeom>
          <a:noFill/>
        </p:spPr>
        <p:txBody>
          <a:bodyPr wrap="square" lIns="45720" rIns="45720" tIns="27432" bIns="27432">
            <a:spAutoFit/>
          </a:bodyPr>
          <a:lstStyle/>
          <a:p>
            <a:r>
              <a:rPr sz="900" b="0">
                <a:solidFill>
                  <a:srgbClr val="5B6678"/>
                </a:solidFill>
                <a:latin typeface="Calibri"/>
              </a:rPr>
              <a:t>Signal Harbor</a:t>
            </a:r>
          </a:p>
        </p:txBody>
      </p:sp>
      <p:sp>
        <p:nvSpPr>
          <p:cNvPr id="5" name="Slide number"/>
          <p:cNvSpPr txBox="1"/>
          <p:nvPr/>
        </p:nvSpPr>
        <p:spPr>
          <a:xfrm>
            <a:off x="10607040" y="6446520"/>
            <a:ext cx="914400" cy="274320"/>
          </a:xfrm>
          <a:prstGeom prst="rect">
            <a:avLst/>
          </a:prstGeom>
          <a:noFill/>
        </p:spPr>
        <p:txBody>
          <a:bodyPr wrap="square" lIns="45720" rIns="45720" tIns="27432" bIns="27432">
            <a:spAutoFit/>
          </a:bodyPr>
          <a:lstStyle/>
          <a:p>
            <a:pPr algn="r"/>
            <a:r>
              <a:rPr sz="900" b="0">
                <a:solidFill>
                  <a:srgbClr val="5B6678"/>
                </a:solidFill>
                <a:latin typeface="Calibri"/>
              </a:rPr>
              <a:t>6 / 20</a:t>
            </a:r>
          </a:p>
        </p:txBody>
      </p:sp>
      <p:sp>
        <p:nvSpPr>
          <p:cNvPr id="6" name="Rounded Rectangle 5"/>
          <p:cNvSpPr/>
          <p:nvPr/>
        </p:nvSpPr>
        <p:spPr>
          <a:xfrm>
            <a:off x="685800" y="1691640"/>
            <a:ext cx="1574292" cy="132588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37360"/>
            <a:ext cx="1482852" cy="320040"/>
          </a:xfrm>
          <a:prstGeom prst="rect">
            <a:avLst/>
          </a:prstGeom>
          <a:noFill/>
        </p:spPr>
        <p:txBody>
          <a:bodyPr wrap="square" lIns="45720" rIns="45720" tIns="27432" bIns="27432">
            <a:spAutoFit/>
          </a:bodyPr>
          <a:lstStyle/>
          <a:p>
            <a:r>
              <a:rPr sz="1400" b="1">
                <a:solidFill>
                  <a:srgbClr val="177878"/>
                </a:solidFill>
                <a:latin typeface="Georgia"/>
              </a:rPr>
              <a:t>1 Connect</a:t>
            </a:r>
          </a:p>
        </p:txBody>
      </p:sp>
      <p:sp>
        <p:nvSpPr>
          <p:cNvPr id="8" name="TextBox 7"/>
          <p:cNvSpPr txBox="1"/>
          <p:nvPr/>
        </p:nvSpPr>
        <p:spPr>
          <a:xfrm>
            <a:off x="731520" y="2057400"/>
            <a:ext cx="1482852" cy="960119"/>
          </a:xfrm>
          <a:prstGeom prst="rect">
            <a:avLst/>
          </a:prstGeom>
          <a:noFill/>
        </p:spPr>
        <p:txBody>
          <a:bodyPr wrap="square" lIns="45720" rIns="45720" tIns="27432" bIns="27432">
            <a:spAutoFit/>
          </a:bodyPr>
          <a:lstStyle/>
          <a:p>
            <a:r>
              <a:rPr sz="1100" b="0">
                <a:solidFill>
                  <a:srgbClr val="0F1B2D"/>
                </a:solidFill>
                <a:latin typeface="Calibri"/>
              </a:rPr>
              <a:t>Sources as the pack says</a:t>
            </a:r>
          </a:p>
        </p:txBody>
      </p:sp>
      <p:sp>
        <p:nvSpPr>
          <p:cNvPr id="9" name="TextBox 8"/>
          <p:cNvSpPr txBox="1"/>
          <p:nvPr/>
        </p:nvSpPr>
        <p:spPr>
          <a:xfrm>
            <a:off x="2260092" y="2171700"/>
            <a:ext cx="274320" cy="365760"/>
          </a:xfrm>
          <a:prstGeom prst="rect">
            <a:avLst/>
          </a:prstGeom>
          <a:noFill/>
        </p:spPr>
        <p:txBody>
          <a:bodyPr wrap="square" lIns="45720" rIns="45720" tIns="27432" bIns="27432">
            <a:spAutoFit/>
          </a:bodyPr>
          <a:lstStyle/>
          <a:p>
            <a:pPr algn="ctr"/>
            <a:r>
              <a:rPr sz="1800" b="0">
                <a:solidFill>
                  <a:srgbClr val="177878"/>
                </a:solidFill>
                <a:latin typeface="Calibri"/>
              </a:rPr>
              <a:t>→</a:t>
            </a:r>
          </a:p>
        </p:txBody>
      </p:sp>
      <p:sp>
        <p:nvSpPr>
          <p:cNvPr id="10" name="Rounded Rectangle 9"/>
          <p:cNvSpPr/>
          <p:nvPr/>
        </p:nvSpPr>
        <p:spPr>
          <a:xfrm>
            <a:off x="2534412" y="1691640"/>
            <a:ext cx="1574292" cy="132588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80131" y="1737360"/>
            <a:ext cx="1482852" cy="320040"/>
          </a:xfrm>
          <a:prstGeom prst="rect">
            <a:avLst/>
          </a:prstGeom>
          <a:noFill/>
        </p:spPr>
        <p:txBody>
          <a:bodyPr wrap="square" lIns="45720" rIns="45720" tIns="27432" bIns="27432">
            <a:spAutoFit/>
          </a:bodyPr>
          <a:lstStyle/>
          <a:p>
            <a:r>
              <a:rPr sz="1400" b="1">
                <a:solidFill>
                  <a:srgbClr val="177878"/>
                </a:solidFill>
                <a:latin typeface="Georgia"/>
              </a:rPr>
              <a:t>2 Run on a copy</a:t>
            </a:r>
          </a:p>
        </p:txBody>
      </p:sp>
      <p:sp>
        <p:nvSpPr>
          <p:cNvPr id="12" name="TextBox 11"/>
          <p:cNvSpPr txBox="1"/>
          <p:nvPr/>
        </p:nvSpPr>
        <p:spPr>
          <a:xfrm>
            <a:off x="2580131" y="2331720"/>
            <a:ext cx="1482852" cy="960119"/>
          </a:xfrm>
          <a:prstGeom prst="rect">
            <a:avLst/>
          </a:prstGeom>
          <a:noFill/>
        </p:spPr>
        <p:txBody>
          <a:bodyPr wrap="square" lIns="45720" rIns="45720" tIns="27432" bIns="27432">
            <a:spAutoFit/>
          </a:bodyPr>
          <a:lstStyle/>
          <a:p>
            <a:r>
              <a:rPr sz="1100" b="0">
                <a:solidFill>
                  <a:srgbClr val="0F1B2D"/>
                </a:solidFill>
                <a:latin typeface="Calibri"/>
              </a:rPr>
              <a:t>Automatic, no click</a:t>
            </a:r>
          </a:p>
        </p:txBody>
      </p:sp>
      <p:sp>
        <p:nvSpPr>
          <p:cNvPr id="13" name="TextBox 12"/>
          <p:cNvSpPr txBox="1"/>
          <p:nvPr/>
        </p:nvSpPr>
        <p:spPr>
          <a:xfrm>
            <a:off x="4108704" y="2171700"/>
            <a:ext cx="274320" cy="365760"/>
          </a:xfrm>
          <a:prstGeom prst="rect">
            <a:avLst/>
          </a:prstGeom>
          <a:noFill/>
        </p:spPr>
        <p:txBody>
          <a:bodyPr wrap="square" lIns="45720" rIns="45720" tIns="27432" bIns="27432">
            <a:spAutoFit/>
          </a:bodyPr>
          <a:lstStyle/>
          <a:p>
            <a:pPr algn="ctr"/>
            <a:r>
              <a:rPr sz="1800" b="0">
                <a:solidFill>
                  <a:srgbClr val="177878"/>
                </a:solidFill>
                <a:latin typeface="Calibri"/>
              </a:rPr>
              <a:t>→</a:t>
            </a:r>
          </a:p>
        </p:txBody>
      </p:sp>
      <p:sp>
        <p:nvSpPr>
          <p:cNvPr id="14" name="Rounded Rectangle 13"/>
          <p:cNvSpPr/>
          <p:nvPr/>
        </p:nvSpPr>
        <p:spPr>
          <a:xfrm>
            <a:off x="4383024" y="1691640"/>
            <a:ext cx="1574292" cy="1325880"/>
          </a:xfrm>
          <a:prstGeom prst="roundRect">
            <a:avLst>
              <a:gd name="adj" fmla="val 6000"/>
            </a:avLst>
          </a:prstGeom>
          <a:solidFill>
            <a:srgbClr val="FFF8EA"/>
          </a:solidFill>
          <a:ln w="12700">
            <a:solidFill>
              <a:srgbClr val="E0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8744" y="1737360"/>
            <a:ext cx="1482852" cy="320040"/>
          </a:xfrm>
          <a:prstGeom prst="rect">
            <a:avLst/>
          </a:prstGeom>
          <a:noFill/>
        </p:spPr>
        <p:txBody>
          <a:bodyPr wrap="square" lIns="45720" rIns="45720" tIns="27432" bIns="27432">
            <a:spAutoFit/>
          </a:bodyPr>
          <a:lstStyle/>
          <a:p>
            <a:r>
              <a:rPr sz="1400" b="1">
                <a:solidFill>
                  <a:srgbClr val="177878"/>
                </a:solidFill>
                <a:latin typeface="Georgia"/>
              </a:rPr>
              <a:t>3 Check</a:t>
            </a:r>
          </a:p>
        </p:txBody>
      </p:sp>
      <p:sp>
        <p:nvSpPr>
          <p:cNvPr id="16" name="TextBox 15"/>
          <p:cNvSpPr txBox="1"/>
          <p:nvPr/>
        </p:nvSpPr>
        <p:spPr>
          <a:xfrm>
            <a:off x="4428744" y="2057400"/>
            <a:ext cx="1482852" cy="960119"/>
          </a:xfrm>
          <a:prstGeom prst="rect">
            <a:avLst/>
          </a:prstGeom>
          <a:noFill/>
        </p:spPr>
        <p:txBody>
          <a:bodyPr wrap="square" lIns="45720" rIns="45720" tIns="27432" bIns="27432">
            <a:spAutoFit/>
          </a:bodyPr>
          <a:lstStyle/>
          <a:p>
            <a:r>
              <a:rPr sz="1100" b="0">
                <a:solidFill>
                  <a:srgbClr val="0F1B2D"/>
                </a:solidFill>
                <a:latin typeface="Calibri"/>
              </a:rPr>
              <a:t>Against September’s issued report</a:t>
            </a:r>
          </a:p>
        </p:txBody>
      </p:sp>
      <p:sp>
        <p:nvSpPr>
          <p:cNvPr id="17" name="TextBox 16"/>
          <p:cNvSpPr txBox="1"/>
          <p:nvPr/>
        </p:nvSpPr>
        <p:spPr>
          <a:xfrm>
            <a:off x="5957316" y="2171700"/>
            <a:ext cx="274320" cy="365760"/>
          </a:xfrm>
          <a:prstGeom prst="rect">
            <a:avLst/>
          </a:prstGeom>
          <a:noFill/>
        </p:spPr>
        <p:txBody>
          <a:bodyPr wrap="square" lIns="45720" rIns="45720" tIns="27432" bIns="27432">
            <a:spAutoFit/>
          </a:bodyPr>
          <a:lstStyle/>
          <a:p>
            <a:pPr algn="ctr"/>
            <a:r>
              <a:rPr sz="1800" b="0">
                <a:solidFill>
                  <a:srgbClr val="177878"/>
                </a:solidFill>
                <a:latin typeface="Calibri"/>
              </a:rPr>
              <a:t>→</a:t>
            </a:r>
          </a:p>
        </p:txBody>
      </p:sp>
      <p:sp>
        <p:nvSpPr>
          <p:cNvPr id="18" name="Rounded Rectangle 17"/>
          <p:cNvSpPr/>
          <p:nvPr/>
        </p:nvSpPr>
        <p:spPr>
          <a:xfrm>
            <a:off x="6231636" y="1691640"/>
            <a:ext cx="1574292" cy="132588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77355" y="1737360"/>
            <a:ext cx="1482852" cy="320040"/>
          </a:xfrm>
          <a:prstGeom prst="rect">
            <a:avLst/>
          </a:prstGeom>
          <a:noFill/>
        </p:spPr>
        <p:txBody>
          <a:bodyPr wrap="square" lIns="45720" rIns="45720" tIns="27432" bIns="27432">
            <a:spAutoFit/>
          </a:bodyPr>
          <a:lstStyle/>
          <a:p>
            <a:r>
              <a:rPr sz="1400" b="1">
                <a:solidFill>
                  <a:srgbClr val="177878"/>
                </a:solidFill>
                <a:latin typeface="Georgia"/>
              </a:rPr>
              <a:t>4 Correct</a:t>
            </a:r>
          </a:p>
        </p:txBody>
      </p:sp>
      <p:sp>
        <p:nvSpPr>
          <p:cNvPr id="20" name="TextBox 19"/>
          <p:cNvSpPr txBox="1"/>
          <p:nvPr/>
        </p:nvSpPr>
        <p:spPr>
          <a:xfrm>
            <a:off x="6277355" y="2057400"/>
            <a:ext cx="1482852" cy="960119"/>
          </a:xfrm>
          <a:prstGeom prst="rect">
            <a:avLst/>
          </a:prstGeom>
          <a:noFill/>
        </p:spPr>
        <p:txBody>
          <a:bodyPr wrap="square" lIns="45720" rIns="45720" tIns="27432" bIns="27432">
            <a:spAutoFit/>
          </a:bodyPr>
          <a:lstStyle/>
          <a:p>
            <a:r>
              <a:rPr sz="1100" b="0">
                <a:solidFill>
                  <a:srgbClr val="0F1B2D"/>
                </a:solidFill>
                <a:latin typeface="Calibri"/>
              </a:rPr>
              <a:t>Four definition texts, version 2</a:t>
            </a:r>
          </a:p>
        </p:txBody>
      </p:sp>
      <p:sp>
        <p:nvSpPr>
          <p:cNvPr id="21" name="TextBox 20"/>
          <p:cNvSpPr txBox="1"/>
          <p:nvPr/>
        </p:nvSpPr>
        <p:spPr>
          <a:xfrm>
            <a:off x="7805927" y="2171700"/>
            <a:ext cx="274320" cy="365760"/>
          </a:xfrm>
          <a:prstGeom prst="rect">
            <a:avLst/>
          </a:prstGeom>
          <a:noFill/>
        </p:spPr>
        <p:txBody>
          <a:bodyPr wrap="square" lIns="45720" rIns="45720" tIns="27432" bIns="27432">
            <a:spAutoFit/>
          </a:bodyPr>
          <a:lstStyle/>
          <a:p>
            <a:pPr algn="ctr"/>
            <a:r>
              <a:rPr sz="1800" b="0">
                <a:solidFill>
                  <a:srgbClr val="177878"/>
                </a:solidFill>
                <a:latin typeface="Calibri"/>
              </a:rPr>
              <a:t>→</a:t>
            </a:r>
          </a:p>
        </p:txBody>
      </p:sp>
      <p:sp>
        <p:nvSpPr>
          <p:cNvPr id="22" name="Rounded Rectangle 21"/>
          <p:cNvSpPr/>
          <p:nvPr/>
        </p:nvSpPr>
        <p:spPr>
          <a:xfrm>
            <a:off x="8080247" y="1691640"/>
            <a:ext cx="1574292" cy="132588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5968" y="1737360"/>
            <a:ext cx="1482852" cy="320040"/>
          </a:xfrm>
          <a:prstGeom prst="rect">
            <a:avLst/>
          </a:prstGeom>
          <a:noFill/>
        </p:spPr>
        <p:txBody>
          <a:bodyPr wrap="square" lIns="45720" rIns="45720" tIns="27432" bIns="27432">
            <a:spAutoFit/>
          </a:bodyPr>
          <a:lstStyle/>
          <a:p>
            <a:r>
              <a:rPr sz="1400" b="1">
                <a:solidFill>
                  <a:srgbClr val="177878"/>
                </a:solidFill>
                <a:latin typeface="Georgia"/>
              </a:rPr>
              <a:t>5 Approve and rerun</a:t>
            </a:r>
          </a:p>
        </p:txBody>
      </p:sp>
      <p:sp>
        <p:nvSpPr>
          <p:cNvPr id="24" name="TextBox 23"/>
          <p:cNvSpPr txBox="1"/>
          <p:nvPr/>
        </p:nvSpPr>
        <p:spPr>
          <a:xfrm>
            <a:off x="8125968" y="2331720"/>
            <a:ext cx="1482852" cy="960119"/>
          </a:xfrm>
          <a:prstGeom prst="rect">
            <a:avLst/>
          </a:prstGeom>
          <a:noFill/>
        </p:spPr>
        <p:txBody>
          <a:bodyPr wrap="square" lIns="45720" rIns="45720" tIns="27432" bIns="27432">
            <a:spAutoFit/>
          </a:bodyPr>
          <a:lstStyle/>
          <a:p>
            <a:r>
              <a:rPr sz="1100" b="0">
                <a:solidFill>
                  <a:srgbClr val="0F1B2D"/>
                </a:solidFill>
                <a:latin typeface="Calibri"/>
              </a:rPr>
              <a:t>Head of data approves; builder checks again</a:t>
            </a:r>
          </a:p>
        </p:txBody>
      </p:sp>
      <p:sp>
        <p:nvSpPr>
          <p:cNvPr id="25" name="TextBox 24"/>
          <p:cNvSpPr txBox="1"/>
          <p:nvPr/>
        </p:nvSpPr>
        <p:spPr>
          <a:xfrm>
            <a:off x="9654540" y="2171700"/>
            <a:ext cx="274320" cy="365760"/>
          </a:xfrm>
          <a:prstGeom prst="rect">
            <a:avLst/>
          </a:prstGeom>
          <a:noFill/>
        </p:spPr>
        <p:txBody>
          <a:bodyPr wrap="square" lIns="45720" rIns="45720" tIns="27432" bIns="27432">
            <a:spAutoFit/>
          </a:bodyPr>
          <a:lstStyle/>
          <a:p>
            <a:pPr algn="ctr"/>
            <a:r>
              <a:rPr sz="1800" b="0">
                <a:solidFill>
                  <a:srgbClr val="177878"/>
                </a:solidFill>
                <a:latin typeface="Calibri"/>
              </a:rPr>
              <a:t>→</a:t>
            </a:r>
          </a:p>
        </p:txBody>
      </p:sp>
      <p:sp>
        <p:nvSpPr>
          <p:cNvPr id="26" name="Rounded Rectangle 25"/>
          <p:cNvSpPr/>
          <p:nvPr/>
        </p:nvSpPr>
        <p:spPr>
          <a:xfrm>
            <a:off x="9928860" y="1691640"/>
            <a:ext cx="1574292" cy="132588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74580" y="1737360"/>
            <a:ext cx="1482852" cy="320040"/>
          </a:xfrm>
          <a:prstGeom prst="rect">
            <a:avLst/>
          </a:prstGeom>
          <a:noFill/>
        </p:spPr>
        <p:txBody>
          <a:bodyPr wrap="square" lIns="45720" rIns="45720" tIns="27432" bIns="27432">
            <a:spAutoFit/>
          </a:bodyPr>
          <a:lstStyle/>
          <a:p>
            <a:r>
              <a:rPr sz="1400" b="1">
                <a:solidFill>
                  <a:srgbClr val="177878"/>
                </a:solidFill>
                <a:latin typeface="Georgia"/>
              </a:rPr>
              <a:t>6 Go live</a:t>
            </a:r>
          </a:p>
        </p:txBody>
      </p:sp>
      <p:sp>
        <p:nvSpPr>
          <p:cNvPr id="28" name="TextBox 27"/>
          <p:cNvSpPr txBox="1"/>
          <p:nvPr/>
        </p:nvSpPr>
        <p:spPr>
          <a:xfrm>
            <a:off x="9974580" y="2057400"/>
            <a:ext cx="1482852" cy="960119"/>
          </a:xfrm>
          <a:prstGeom prst="rect">
            <a:avLst/>
          </a:prstGeom>
          <a:noFill/>
        </p:spPr>
        <p:txBody>
          <a:bodyPr wrap="square" lIns="45720" rIns="45720" tIns="27432" bIns="27432">
            <a:spAutoFit/>
          </a:bodyPr>
          <a:lstStyle/>
          <a:p>
            <a:r>
              <a:rPr sz="1100" b="0">
                <a:solidFill>
                  <a:srgbClr val="0F1B2D"/>
                </a:solidFill>
                <a:latin typeface="Calibri"/>
              </a:rPr>
              <a:t>Monthly at 06:00, from the pack</a:t>
            </a:r>
          </a:p>
        </p:txBody>
      </p:sp>
      <p:sp>
        <p:nvSpPr>
          <p:cNvPr id="29" name="Rounded Rectangle 28"/>
          <p:cNvSpPr/>
          <p:nvPr/>
        </p:nvSpPr>
        <p:spPr>
          <a:xfrm>
            <a:off x="685800" y="3246120"/>
            <a:ext cx="4572000" cy="182880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 y="3246120"/>
            <a:ext cx="64008" cy="1828800"/>
          </a:xfrm>
          <a:prstGeom prst="rect">
            <a:avLst/>
          </a:prstGeom>
          <a:solidFill>
            <a:srgbClr val="17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3291840"/>
            <a:ext cx="4297680" cy="274320"/>
          </a:xfrm>
          <a:prstGeom prst="rect">
            <a:avLst/>
          </a:prstGeom>
          <a:noFill/>
        </p:spPr>
        <p:txBody>
          <a:bodyPr wrap="square" lIns="45720" rIns="45720" tIns="27432" bIns="27432">
            <a:spAutoFit/>
          </a:bodyPr>
          <a:lstStyle/>
          <a:p>
            <a:r>
              <a:rPr sz="1150" b="0">
                <a:solidFill>
                  <a:srgbClr val="5B6678"/>
                </a:solidFill>
                <a:latin typeface="Calibri"/>
              </a:rPr>
              <a:t>Built figures against the issued September report</a:t>
            </a:r>
          </a:p>
        </p:txBody>
      </p:sp>
      <p:sp>
        <p:nvSpPr>
          <p:cNvPr id="32" name="TextBox 31"/>
          <p:cNvSpPr txBox="1"/>
          <p:nvPr/>
        </p:nvSpPr>
        <p:spPr>
          <a:xfrm>
            <a:off x="868680" y="3611880"/>
            <a:ext cx="4297680" cy="1463040"/>
          </a:xfrm>
          <a:prstGeom prst="rect">
            <a:avLst/>
          </a:prstGeom>
          <a:noFill/>
        </p:spPr>
        <p:txBody>
          <a:bodyPr wrap="square" lIns="45720" rIns="45720" tIns="27432" bIns="27432">
            <a:spAutoFit/>
          </a:bodyPr>
          <a:lstStyle/>
          <a:p>
            <a:r>
              <a:rPr sz="1600" b="1">
                <a:solidFill>
                  <a:srgbClr val="0F1B2D"/>
                </a:solidFill>
                <a:latin typeface="Calibri"/>
              </a:rPr>
              <a:t>Portfolio</a:t>
            </a:r>
            <a:r>
              <a:rPr sz="1600" b="0">
                <a:solidFill>
                  <a:srgbClr val="0F1B2D"/>
                </a:solidFill>
                <a:latin typeface="Calibri"/>
              </a:rPr>
              <a:t>  4.17% vs 4.17% issued</a:t>
            </a:r>
          </a:p>
          <a:p>
            <a:r>
              <a:rPr sz="1600" b="1">
                <a:solidFill>
                  <a:srgbClr val="0F1B2D"/>
                </a:solidFill>
                <a:latin typeface="Calibri"/>
              </a:rPr>
              <a:t>Office blend</a:t>
            </a:r>
            <a:r>
              <a:rPr sz="1600" b="0">
                <a:solidFill>
                  <a:srgbClr val="0F1B2D"/>
                </a:solidFill>
                <a:latin typeface="Calibri"/>
              </a:rPr>
              <a:t>  2.71% vs 2.71% issued</a:t>
            </a:r>
          </a:p>
          <a:p>
            <a:r>
              <a:rPr sz="1600" b="1">
                <a:solidFill>
                  <a:srgbClr val="0F1B2D"/>
                </a:solidFill>
                <a:latin typeface="Calibri"/>
              </a:rPr>
              <a:t>Difference</a:t>
            </a:r>
            <a:r>
              <a:rPr sz="1600" b="0">
                <a:solidFill>
                  <a:srgbClr val="0F1B2D"/>
                </a:solidFill>
                <a:latin typeface="Calibri"/>
              </a:rPr>
              <a:t>  +1.46 vs 1.46 points</a:t>
            </a:r>
          </a:p>
          <a:p>
            <a:r>
              <a:rPr sz="1600" b="0">
                <a:solidFill>
                  <a:srgbClr val="0F1B2D"/>
                </a:solidFill>
                <a:latin typeface="Calibri"/>
              </a:rPr>
              <a:t>All three legs matched too.</a:t>
            </a:r>
          </a:p>
        </p:txBody>
      </p:sp>
      <p:sp>
        <p:nvSpPr>
          <p:cNvPr id="33" name="TextBox 32"/>
          <p:cNvSpPr txBox="1"/>
          <p:nvPr/>
        </p:nvSpPr>
        <p:spPr>
          <a:xfrm>
            <a:off x="685800" y="5212080"/>
            <a:ext cx="4572000" cy="822960"/>
          </a:xfrm>
          <a:prstGeom prst="rect">
            <a:avLst/>
          </a:prstGeom>
          <a:noFill/>
        </p:spPr>
        <p:txBody>
          <a:bodyPr wrap="square" lIns="45720" rIns="45720" tIns="27432" bIns="27432">
            <a:spAutoFit/>
          </a:bodyPr>
          <a:lstStyle/>
          <a:p>
            <a:r>
              <a:rPr sz="1200" b="1">
                <a:solidFill>
                  <a:srgbClr val="177878"/>
                </a:solidFill>
                <a:latin typeface="Calibri"/>
              </a:rPr>
              <a:t>MEASURED</a:t>
            </a:r>
            <a:r>
              <a:rPr sz="1200" b="0">
                <a:solidFill>
                  <a:srgbClr val="5B6678"/>
                </a:solidFill>
                <a:latin typeface="Calibri"/>
              </a:rPr>
              <a:t>  The first run matched the report. Version 2 corrected four definition texts, and the rerun matched again before go-live.</a:t>
            </a:r>
          </a:p>
        </p:txBody>
      </p:sp>
      <p:pic>
        <p:nvPicPr>
          <p:cNvPr id="34" name="Picture 33" descr="builder-variance.png"/>
          <p:cNvPicPr>
            <a:picLocks noChangeAspect="1"/>
          </p:cNvPicPr>
          <p:nvPr/>
        </p:nvPicPr>
        <p:blipFill>
          <a:blip r:embed="rId3"/>
          <a:srcRect b="26154"/>
          <a:stretch>
            <a:fillRect/>
          </a:stretch>
        </p:blipFill>
        <p:spPr>
          <a:xfrm>
            <a:off x="5577840" y="3246120"/>
            <a:ext cx="5943600" cy="2743200"/>
          </a:xfrm>
          <a:prstGeom prst="rect">
            <a:avLst/>
          </a:prstGeom>
          <a:ln w="12700">
            <a:solidFill>
              <a:srgbClr val="D9DED8"/>
            </a:solidFill>
          </a:ln>
        </p:spPr>
      </p:pic>
      <p:sp>
        <p:nvSpPr>
          <p:cNvPr id="35" name="TextBox 34"/>
          <p:cNvSpPr txBox="1"/>
          <p:nvPr/>
        </p:nvSpPr>
        <p:spPr>
          <a:xfrm>
            <a:off x="5577840" y="6035040"/>
            <a:ext cx="5943600" cy="457200"/>
          </a:xfrm>
          <a:prstGeom prst="rect">
            <a:avLst/>
          </a:prstGeom>
          <a:noFill/>
        </p:spPr>
        <p:txBody>
          <a:bodyPr wrap="square" lIns="45720" rIns="45720" tIns="27432" bIns="27432">
            <a:spAutoFit/>
          </a:bodyPr>
          <a:lstStyle/>
          <a:p>
            <a:r>
              <a:rPr sz="1050" b="0">
                <a:solidFill>
                  <a:srgbClr val="5B6678"/>
                </a:solidFill>
                <a:latin typeface="Calibri"/>
              </a:rPr>
              <a:t>Benchmark check against the report as issued. Source: walkthrough, 11 Oct 2026, synthetic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Kicker"/>
          <p:cNvSpPr txBox="1"/>
          <p:nvPr/>
        </p:nvSpPr>
        <p:spPr>
          <a:xfrm>
            <a:off x="685800" y="384048"/>
            <a:ext cx="10789920" cy="274320"/>
          </a:xfrm>
          <a:prstGeom prst="rect">
            <a:avLst/>
          </a:prstGeom>
          <a:noFill/>
        </p:spPr>
        <p:txBody>
          <a:bodyPr wrap="square" lIns="45720" rIns="45720" tIns="27432" bIns="27432">
            <a:spAutoFit/>
          </a:bodyPr>
          <a:lstStyle/>
          <a:p>
            <a:r>
              <a:rPr sz="1100" b="1">
                <a:solidFill>
                  <a:srgbClr val="177878"/>
                </a:solidFill>
                <a:latin typeface="Calibri"/>
              </a:rPr>
              <a:t>HOW IT WORKS · 4 OF 5 · CONSUME</a:t>
            </a:r>
          </a:p>
        </p:txBody>
      </p:sp>
      <p:sp>
        <p:nvSpPr>
          <p:cNvPr id="3" name="Title"/>
          <p:cNvSpPr txBox="1"/>
          <p:nvPr/>
        </p:nvSpPr>
        <p:spPr>
          <a:xfrm>
            <a:off x="685800" y="658368"/>
            <a:ext cx="10789920" cy="914400"/>
          </a:xfrm>
          <a:prstGeom prst="rect">
            <a:avLst/>
          </a:prstGeom>
          <a:noFill/>
        </p:spPr>
        <p:txBody>
          <a:bodyPr wrap="square" lIns="45720" rIns="45720" tIns="27432" bIns="27432">
            <a:spAutoFit/>
          </a:bodyPr>
          <a:lstStyle/>
          <a:p>
            <a:r>
              <a:rPr sz="2700" b="1">
                <a:solidFill>
                  <a:srgbClr val="0F1B2D"/>
                </a:solidFill>
                <a:latin typeface="Georgia"/>
              </a:rPr>
              <a:t>Consume: the morning note, financial health and markets, each line with its source.</a:t>
            </a:r>
          </a:p>
        </p:txBody>
      </p:sp>
      <p:sp>
        <p:nvSpPr>
          <p:cNvPr id="4" name="Footer"/>
          <p:cNvSpPr txBox="1"/>
          <p:nvPr/>
        </p:nvSpPr>
        <p:spPr>
          <a:xfrm>
            <a:off x="685800" y="6446520"/>
            <a:ext cx="9144000" cy="274320"/>
          </a:xfrm>
          <a:prstGeom prst="rect">
            <a:avLst/>
          </a:prstGeom>
          <a:noFill/>
        </p:spPr>
        <p:txBody>
          <a:bodyPr wrap="square" lIns="45720" rIns="45720" tIns="27432" bIns="27432">
            <a:spAutoFit/>
          </a:bodyPr>
          <a:lstStyle/>
          <a:p>
            <a:r>
              <a:rPr sz="900" b="0">
                <a:solidFill>
                  <a:srgbClr val="5B6678"/>
                </a:solidFill>
                <a:latin typeface="Calibri"/>
              </a:rPr>
              <a:t>Signal Harbor</a:t>
            </a:r>
          </a:p>
        </p:txBody>
      </p:sp>
      <p:sp>
        <p:nvSpPr>
          <p:cNvPr id="5" name="Slide number"/>
          <p:cNvSpPr txBox="1"/>
          <p:nvPr/>
        </p:nvSpPr>
        <p:spPr>
          <a:xfrm>
            <a:off x="10607040" y="6446520"/>
            <a:ext cx="914400" cy="274320"/>
          </a:xfrm>
          <a:prstGeom prst="rect">
            <a:avLst/>
          </a:prstGeom>
          <a:noFill/>
        </p:spPr>
        <p:txBody>
          <a:bodyPr wrap="square" lIns="45720" rIns="45720" tIns="27432" bIns="27432">
            <a:spAutoFit/>
          </a:bodyPr>
          <a:lstStyle/>
          <a:p>
            <a:pPr algn="r"/>
            <a:r>
              <a:rPr sz="900" b="0">
                <a:solidFill>
                  <a:srgbClr val="5B6678"/>
                </a:solidFill>
                <a:latin typeface="Calibri"/>
              </a:rPr>
              <a:t>7 / 20</a:t>
            </a:r>
          </a:p>
        </p:txBody>
      </p:sp>
      <p:sp>
        <p:nvSpPr>
          <p:cNvPr id="6" name="Bullets"/>
          <p:cNvSpPr txBox="1"/>
          <p:nvPr/>
        </p:nvSpPr>
        <p:spPr>
          <a:xfrm>
            <a:off x="685800" y="1783080"/>
            <a:ext cx="5120640" cy="3840480"/>
          </a:xfrm>
          <a:prstGeom prst="rect">
            <a:avLst/>
          </a:prstGeom>
          <a:noFill/>
        </p:spPr>
        <p:txBody>
          <a:bodyPr wrap="square">
            <a:spAutoFit/>
          </a:bodyPr>
          <a:lstStyle/>
          <a:p>
            <a:pPr>
              <a:spcAft>
                <a:spcPts val="700"/>
              </a:spcAft>
            </a:pPr>
            <a:r>
              <a:rPr sz="840">
                <a:solidFill>
                  <a:srgbClr val="177878"/>
                </a:solidFill>
                <a:latin typeface="Calibri"/>
              </a:rPr>
              <a:t>●  </a:t>
            </a:r>
            <a:r>
              <a:rPr sz="1400" b="1">
                <a:solidFill>
                  <a:srgbClr val="0F1B2D"/>
                </a:solidFill>
                <a:latin typeface="Calibri"/>
              </a:rPr>
              <a:t>Today.</a:t>
            </a:r>
            <a:r>
              <a:rPr sz="1400" b="0">
                <a:solidFill>
                  <a:srgbClr val="0F1B2D"/>
                </a:solidFill>
                <a:latin typeface="Calibri"/>
              </a:rPr>
              <a:t> One sentence, four key numbers, and what moved against the benchmark.</a:t>
            </a:r>
          </a:p>
          <a:p>
            <a:pPr>
              <a:spcAft>
                <a:spcPts val="700"/>
              </a:spcAft>
            </a:pPr>
            <a:r>
              <a:rPr sz="840">
                <a:solidFill>
                  <a:srgbClr val="177878"/>
                </a:solidFill>
                <a:latin typeface="Calibri"/>
              </a:rPr>
              <a:t>●  </a:t>
            </a:r>
            <a:r>
              <a:rPr sz="1400" b="1">
                <a:solidFill>
                  <a:srgbClr val="0F1B2D"/>
                </a:solidFill>
                <a:latin typeface="Calibri"/>
              </a:rPr>
              <a:t>Financial health.</a:t>
            </a:r>
            <a:r>
              <a:rPr sz="1400" b="0">
                <a:solidFill>
                  <a:srgbClr val="0F1B2D"/>
                </a:solidFill>
                <a:latin typeface="Calibri"/>
              </a:rPr>
              <a:t> Daily P&amp;L and NAV by portfolio, entity or fund, with how far each value can be trusted.</a:t>
            </a:r>
          </a:p>
          <a:p>
            <a:pPr>
              <a:spcAft>
                <a:spcPts val="700"/>
              </a:spcAft>
            </a:pPr>
            <a:r>
              <a:rPr sz="840">
                <a:solidFill>
                  <a:srgbClr val="177878"/>
                </a:solidFill>
                <a:latin typeface="Calibri"/>
              </a:rPr>
              <a:t>●  </a:t>
            </a:r>
            <a:r>
              <a:rPr sz="1400" b="1">
                <a:solidFill>
                  <a:srgbClr val="0F1B2D"/>
                </a:solidFill>
                <a:latin typeface="Calibri"/>
              </a:rPr>
              <a:t>Markets.</a:t>
            </a:r>
            <a:r>
              <a:rPr sz="1400" b="0">
                <a:solidFill>
                  <a:srgbClr val="0F1B2D"/>
                </a:solidFill>
                <a:latin typeface="Calibri"/>
              </a:rPr>
              <a:t> Every outside line is tagged </a:t>
            </a:r>
            <a:r>
              <a:rPr sz="1400" b="1">
                <a:solidFill>
                  <a:srgbClr val="0F1B2D"/>
                </a:solidFill>
                <a:latin typeface="Calibri"/>
              </a:rPr>
              <a:t>FILE</a:t>
            </a:r>
            <a:r>
              <a:rPr sz="1400" b="0">
                <a:solidFill>
                  <a:srgbClr val="0F1B2D"/>
                </a:solidFill>
                <a:latin typeface="Calibri"/>
              </a:rPr>
              <a:t> or </a:t>
            </a:r>
            <a:r>
              <a:rPr sz="1400" b="1">
                <a:solidFill>
                  <a:srgbClr val="0F1B2D"/>
                </a:solidFill>
                <a:latin typeface="Calibri"/>
              </a:rPr>
              <a:t>LIVE API</a:t>
            </a:r>
            <a:r>
              <a:rPr sz="1400" b="0">
                <a:solidFill>
                  <a:srgbClr val="0F1B2D"/>
                </a:solidFill>
                <a:latin typeface="Calibri"/>
              </a:rPr>
              <a:t>, with its source and date.</a:t>
            </a:r>
          </a:p>
          <a:p>
            <a:pPr>
              <a:spcAft>
                <a:spcPts val="700"/>
              </a:spcAft>
            </a:pPr>
            <a:r>
              <a:rPr sz="840">
                <a:solidFill>
                  <a:srgbClr val="177878"/>
                </a:solidFill>
                <a:latin typeface="Calibri"/>
              </a:rPr>
              <a:t>●  </a:t>
            </a:r>
            <a:r>
              <a:rPr sz="1400" b="1">
                <a:solidFill>
                  <a:srgbClr val="0F1B2D"/>
                </a:solidFill>
                <a:latin typeface="Calibri"/>
              </a:rPr>
              <a:t>Reports</a:t>
            </a:r>
            <a:r>
              <a:rPr sz="1400" b="0">
                <a:solidFill>
                  <a:srgbClr val="0F1B2D"/>
                </a:solidFill>
                <a:latin typeface="Calibri"/>
              </a:rPr>
              <a:t> hold the library and the dashboards a person approved. </a:t>
            </a:r>
            <a:r>
              <a:rPr sz="1400" b="1">
                <a:solidFill>
                  <a:srgbClr val="0F1B2D"/>
                </a:solidFill>
                <a:latin typeface="Calibri"/>
              </a:rPr>
              <a:t>What if</a:t>
            </a:r>
            <a:r>
              <a:rPr sz="1400" b="0">
                <a:solidFill>
                  <a:srgbClr val="0F1B2D"/>
                </a:solidFill>
                <a:latin typeface="Calibri"/>
              </a:rPr>
              <a:t> shows attribution.</a:t>
            </a:r>
          </a:p>
          <a:p>
            <a:pPr>
              <a:spcAft>
                <a:spcPts val="700"/>
              </a:spcAft>
            </a:pPr>
            <a:r>
              <a:rPr sz="840">
                <a:solidFill>
                  <a:srgbClr val="177878"/>
                </a:solidFill>
                <a:latin typeface="Calibri"/>
              </a:rPr>
              <a:t>●  </a:t>
            </a:r>
            <a:r>
              <a:rPr sz="1400" b="0">
                <a:solidFill>
                  <a:srgbClr val="0F1B2D"/>
                </a:solidFill>
                <a:latin typeface="Calibri"/>
              </a:rPr>
              <a:t>One </a:t>
            </a:r>
            <a:r>
              <a:rPr sz="1400" b="1">
                <a:solidFill>
                  <a:srgbClr val="0F1B2D"/>
                </a:solidFill>
                <a:latin typeface="Calibri"/>
              </a:rPr>
              <a:t>USD / SGD</a:t>
            </a:r>
            <a:r>
              <a:rPr sz="1400" b="0">
                <a:solidFill>
                  <a:srgbClr val="0F1B2D"/>
                </a:solidFill>
                <a:latin typeface="Calibri"/>
              </a:rPr>
              <a:t> switch stays set as you move between pages.</a:t>
            </a:r>
          </a:p>
        </p:txBody>
      </p:sp>
      <p:pic>
        <p:nvPicPr>
          <p:cNvPr id="7" name="Picture 6" descr="consume-markets-top.png"/>
          <p:cNvPicPr>
            <a:picLocks noChangeAspect="1"/>
          </p:cNvPicPr>
          <p:nvPr/>
        </p:nvPicPr>
        <p:blipFill>
          <a:blip r:embed="rId3"/>
          <a:stretch>
            <a:fillRect/>
          </a:stretch>
        </p:blipFill>
        <p:spPr>
          <a:xfrm>
            <a:off x="6172200" y="1783080"/>
            <a:ext cx="5333695" cy="3840480"/>
          </a:xfrm>
          <a:prstGeom prst="rect">
            <a:avLst/>
          </a:prstGeom>
          <a:ln w="12700">
            <a:solidFill>
              <a:srgbClr val="D9DED8"/>
            </a:solidFill>
          </a:ln>
        </p:spPr>
      </p:pic>
      <p:sp>
        <p:nvSpPr>
          <p:cNvPr id="8" name="TextBox 7"/>
          <p:cNvSpPr txBox="1"/>
          <p:nvPr/>
        </p:nvSpPr>
        <p:spPr>
          <a:xfrm>
            <a:off x="6172200" y="5669280"/>
            <a:ext cx="5333695" cy="457200"/>
          </a:xfrm>
          <a:prstGeom prst="rect">
            <a:avLst/>
          </a:prstGeom>
          <a:noFill/>
        </p:spPr>
        <p:txBody>
          <a:bodyPr wrap="square" lIns="45720" rIns="45720" tIns="27432" bIns="27432">
            <a:spAutoFit/>
          </a:bodyPr>
          <a:lstStyle/>
          <a:p>
            <a:r>
              <a:rPr sz="1050" b="0">
                <a:solidFill>
                  <a:srgbClr val="5B6678"/>
                </a:solidFill>
                <a:latin typeface="Calibri"/>
              </a:rPr>
              <a:t>Consume, Markets: each outside line carries FILE or LIVE API, its source and its date. Synthetic data.</a:t>
            </a:r>
          </a:p>
        </p:txBody>
      </p:sp>
      <p:sp>
        <p:nvSpPr>
          <p:cNvPr id="9" name="Rectangle 8"/>
          <p:cNvSpPr/>
          <p:nvPr/>
        </p:nvSpPr>
        <p:spPr>
          <a:xfrm>
            <a:off x="685800" y="5486400"/>
            <a:ext cx="5120640" cy="777240"/>
          </a:xfrm>
          <a:prstGeom prst="rect">
            <a:avLst/>
          </a:prstGeom>
          <a:solidFill>
            <a:srgbClr val="FBE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5486400"/>
            <a:ext cx="64008" cy="777240"/>
          </a:xfrm>
          <a:prstGeom prst="rect">
            <a:avLst/>
          </a:prstGeom>
          <a:solidFill>
            <a:srgbClr val="E0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532120"/>
            <a:ext cx="4892040" cy="685800"/>
          </a:xfrm>
          <a:prstGeom prst="rect">
            <a:avLst/>
          </a:prstGeom>
          <a:noFill/>
        </p:spPr>
        <p:txBody>
          <a:bodyPr wrap="square" lIns="45720" rIns="45720" tIns="27432" bIns="27432" anchor="ctr">
            <a:spAutoFit/>
          </a:bodyPr>
          <a:lstStyle/>
          <a:p>
            <a:r>
              <a:rPr sz="1200" b="0">
                <a:solidFill>
                  <a:srgbClr val="0F1B2D"/>
                </a:solidFill>
                <a:latin typeface="Calibri"/>
              </a:rPr>
              <a:t>A missing input shows as missing. If the daily price file has not arrived, the screen says so instead of showing a number.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Kicker"/>
          <p:cNvSpPr txBox="1"/>
          <p:nvPr/>
        </p:nvSpPr>
        <p:spPr>
          <a:xfrm>
            <a:off x="685800" y="384048"/>
            <a:ext cx="10789920" cy="274320"/>
          </a:xfrm>
          <a:prstGeom prst="rect">
            <a:avLst/>
          </a:prstGeom>
          <a:noFill/>
        </p:spPr>
        <p:txBody>
          <a:bodyPr wrap="square" lIns="45720" rIns="45720" tIns="27432" bIns="27432">
            <a:spAutoFit/>
          </a:bodyPr>
          <a:lstStyle/>
          <a:p>
            <a:r>
              <a:rPr sz="1100" b="1">
                <a:solidFill>
                  <a:srgbClr val="177878"/>
                </a:solidFill>
                <a:latin typeface="Calibri"/>
              </a:rPr>
              <a:t>HOW IT WORKS · 5 OF 5 · ACTION</a:t>
            </a:r>
          </a:p>
        </p:txBody>
      </p:sp>
      <p:sp>
        <p:nvSpPr>
          <p:cNvPr id="3" name="Title"/>
          <p:cNvSpPr txBox="1"/>
          <p:nvPr/>
        </p:nvSpPr>
        <p:spPr>
          <a:xfrm>
            <a:off x="685800" y="658368"/>
            <a:ext cx="10789920" cy="914400"/>
          </a:xfrm>
          <a:prstGeom prst="rect">
            <a:avLst/>
          </a:prstGeom>
          <a:noFill/>
        </p:spPr>
        <p:txBody>
          <a:bodyPr wrap="square" lIns="45720" rIns="45720" tIns="27432" bIns="27432">
            <a:spAutoFit/>
          </a:bodyPr>
          <a:lstStyle/>
          <a:p>
            <a:r>
              <a:rPr sz="2700" b="1">
                <a:solidFill>
                  <a:srgbClr val="0F1B2D"/>
                </a:solidFill>
                <a:latin typeface="Georgia"/>
              </a:rPr>
              <a:t>Action is one page: what needs a person today, and why.</a:t>
            </a:r>
          </a:p>
        </p:txBody>
      </p:sp>
      <p:sp>
        <p:nvSpPr>
          <p:cNvPr id="4" name="Footer"/>
          <p:cNvSpPr txBox="1"/>
          <p:nvPr/>
        </p:nvSpPr>
        <p:spPr>
          <a:xfrm>
            <a:off x="685800" y="6446520"/>
            <a:ext cx="9144000" cy="274320"/>
          </a:xfrm>
          <a:prstGeom prst="rect">
            <a:avLst/>
          </a:prstGeom>
          <a:noFill/>
        </p:spPr>
        <p:txBody>
          <a:bodyPr wrap="square" lIns="45720" rIns="45720" tIns="27432" bIns="27432">
            <a:spAutoFit/>
          </a:bodyPr>
          <a:lstStyle/>
          <a:p>
            <a:r>
              <a:rPr sz="900" b="0">
                <a:solidFill>
                  <a:srgbClr val="5B6678"/>
                </a:solidFill>
                <a:latin typeface="Calibri"/>
              </a:rPr>
              <a:t>Signal Harbor</a:t>
            </a:r>
          </a:p>
        </p:txBody>
      </p:sp>
      <p:sp>
        <p:nvSpPr>
          <p:cNvPr id="5" name="Slide number"/>
          <p:cNvSpPr txBox="1"/>
          <p:nvPr/>
        </p:nvSpPr>
        <p:spPr>
          <a:xfrm>
            <a:off x="10607040" y="6446520"/>
            <a:ext cx="914400" cy="274320"/>
          </a:xfrm>
          <a:prstGeom prst="rect">
            <a:avLst/>
          </a:prstGeom>
          <a:noFill/>
        </p:spPr>
        <p:txBody>
          <a:bodyPr wrap="square" lIns="45720" rIns="45720" tIns="27432" bIns="27432">
            <a:spAutoFit/>
          </a:bodyPr>
          <a:lstStyle/>
          <a:p>
            <a:pPr algn="r"/>
            <a:r>
              <a:rPr sz="900" b="0">
                <a:solidFill>
                  <a:srgbClr val="5B6678"/>
                </a:solidFill>
                <a:latin typeface="Calibri"/>
              </a:rPr>
              <a:t>8 / 20</a:t>
            </a:r>
          </a:p>
        </p:txBody>
      </p:sp>
      <p:sp>
        <p:nvSpPr>
          <p:cNvPr id="6" name="Bullets"/>
          <p:cNvSpPr txBox="1"/>
          <p:nvPr/>
        </p:nvSpPr>
        <p:spPr>
          <a:xfrm>
            <a:off x="685800" y="1783080"/>
            <a:ext cx="5120640" cy="3840480"/>
          </a:xfrm>
          <a:prstGeom prst="rect">
            <a:avLst/>
          </a:prstGeom>
          <a:noFill/>
        </p:spPr>
        <p:txBody>
          <a:bodyPr wrap="square">
            <a:spAutoFit/>
          </a:bodyPr>
          <a:lstStyle/>
          <a:p>
            <a:pPr>
              <a:spcAft>
                <a:spcPts val="700"/>
              </a:spcAft>
            </a:pPr>
            <a:r>
              <a:rPr sz="840">
                <a:solidFill>
                  <a:srgbClr val="177878"/>
                </a:solidFill>
                <a:latin typeface="Calibri"/>
              </a:rPr>
              <a:t>●  </a:t>
            </a:r>
            <a:r>
              <a:rPr sz="1400" b="1">
                <a:solidFill>
                  <a:srgbClr val="0F1B2D"/>
                </a:solidFill>
                <a:latin typeface="Calibri"/>
              </a:rPr>
              <a:t>Cases to handle</a:t>
            </a:r>
            <a:r>
              <a:rPr sz="1400" b="0">
                <a:solidFill>
                  <a:srgbClr val="0F1B2D"/>
                </a:solidFill>
                <a:latin typeface="Calibri"/>
              </a:rPr>
              <a:t>, with the evidence attached.</a:t>
            </a:r>
          </a:p>
          <a:p>
            <a:pPr>
              <a:spcAft>
                <a:spcPts val="700"/>
              </a:spcAft>
            </a:pPr>
            <a:r>
              <a:rPr sz="840">
                <a:solidFill>
                  <a:srgbClr val="177878"/>
                </a:solidFill>
                <a:latin typeface="Calibri"/>
              </a:rPr>
              <a:t>●  </a:t>
            </a:r>
            <a:r>
              <a:rPr sz="1400" b="1">
                <a:solidFill>
                  <a:srgbClr val="0F1B2D"/>
                </a:solidFill>
                <a:latin typeface="Calibri"/>
              </a:rPr>
              <a:t>Reconciliations to clear.</a:t>
            </a:r>
            <a:r>
              <a:rPr sz="1400" b="0">
                <a:solidFill>
                  <a:srgbClr val="0F1B2D"/>
                </a:solidFill>
                <a:latin typeface="Calibri"/>
              </a:rPr>
              <a:t> When Tally reads a break as timing, one click closes it as timing.</a:t>
            </a:r>
          </a:p>
          <a:p>
            <a:pPr>
              <a:spcAft>
                <a:spcPts val="700"/>
              </a:spcAft>
            </a:pPr>
            <a:r>
              <a:rPr sz="840">
                <a:solidFill>
                  <a:srgbClr val="177878"/>
                </a:solidFill>
                <a:latin typeface="Calibri"/>
              </a:rPr>
              <a:t>●  </a:t>
            </a:r>
            <a:r>
              <a:rPr sz="1400" b="1">
                <a:solidFill>
                  <a:srgbClr val="0F1B2D"/>
                </a:solidFill>
                <a:latin typeface="Calibri"/>
              </a:rPr>
              <a:t>Figures to confirm</a:t>
            </a:r>
            <a:r>
              <a:rPr sz="1400" b="0">
                <a:solidFill>
                  <a:srgbClr val="0F1B2D"/>
                </a:solidFill>
                <a:latin typeface="Calibri"/>
              </a:rPr>
              <a:t> read from files, and statements to chase.</a:t>
            </a:r>
          </a:p>
          <a:p>
            <a:pPr>
              <a:spcAft>
                <a:spcPts val="700"/>
              </a:spcAft>
            </a:pPr>
            <a:r>
              <a:rPr sz="840">
                <a:solidFill>
                  <a:srgbClr val="177878"/>
                </a:solidFill>
                <a:latin typeface="Calibri"/>
              </a:rPr>
              <a:t>●  </a:t>
            </a:r>
            <a:r>
              <a:rPr sz="1400" b="1">
                <a:solidFill>
                  <a:srgbClr val="0F1B2D"/>
                </a:solidFill>
                <a:latin typeface="Calibri"/>
              </a:rPr>
              <a:t>Waiting for my approval</a:t>
            </a:r>
            <a:r>
              <a:rPr sz="1400" b="0">
                <a:solidFill>
                  <a:srgbClr val="0F1B2D"/>
                </a:solidFill>
                <a:latin typeface="Calibri"/>
              </a:rPr>
              <a:t>: packs, plans, dashboards, deliveries and Map items.</a:t>
            </a:r>
          </a:p>
          <a:p>
            <a:pPr>
              <a:spcAft>
                <a:spcPts val="700"/>
              </a:spcAft>
            </a:pPr>
            <a:r>
              <a:rPr sz="840">
                <a:solidFill>
                  <a:srgbClr val="177878"/>
                </a:solidFill>
                <a:latin typeface="Calibri"/>
              </a:rPr>
              <a:t>●  </a:t>
            </a:r>
            <a:r>
              <a:rPr sz="1400" b="1">
                <a:solidFill>
                  <a:srgbClr val="0F1B2D"/>
                </a:solidFill>
                <a:latin typeface="Calibri"/>
              </a:rPr>
              <a:t>Done today</a:t>
            </a:r>
            <a:r>
              <a:rPr sz="1400" b="0">
                <a:solidFill>
                  <a:srgbClr val="0F1B2D"/>
                </a:solidFill>
                <a:latin typeface="Calibri"/>
              </a:rPr>
              <a:t> grows as the team clears the list.</a:t>
            </a:r>
          </a:p>
        </p:txBody>
      </p:sp>
      <p:pic>
        <p:nvPicPr>
          <p:cNvPr id="7" name="Picture 6" descr="action-demo.png"/>
          <p:cNvPicPr>
            <a:picLocks noChangeAspect="1"/>
          </p:cNvPicPr>
          <p:nvPr/>
        </p:nvPicPr>
        <p:blipFill>
          <a:blip r:embed="rId3"/>
          <a:stretch>
            <a:fillRect/>
          </a:stretch>
        </p:blipFill>
        <p:spPr>
          <a:xfrm>
            <a:off x="6172200" y="1783080"/>
            <a:ext cx="5333695" cy="4023360"/>
          </a:xfrm>
          <a:prstGeom prst="rect">
            <a:avLst/>
          </a:prstGeom>
          <a:ln w="12700">
            <a:solidFill>
              <a:srgbClr val="D9DED8"/>
            </a:solidFill>
          </a:ln>
        </p:spPr>
      </p:pic>
      <p:sp>
        <p:nvSpPr>
          <p:cNvPr id="8" name="TextBox 7"/>
          <p:cNvSpPr txBox="1"/>
          <p:nvPr/>
        </p:nvSpPr>
        <p:spPr>
          <a:xfrm>
            <a:off x="6172200" y="5852160"/>
            <a:ext cx="5333695" cy="457200"/>
          </a:xfrm>
          <a:prstGeom prst="rect">
            <a:avLst/>
          </a:prstGeom>
          <a:noFill/>
        </p:spPr>
        <p:txBody>
          <a:bodyPr wrap="square" lIns="45720" rIns="45720" tIns="27432" bIns="27432">
            <a:spAutoFit/>
          </a:bodyPr>
          <a:lstStyle/>
          <a:p>
            <a:r>
              <a:rPr sz="1050" b="0">
                <a:solidFill>
                  <a:srgbClr val="5B6678"/>
                </a:solidFill>
                <a:latin typeface="Calibri"/>
              </a:rPr>
              <a:t>Action, one page, as the head of data sees it. “Where is this from?” opens the trail on any figure. Synthetic data.</a:t>
            </a:r>
          </a:p>
        </p:txBody>
      </p:sp>
      <p:sp>
        <p:nvSpPr>
          <p:cNvPr id="9" name="TextBox 8"/>
          <p:cNvSpPr txBox="1"/>
          <p:nvPr/>
        </p:nvSpPr>
        <p:spPr>
          <a:xfrm>
            <a:off x="685800" y="5806440"/>
            <a:ext cx="5120640" cy="548640"/>
          </a:xfrm>
          <a:prstGeom prst="rect">
            <a:avLst/>
          </a:prstGeom>
          <a:noFill/>
        </p:spPr>
        <p:txBody>
          <a:bodyPr wrap="square" lIns="45720" rIns="45720" tIns="27432" bIns="27432">
            <a:spAutoFit/>
          </a:bodyPr>
          <a:lstStyle/>
          <a:p>
            <a:r>
              <a:rPr sz="1150" b="0">
                <a:solidFill>
                  <a:srgbClr val="5B6678"/>
                </a:solidFill>
                <a:latin typeface="Calibri"/>
              </a:rPr>
              <a:t>Follow-ups to managers are drafted for a person to copy. Nothing is sent by the system.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Kicker"/>
          <p:cNvSpPr txBox="1"/>
          <p:nvPr/>
        </p:nvSpPr>
        <p:spPr>
          <a:xfrm>
            <a:off x="685800" y="384048"/>
            <a:ext cx="10789920" cy="274320"/>
          </a:xfrm>
          <a:prstGeom prst="rect">
            <a:avLst/>
          </a:prstGeom>
          <a:noFill/>
        </p:spPr>
        <p:txBody>
          <a:bodyPr wrap="square" lIns="45720" rIns="45720" tIns="27432" bIns="27432">
            <a:spAutoFit/>
          </a:bodyPr>
          <a:lstStyle/>
          <a:p>
            <a:r>
              <a:rPr sz="1100" b="1">
                <a:solidFill>
                  <a:srgbClr val="177878"/>
                </a:solidFill>
                <a:latin typeface="Calibri"/>
              </a:rPr>
              <a:t>THE MAP · ONTOLOGY</a:t>
            </a:r>
          </a:p>
        </p:txBody>
      </p:sp>
      <p:sp>
        <p:nvSpPr>
          <p:cNvPr id="3" name="Title"/>
          <p:cNvSpPr txBox="1"/>
          <p:nvPr/>
        </p:nvSpPr>
        <p:spPr>
          <a:xfrm>
            <a:off x="685800" y="658368"/>
            <a:ext cx="10789920" cy="914400"/>
          </a:xfrm>
          <a:prstGeom prst="rect">
            <a:avLst/>
          </a:prstGeom>
          <a:noFill/>
        </p:spPr>
        <p:txBody>
          <a:bodyPr wrap="square" lIns="45720" rIns="45720" tIns="27432" bIns="27432">
            <a:spAutoFit/>
          </a:bodyPr>
          <a:lstStyle/>
          <a:p>
            <a:r>
              <a:rPr sz="2700" b="1">
                <a:solidFill>
                  <a:srgbClr val="0F1B2D"/>
                </a:solidFill>
                <a:latin typeface="Georgia"/>
              </a:rPr>
              <a:t>One graph of the office: people, projects, data and how each number is made.</a:t>
            </a:r>
          </a:p>
        </p:txBody>
      </p:sp>
      <p:sp>
        <p:nvSpPr>
          <p:cNvPr id="4" name="Footer"/>
          <p:cNvSpPr txBox="1"/>
          <p:nvPr/>
        </p:nvSpPr>
        <p:spPr>
          <a:xfrm>
            <a:off x="685800" y="6446520"/>
            <a:ext cx="9144000" cy="274320"/>
          </a:xfrm>
          <a:prstGeom prst="rect">
            <a:avLst/>
          </a:prstGeom>
          <a:noFill/>
        </p:spPr>
        <p:txBody>
          <a:bodyPr wrap="square" lIns="45720" rIns="45720" tIns="27432" bIns="27432">
            <a:spAutoFit/>
          </a:bodyPr>
          <a:lstStyle/>
          <a:p>
            <a:r>
              <a:rPr sz="900" b="0">
                <a:solidFill>
                  <a:srgbClr val="5B6678"/>
                </a:solidFill>
                <a:latin typeface="Calibri"/>
              </a:rPr>
              <a:t>Signal Harbor</a:t>
            </a:r>
          </a:p>
        </p:txBody>
      </p:sp>
      <p:sp>
        <p:nvSpPr>
          <p:cNvPr id="5" name="Slide number"/>
          <p:cNvSpPr txBox="1"/>
          <p:nvPr/>
        </p:nvSpPr>
        <p:spPr>
          <a:xfrm>
            <a:off x="10607040" y="6446520"/>
            <a:ext cx="914400" cy="274320"/>
          </a:xfrm>
          <a:prstGeom prst="rect">
            <a:avLst/>
          </a:prstGeom>
          <a:noFill/>
        </p:spPr>
        <p:txBody>
          <a:bodyPr wrap="square" lIns="45720" rIns="45720" tIns="27432" bIns="27432">
            <a:spAutoFit/>
          </a:bodyPr>
          <a:lstStyle/>
          <a:p>
            <a:pPr algn="r"/>
            <a:r>
              <a:rPr sz="900" b="0">
                <a:solidFill>
                  <a:srgbClr val="5B6678"/>
                </a:solidFill>
                <a:latin typeface="Calibri"/>
              </a:rPr>
              <a:t>9 / 20</a:t>
            </a:r>
          </a:p>
        </p:txBody>
      </p:sp>
      <p:pic>
        <p:nvPicPr>
          <p:cNvPr id="6" name="Picture 5" descr="map-ontology.png"/>
          <p:cNvPicPr>
            <a:picLocks noChangeAspect="1"/>
          </p:cNvPicPr>
          <p:nvPr/>
        </p:nvPicPr>
        <p:blipFill>
          <a:blip r:embed="rId3"/>
          <a:stretch>
            <a:fillRect/>
          </a:stretch>
        </p:blipFill>
        <p:spPr>
          <a:xfrm>
            <a:off x="685800" y="1783080"/>
            <a:ext cx="6309360" cy="4114800"/>
          </a:xfrm>
          <a:prstGeom prst="rect">
            <a:avLst/>
          </a:prstGeom>
          <a:ln w="12700">
            <a:solidFill>
              <a:srgbClr val="D9DED8"/>
            </a:solidFill>
          </a:ln>
        </p:spPr>
      </p:pic>
      <p:sp>
        <p:nvSpPr>
          <p:cNvPr id="7" name="TextBox 6"/>
          <p:cNvSpPr txBox="1"/>
          <p:nvPr/>
        </p:nvSpPr>
        <p:spPr>
          <a:xfrm>
            <a:off x="685800" y="5943600"/>
            <a:ext cx="6309360" cy="457200"/>
          </a:xfrm>
          <a:prstGeom prst="rect">
            <a:avLst/>
          </a:prstGeom>
          <a:noFill/>
        </p:spPr>
        <p:txBody>
          <a:bodyPr wrap="square" lIns="45720" rIns="45720" tIns="27432" bIns="27432">
            <a:spAutoFit/>
          </a:bodyPr>
          <a:lstStyle/>
          <a:p>
            <a:r>
              <a:rPr sz="1050" b="0">
                <a:solidFill>
                  <a:srgbClr val="5B6678"/>
                </a:solidFill>
                <a:latin typeface="Calibri"/>
              </a:rPr>
              <a:t>Map, Ontology view. Synthetic data.</a:t>
            </a:r>
          </a:p>
        </p:txBody>
      </p:sp>
      <p:sp>
        <p:nvSpPr>
          <p:cNvPr id="8" name="Bullets"/>
          <p:cNvSpPr txBox="1"/>
          <p:nvPr/>
        </p:nvSpPr>
        <p:spPr>
          <a:xfrm>
            <a:off x="7315200" y="1783080"/>
            <a:ext cx="4206240" cy="4023360"/>
          </a:xfrm>
          <a:prstGeom prst="rect">
            <a:avLst/>
          </a:prstGeom>
          <a:noFill/>
        </p:spPr>
        <p:txBody>
          <a:bodyPr wrap="square">
            <a:spAutoFit/>
          </a:bodyPr>
          <a:lstStyle/>
          <a:p>
            <a:pPr>
              <a:spcAft>
                <a:spcPts val="700"/>
              </a:spcAft>
            </a:pPr>
            <a:r>
              <a:rPr sz="840">
                <a:solidFill>
                  <a:srgbClr val="177878"/>
                </a:solidFill>
                <a:latin typeface="Calibri"/>
              </a:rPr>
              <a:t>●  </a:t>
            </a:r>
            <a:r>
              <a:rPr sz="1400" b="1">
                <a:solidFill>
                  <a:srgbClr val="0F1B2D"/>
                </a:solidFill>
                <a:latin typeface="Calibri"/>
              </a:rPr>
              <a:t>Whole company.</a:t>
            </a:r>
            <a:r>
              <a:rPr sz="1400" b="0">
                <a:solidFill>
                  <a:srgbClr val="0F1B2D"/>
                </a:solidFill>
                <a:latin typeface="Calibri"/>
              </a:rPr>
              <a:t> People, projects, sources, tables, dashboards and reports, cases and decisions on one graph.</a:t>
            </a:r>
          </a:p>
          <a:p>
            <a:pPr>
              <a:spcAft>
                <a:spcPts val="700"/>
              </a:spcAft>
            </a:pPr>
            <a:r>
              <a:rPr sz="840">
                <a:solidFill>
                  <a:srgbClr val="177878"/>
                </a:solidFill>
                <a:latin typeface="Calibri"/>
              </a:rPr>
              <a:t>●  </a:t>
            </a:r>
            <a:r>
              <a:rPr sz="1400" b="1">
                <a:solidFill>
                  <a:srgbClr val="0F1B2D"/>
                </a:solidFill>
                <a:latin typeface="Calibri"/>
              </a:rPr>
              <a:t>Zoom and pan.</a:t>
            </a:r>
            <a:r>
              <a:rPr sz="1400" b="0">
                <a:solidFill>
                  <a:srgbClr val="0F1B2D"/>
                </a:solidFill>
                <a:latin typeface="Calibri"/>
              </a:rPr>
              <a:t> Plus, minus and Fit buttons; ctrl-wheel or pinch zooms at the pointer; drag to pan.</a:t>
            </a:r>
          </a:p>
          <a:p>
            <a:pPr>
              <a:spcAft>
                <a:spcPts val="700"/>
              </a:spcAft>
            </a:pPr>
            <a:r>
              <a:rPr sz="840">
                <a:solidFill>
                  <a:srgbClr val="177878"/>
                </a:solidFill>
                <a:latin typeface="Calibri"/>
              </a:rPr>
              <a:t>●  </a:t>
            </a:r>
            <a:r>
              <a:rPr sz="1400" b="1">
                <a:solidFill>
                  <a:srgbClr val="0F1B2D"/>
                </a:solidFill>
                <a:latin typeface="Calibri"/>
              </a:rPr>
              <a:t>Narrow it.</a:t>
            </a:r>
            <a:r>
              <a:rPr sz="1400" b="0">
                <a:solidFill>
                  <a:srgbClr val="0F1B2D"/>
                </a:solidFill>
                <a:latin typeface="Calibri"/>
              </a:rPr>
              <a:t> Find box, one project at a time, state, and Show chips.</a:t>
            </a:r>
          </a:p>
          <a:p>
            <a:pPr>
              <a:spcAft>
                <a:spcPts val="700"/>
              </a:spcAft>
            </a:pPr>
            <a:r>
              <a:rPr sz="840">
                <a:solidFill>
                  <a:srgbClr val="177878"/>
                </a:solidFill>
                <a:latin typeface="Calibri"/>
              </a:rPr>
              <a:t>●  </a:t>
            </a:r>
            <a:r>
              <a:rPr sz="1400" b="1">
                <a:solidFill>
                  <a:srgbClr val="0F1B2D"/>
                </a:solidFill>
                <a:latin typeface="Calibri"/>
              </a:rPr>
              <a:t>Click a node</a:t>
            </a:r>
            <a:r>
              <a:rPr sz="1400" b="0">
                <a:solidFill>
                  <a:srgbClr val="0F1B2D"/>
                </a:solidFill>
                <a:latin typeface="Calibri"/>
              </a:rPr>
              <a:t> for its owner, state and what it connects to.</a:t>
            </a:r>
          </a:p>
          <a:p>
            <a:pPr>
              <a:spcAft>
                <a:spcPts val="700"/>
              </a:spcAft>
            </a:pPr>
            <a:r>
              <a:rPr sz="840">
                <a:solidFill>
                  <a:srgbClr val="177878"/>
                </a:solidFill>
                <a:latin typeface="Calibri"/>
              </a:rPr>
              <a:t>●  </a:t>
            </a:r>
            <a:r>
              <a:rPr sz="1400" b="0">
                <a:solidFill>
                  <a:srgbClr val="0F1B2D"/>
                </a:solidFill>
                <a:latin typeface="Calibri"/>
              </a:rPr>
              <a:t>Switch to </a:t>
            </a:r>
            <a:r>
              <a:rPr sz="1400" b="1">
                <a:solidFill>
                  <a:srgbClr val="0F1B2D"/>
                </a:solidFill>
                <a:latin typeface="Calibri"/>
              </a:rPr>
              <a:t>Process map</a:t>
            </a:r>
            <a:r>
              <a:rPr sz="1400" b="0">
                <a:solidFill>
                  <a:srgbClr val="0F1B2D"/>
                </a:solidFill>
                <a:latin typeface="Calibri"/>
              </a:rPr>
              <a:t>, </a:t>
            </a:r>
            <a:r>
              <a:rPr sz="1400" b="1">
                <a:solidFill>
                  <a:srgbClr val="0F1B2D"/>
                </a:solidFill>
                <a:latin typeface="Calibri"/>
              </a:rPr>
              <a:t>Data model</a:t>
            </a:r>
            <a:r>
              <a:rPr sz="1400" b="0">
                <a:solidFill>
                  <a:srgbClr val="0F1B2D"/>
                </a:solidFill>
                <a:latin typeface="Calibri"/>
              </a:rPr>
              <a:t> or </a:t>
            </a:r>
            <a:r>
              <a:rPr sz="1400" b="1">
                <a:solidFill>
                  <a:srgbClr val="0F1B2D"/>
                </a:solidFill>
                <a:latin typeface="Calibri"/>
              </a:rPr>
              <a:t>Business glossary</a:t>
            </a:r>
            <a:r>
              <a:rPr sz="1400" b="0">
                <a:solidFill>
                  <a:srgbClr val="0F1B2D"/>
                </a:solidFill>
                <a:latin typeface="Calibri"/>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Kicker"/>
          <p:cNvSpPr txBox="1"/>
          <p:nvPr/>
        </p:nvSpPr>
        <p:spPr>
          <a:xfrm>
            <a:off x="685800" y="384048"/>
            <a:ext cx="10789920" cy="274320"/>
          </a:xfrm>
          <a:prstGeom prst="rect">
            <a:avLst/>
          </a:prstGeom>
          <a:noFill/>
        </p:spPr>
        <p:txBody>
          <a:bodyPr wrap="square" lIns="45720" rIns="45720" tIns="27432" bIns="27432">
            <a:spAutoFit/>
          </a:bodyPr>
          <a:lstStyle/>
          <a:p>
            <a:r>
              <a:rPr sz="1100" b="1">
                <a:solidFill>
                  <a:srgbClr val="177878"/>
                </a:solidFill>
                <a:latin typeface="Calibri"/>
              </a:rPr>
              <a:t>THE MAP · DATA MODEL WITH IMPACT</a:t>
            </a:r>
          </a:p>
        </p:txBody>
      </p:sp>
      <p:sp>
        <p:nvSpPr>
          <p:cNvPr id="3" name="Title"/>
          <p:cNvSpPr txBox="1"/>
          <p:nvPr/>
        </p:nvSpPr>
        <p:spPr>
          <a:xfrm>
            <a:off x="685800" y="658368"/>
            <a:ext cx="10789920" cy="914400"/>
          </a:xfrm>
          <a:prstGeom prst="rect">
            <a:avLst/>
          </a:prstGeom>
          <a:noFill/>
        </p:spPr>
        <p:txBody>
          <a:bodyPr wrap="square" lIns="45720" rIns="45720" tIns="27432" bIns="27432">
            <a:spAutoFit/>
          </a:bodyPr>
          <a:lstStyle/>
          <a:p>
            <a:r>
              <a:rPr sz="2700" b="1">
                <a:solidFill>
                  <a:srgbClr val="0F1B2D"/>
                </a:solidFill>
                <a:latin typeface="Georgia"/>
              </a:rPr>
              <a:t>See what each number is made of, and what a change to a table would touch.</a:t>
            </a:r>
          </a:p>
        </p:txBody>
      </p:sp>
      <p:sp>
        <p:nvSpPr>
          <p:cNvPr id="4" name="Footer"/>
          <p:cNvSpPr txBox="1"/>
          <p:nvPr/>
        </p:nvSpPr>
        <p:spPr>
          <a:xfrm>
            <a:off x="685800" y="6446520"/>
            <a:ext cx="9144000" cy="274320"/>
          </a:xfrm>
          <a:prstGeom prst="rect">
            <a:avLst/>
          </a:prstGeom>
          <a:noFill/>
        </p:spPr>
        <p:txBody>
          <a:bodyPr wrap="square" lIns="45720" rIns="45720" tIns="27432" bIns="27432">
            <a:spAutoFit/>
          </a:bodyPr>
          <a:lstStyle/>
          <a:p>
            <a:r>
              <a:rPr sz="900" b="0">
                <a:solidFill>
                  <a:srgbClr val="5B6678"/>
                </a:solidFill>
                <a:latin typeface="Calibri"/>
              </a:rPr>
              <a:t>Signal Harbor</a:t>
            </a:r>
          </a:p>
        </p:txBody>
      </p:sp>
      <p:sp>
        <p:nvSpPr>
          <p:cNvPr id="5" name="Slide number"/>
          <p:cNvSpPr txBox="1"/>
          <p:nvPr/>
        </p:nvSpPr>
        <p:spPr>
          <a:xfrm>
            <a:off x="10607040" y="6446520"/>
            <a:ext cx="914400" cy="274320"/>
          </a:xfrm>
          <a:prstGeom prst="rect">
            <a:avLst/>
          </a:prstGeom>
          <a:noFill/>
        </p:spPr>
        <p:txBody>
          <a:bodyPr wrap="square" lIns="45720" rIns="45720" tIns="27432" bIns="27432">
            <a:spAutoFit/>
          </a:bodyPr>
          <a:lstStyle/>
          <a:p>
            <a:pPr algn="r"/>
            <a:r>
              <a:rPr sz="900" b="0">
                <a:solidFill>
                  <a:srgbClr val="5B6678"/>
                </a:solidFill>
                <a:latin typeface="Calibri"/>
              </a:rPr>
              <a:t>10 / 20</a:t>
            </a:r>
          </a:p>
        </p:txBody>
      </p:sp>
      <p:sp>
        <p:nvSpPr>
          <p:cNvPr id="6" name="Rounded Rectangle 5"/>
          <p:cNvSpPr/>
          <p:nvPr/>
        </p:nvSpPr>
        <p:spPr>
          <a:xfrm>
            <a:off x="685800" y="1691640"/>
            <a:ext cx="3422904" cy="86868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37360"/>
            <a:ext cx="3331464" cy="320040"/>
          </a:xfrm>
          <a:prstGeom prst="rect">
            <a:avLst/>
          </a:prstGeom>
          <a:noFill/>
        </p:spPr>
        <p:txBody>
          <a:bodyPr wrap="square" lIns="45720" rIns="45720" tIns="27432" bIns="27432">
            <a:spAutoFit/>
          </a:bodyPr>
          <a:lstStyle/>
          <a:p>
            <a:r>
              <a:rPr sz="1400" b="1">
                <a:solidFill>
                  <a:srgbClr val="177878"/>
                </a:solidFill>
                <a:latin typeface="Georgia"/>
              </a:rPr>
              <a:t>Bronze</a:t>
            </a:r>
          </a:p>
        </p:txBody>
      </p:sp>
      <p:sp>
        <p:nvSpPr>
          <p:cNvPr id="8" name="TextBox 7"/>
          <p:cNvSpPr txBox="1"/>
          <p:nvPr/>
        </p:nvSpPr>
        <p:spPr>
          <a:xfrm>
            <a:off x="731520" y="2057400"/>
            <a:ext cx="3331464" cy="502919"/>
          </a:xfrm>
          <a:prstGeom prst="rect">
            <a:avLst/>
          </a:prstGeom>
          <a:noFill/>
        </p:spPr>
        <p:txBody>
          <a:bodyPr wrap="square" lIns="45720" rIns="45720" tIns="27432" bIns="27432">
            <a:spAutoFit/>
          </a:bodyPr>
          <a:lstStyle/>
          <a:p>
            <a:r>
              <a:rPr sz="1200" b="0">
                <a:solidFill>
                  <a:srgbClr val="0F1B2D"/>
                </a:solidFill>
                <a:latin typeface="Calibri"/>
              </a:rPr>
              <a:t>As it arrived. Originals are kept.</a:t>
            </a:r>
          </a:p>
        </p:txBody>
      </p:sp>
      <p:sp>
        <p:nvSpPr>
          <p:cNvPr id="9" name="TextBox 8"/>
          <p:cNvSpPr txBox="1"/>
          <p:nvPr/>
        </p:nvSpPr>
        <p:spPr>
          <a:xfrm>
            <a:off x="4108704" y="1943100"/>
            <a:ext cx="274320" cy="365760"/>
          </a:xfrm>
          <a:prstGeom prst="rect">
            <a:avLst/>
          </a:prstGeom>
          <a:noFill/>
        </p:spPr>
        <p:txBody>
          <a:bodyPr wrap="square" lIns="45720" rIns="45720" tIns="27432" bIns="27432">
            <a:spAutoFit/>
          </a:bodyPr>
          <a:lstStyle/>
          <a:p>
            <a:pPr algn="ctr"/>
            <a:r>
              <a:rPr sz="1800" b="0">
                <a:solidFill>
                  <a:srgbClr val="177878"/>
                </a:solidFill>
                <a:latin typeface="Calibri"/>
              </a:rPr>
              <a:t>→</a:t>
            </a:r>
          </a:p>
        </p:txBody>
      </p:sp>
      <p:sp>
        <p:nvSpPr>
          <p:cNvPr id="10" name="Rounded Rectangle 9"/>
          <p:cNvSpPr/>
          <p:nvPr/>
        </p:nvSpPr>
        <p:spPr>
          <a:xfrm>
            <a:off x="4383024" y="1691640"/>
            <a:ext cx="3422904" cy="86868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28744" y="1737360"/>
            <a:ext cx="3331464" cy="320040"/>
          </a:xfrm>
          <a:prstGeom prst="rect">
            <a:avLst/>
          </a:prstGeom>
          <a:noFill/>
        </p:spPr>
        <p:txBody>
          <a:bodyPr wrap="square" lIns="45720" rIns="45720" tIns="27432" bIns="27432">
            <a:spAutoFit/>
          </a:bodyPr>
          <a:lstStyle/>
          <a:p>
            <a:r>
              <a:rPr sz="1400" b="1">
                <a:solidFill>
                  <a:srgbClr val="177878"/>
                </a:solidFill>
                <a:latin typeface="Georgia"/>
              </a:rPr>
              <a:t>Silver</a:t>
            </a:r>
          </a:p>
        </p:txBody>
      </p:sp>
      <p:sp>
        <p:nvSpPr>
          <p:cNvPr id="12" name="TextBox 11"/>
          <p:cNvSpPr txBox="1"/>
          <p:nvPr/>
        </p:nvSpPr>
        <p:spPr>
          <a:xfrm>
            <a:off x="4428744" y="2057400"/>
            <a:ext cx="3331464" cy="502919"/>
          </a:xfrm>
          <a:prstGeom prst="rect">
            <a:avLst/>
          </a:prstGeom>
          <a:noFill/>
        </p:spPr>
        <p:txBody>
          <a:bodyPr wrap="square" lIns="45720" rIns="45720" tIns="27432" bIns="27432">
            <a:spAutoFit/>
          </a:bodyPr>
          <a:lstStyle/>
          <a:p>
            <a:r>
              <a:rPr sz="1200" b="0">
                <a:solidFill>
                  <a:srgbClr val="0F1B2D"/>
                </a:solidFill>
                <a:latin typeface="Calibri"/>
              </a:rPr>
              <a:t>The clean model, one version for the whole office.</a:t>
            </a:r>
          </a:p>
        </p:txBody>
      </p:sp>
      <p:sp>
        <p:nvSpPr>
          <p:cNvPr id="13" name="TextBox 12"/>
          <p:cNvSpPr txBox="1"/>
          <p:nvPr/>
        </p:nvSpPr>
        <p:spPr>
          <a:xfrm>
            <a:off x="7805928" y="1943100"/>
            <a:ext cx="274320" cy="365760"/>
          </a:xfrm>
          <a:prstGeom prst="rect">
            <a:avLst/>
          </a:prstGeom>
          <a:noFill/>
        </p:spPr>
        <p:txBody>
          <a:bodyPr wrap="square" lIns="45720" rIns="45720" tIns="27432" bIns="27432">
            <a:spAutoFit/>
          </a:bodyPr>
          <a:lstStyle/>
          <a:p>
            <a:pPr algn="ctr"/>
            <a:r>
              <a:rPr sz="1800" b="0">
                <a:solidFill>
                  <a:srgbClr val="177878"/>
                </a:solidFill>
                <a:latin typeface="Calibri"/>
              </a:rPr>
              <a:t>→</a:t>
            </a:r>
          </a:p>
        </p:txBody>
      </p:sp>
      <p:sp>
        <p:nvSpPr>
          <p:cNvPr id="14" name="Rounded Rectangle 13"/>
          <p:cNvSpPr/>
          <p:nvPr/>
        </p:nvSpPr>
        <p:spPr>
          <a:xfrm>
            <a:off x="8080248" y="1691640"/>
            <a:ext cx="3422904" cy="868680"/>
          </a:xfrm>
          <a:prstGeom prst="roundRect">
            <a:avLst>
              <a:gd name="adj" fmla="val 6000"/>
            </a:avLst>
          </a:prstGeom>
          <a:solidFill>
            <a:srgbClr val="FFF8EA"/>
          </a:solidFill>
          <a:ln w="12700">
            <a:solidFill>
              <a:srgbClr val="E0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5968" y="1737360"/>
            <a:ext cx="3331464" cy="320040"/>
          </a:xfrm>
          <a:prstGeom prst="rect">
            <a:avLst/>
          </a:prstGeom>
          <a:noFill/>
        </p:spPr>
        <p:txBody>
          <a:bodyPr wrap="square" lIns="45720" rIns="45720" tIns="27432" bIns="27432">
            <a:spAutoFit/>
          </a:bodyPr>
          <a:lstStyle/>
          <a:p>
            <a:r>
              <a:rPr sz="1400" b="1">
                <a:solidFill>
                  <a:srgbClr val="177878"/>
                </a:solidFill>
                <a:latin typeface="Georgia"/>
              </a:rPr>
              <a:t>Gold</a:t>
            </a:r>
          </a:p>
        </p:txBody>
      </p:sp>
      <p:sp>
        <p:nvSpPr>
          <p:cNvPr id="16" name="TextBox 15"/>
          <p:cNvSpPr txBox="1"/>
          <p:nvPr/>
        </p:nvSpPr>
        <p:spPr>
          <a:xfrm>
            <a:off x="8125968" y="2057400"/>
            <a:ext cx="3331464" cy="502919"/>
          </a:xfrm>
          <a:prstGeom prst="rect">
            <a:avLst/>
          </a:prstGeom>
          <a:noFill/>
        </p:spPr>
        <p:txBody>
          <a:bodyPr wrap="square" lIns="45720" rIns="45720" tIns="27432" bIns="27432">
            <a:spAutoFit/>
          </a:bodyPr>
          <a:lstStyle/>
          <a:p>
            <a:r>
              <a:rPr sz="1200" b="0">
                <a:solidFill>
                  <a:srgbClr val="0F1B2D"/>
                </a:solidFill>
                <a:latin typeface="Calibri"/>
              </a:rPr>
              <a:t>Ready-made figures, per project. What a dashboard or report reads.</a:t>
            </a:r>
          </a:p>
        </p:txBody>
      </p:sp>
      <p:pic>
        <p:nvPicPr>
          <p:cNvPr id="17" name="Picture 16" descr="map-data-model.png"/>
          <p:cNvPicPr>
            <a:picLocks noChangeAspect="1"/>
          </p:cNvPicPr>
          <p:nvPr/>
        </p:nvPicPr>
        <p:blipFill>
          <a:blip r:embed="rId3"/>
          <a:srcRect b="15152"/>
          <a:stretch>
            <a:fillRect/>
          </a:stretch>
        </p:blipFill>
        <p:spPr>
          <a:xfrm>
            <a:off x="685800" y="2743200"/>
            <a:ext cx="6035040" cy="3200400"/>
          </a:xfrm>
          <a:prstGeom prst="rect">
            <a:avLst/>
          </a:prstGeom>
          <a:ln w="12700">
            <a:solidFill>
              <a:srgbClr val="D9DED8"/>
            </a:solidFill>
          </a:ln>
        </p:spPr>
      </p:pic>
      <p:sp>
        <p:nvSpPr>
          <p:cNvPr id="18" name="TextBox 17"/>
          <p:cNvSpPr txBox="1"/>
          <p:nvPr/>
        </p:nvSpPr>
        <p:spPr>
          <a:xfrm>
            <a:off x="685800" y="5989320"/>
            <a:ext cx="6035040" cy="457200"/>
          </a:xfrm>
          <a:prstGeom prst="rect">
            <a:avLst/>
          </a:prstGeom>
          <a:noFill/>
        </p:spPr>
        <p:txBody>
          <a:bodyPr wrap="square" lIns="45720" rIns="45720" tIns="27432" bIns="27432">
            <a:spAutoFit/>
          </a:bodyPr>
          <a:lstStyle/>
          <a:p>
            <a:r>
              <a:rPr sz="1050" b="0">
                <a:solidFill>
                  <a:srgbClr val="5B6678"/>
                </a:solidFill>
                <a:latin typeface="Calibri"/>
              </a:rPr>
              <a:t>Data model: every table by layer, with row counts. A picked table lights what it reads and what reads it.</a:t>
            </a:r>
          </a:p>
        </p:txBody>
      </p:sp>
      <p:sp>
        <p:nvSpPr>
          <p:cNvPr id="19" name="Bullets"/>
          <p:cNvSpPr txBox="1"/>
          <p:nvPr/>
        </p:nvSpPr>
        <p:spPr>
          <a:xfrm>
            <a:off x="7040880" y="2743200"/>
            <a:ext cx="4480560" cy="3017520"/>
          </a:xfrm>
          <a:prstGeom prst="rect">
            <a:avLst/>
          </a:prstGeom>
          <a:noFill/>
        </p:spPr>
        <p:txBody>
          <a:bodyPr wrap="square">
            <a:spAutoFit/>
          </a:bodyPr>
          <a:lstStyle/>
          <a:p>
            <a:pPr>
              <a:spcAft>
                <a:spcPts val="500"/>
              </a:spcAft>
            </a:pPr>
            <a:r>
              <a:rPr sz="780">
                <a:solidFill>
                  <a:srgbClr val="177878"/>
                </a:solidFill>
                <a:latin typeface="Calibri"/>
              </a:rPr>
              <a:t>●  </a:t>
            </a:r>
            <a:r>
              <a:rPr sz="1300" b="1">
                <a:solidFill>
                  <a:srgbClr val="0F1B2D"/>
                </a:solidFill>
                <a:latin typeface="Calibri"/>
              </a:rPr>
              <a:t>Pick a table.</a:t>
            </a:r>
            <a:r>
              <a:rPr sz="1300" b="0">
                <a:solidFill>
                  <a:srgbClr val="0F1B2D"/>
                </a:solidFill>
                <a:latin typeface="Calibri"/>
              </a:rPr>
              <a:t> Columns with meaning, row count, owner and what it reads.</a:t>
            </a:r>
          </a:p>
          <a:p>
            <a:pPr>
              <a:spcAft>
                <a:spcPts val="500"/>
              </a:spcAft>
            </a:pPr>
            <a:r>
              <a:rPr sz="780">
                <a:solidFill>
                  <a:srgbClr val="177878"/>
                </a:solidFill>
                <a:latin typeface="Calibri"/>
              </a:rPr>
              <a:t>●  </a:t>
            </a:r>
            <a:r>
              <a:rPr sz="1300" b="1">
                <a:solidFill>
                  <a:srgbClr val="0F1B2D"/>
                </a:solidFill>
                <a:latin typeface="Calibri"/>
              </a:rPr>
              <a:t>If this table changes.</a:t>
            </a:r>
            <a:r>
              <a:rPr sz="1300" b="0">
                <a:solidFill>
                  <a:srgbClr val="0F1B2D"/>
                </a:solidFill>
                <a:latin typeface="Calibri"/>
              </a:rPr>
              <a:t> The gold tables, dashboards, reports and projects that depend on it.</a:t>
            </a:r>
          </a:p>
          <a:p>
            <a:pPr>
              <a:spcAft>
                <a:spcPts val="500"/>
              </a:spcAft>
            </a:pPr>
            <a:r>
              <a:rPr sz="780">
                <a:solidFill>
                  <a:srgbClr val="177878"/>
                </a:solidFill>
                <a:latin typeface="Calibri"/>
              </a:rPr>
              <a:t>●  </a:t>
            </a:r>
            <a:r>
              <a:rPr sz="1300" b="1">
                <a:solidFill>
                  <a:srgbClr val="0F1B2D"/>
                </a:solidFill>
                <a:latin typeface="Calibri"/>
              </a:rPr>
              <a:t>Loaded or whole model.</a:t>
            </a:r>
            <a:r>
              <a:rPr sz="1300" b="0">
                <a:solidFill>
                  <a:srgbClr val="0F1B2D"/>
                </a:solidFill>
                <a:latin typeface="Calibri"/>
              </a:rPr>
              <a:t> Tables that hold rows today, or the full model with the rest dimmed.</a:t>
            </a:r>
          </a:p>
          <a:p>
            <a:pPr>
              <a:spcAft>
                <a:spcPts val="500"/>
              </a:spcAft>
            </a:pPr>
            <a:r>
              <a:rPr sz="780">
                <a:solidFill>
                  <a:srgbClr val="177878"/>
                </a:solidFill>
                <a:latin typeface="Calibri"/>
              </a:rPr>
              <a:t>●  </a:t>
            </a:r>
            <a:r>
              <a:rPr sz="1300" b="1">
                <a:solidFill>
                  <a:srgbClr val="0F1B2D"/>
                </a:solidFill>
                <a:latin typeface="Calibri"/>
              </a:rPr>
              <a:t>Model additions.</a:t>
            </a:r>
            <a:r>
              <a:rPr sz="1300" b="0">
                <a:solidFill>
                  <a:srgbClr val="0F1B2D"/>
                </a:solidFill>
                <a:latin typeface="Calibri"/>
              </a:rPr>
              <a:t> A new table needs a model change first. The head of data approves it, and it then joins the model, outlined as added for this office.</a:t>
            </a:r>
          </a:p>
        </p:txBody>
      </p:sp>
      <p:sp>
        <p:nvSpPr>
          <p:cNvPr id="20" name="TextBox 19"/>
          <p:cNvSpPr txBox="1"/>
          <p:nvPr/>
        </p:nvSpPr>
        <p:spPr>
          <a:xfrm>
            <a:off x="7040880" y="5806440"/>
            <a:ext cx="4480560" cy="548640"/>
          </a:xfrm>
          <a:prstGeom prst="rect">
            <a:avLst/>
          </a:prstGeom>
          <a:noFill/>
        </p:spPr>
        <p:txBody>
          <a:bodyPr wrap="square" lIns="45720" rIns="45720" tIns="27432" bIns="27432">
            <a:spAutoFit/>
          </a:bodyPr>
          <a:lstStyle/>
          <a:p>
            <a:r>
              <a:rPr sz="1150" b="0">
                <a:solidFill>
                  <a:srgbClr val="5B6678"/>
                </a:solidFill>
                <a:latin typeface="Calibri"/>
              </a:rPr>
              <a:t>The data team sees every layer. Everyone else sees only the gold tables of projects they may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Kicker"/>
          <p:cNvSpPr txBox="1"/>
          <p:nvPr/>
        </p:nvSpPr>
        <p:spPr>
          <a:xfrm>
            <a:off x="685800" y="384048"/>
            <a:ext cx="10789920" cy="274320"/>
          </a:xfrm>
          <a:prstGeom prst="rect">
            <a:avLst/>
          </a:prstGeom>
          <a:noFill/>
        </p:spPr>
        <p:txBody>
          <a:bodyPr wrap="square" lIns="45720" rIns="45720" tIns="27432" bIns="27432">
            <a:spAutoFit/>
          </a:bodyPr>
          <a:lstStyle/>
          <a:p>
            <a:r>
              <a:rPr sz="1100" b="1">
                <a:solidFill>
                  <a:srgbClr val="177878"/>
                </a:solidFill>
                <a:latin typeface="Calibri"/>
              </a:rPr>
              <a:t>OPERATIONS · DATA TEAM</a:t>
            </a:r>
          </a:p>
        </p:txBody>
      </p:sp>
      <p:sp>
        <p:nvSpPr>
          <p:cNvPr id="3" name="Title"/>
          <p:cNvSpPr txBox="1"/>
          <p:nvPr/>
        </p:nvSpPr>
        <p:spPr>
          <a:xfrm>
            <a:off x="685800" y="658368"/>
            <a:ext cx="10789920" cy="914400"/>
          </a:xfrm>
          <a:prstGeom prst="rect">
            <a:avLst/>
          </a:prstGeom>
          <a:noFill/>
        </p:spPr>
        <p:txBody>
          <a:bodyPr wrap="square" lIns="45720" rIns="45720" tIns="27432" bIns="27432">
            <a:spAutoFit/>
          </a:bodyPr>
          <a:lstStyle/>
          <a:p>
            <a:r>
              <a:rPr sz="2700" b="1">
                <a:solidFill>
                  <a:srgbClr val="0F1B2D"/>
                </a:solidFill>
                <a:latin typeface="Georgia"/>
              </a:rPr>
              <a:t>Is everything arriving and running? Sources, runs and deliveries on one page.</a:t>
            </a:r>
          </a:p>
        </p:txBody>
      </p:sp>
      <p:sp>
        <p:nvSpPr>
          <p:cNvPr id="4" name="Footer"/>
          <p:cNvSpPr txBox="1"/>
          <p:nvPr/>
        </p:nvSpPr>
        <p:spPr>
          <a:xfrm>
            <a:off x="685800" y="6446520"/>
            <a:ext cx="9144000" cy="274320"/>
          </a:xfrm>
          <a:prstGeom prst="rect">
            <a:avLst/>
          </a:prstGeom>
          <a:noFill/>
        </p:spPr>
        <p:txBody>
          <a:bodyPr wrap="square" lIns="45720" rIns="45720" tIns="27432" bIns="27432">
            <a:spAutoFit/>
          </a:bodyPr>
          <a:lstStyle/>
          <a:p>
            <a:r>
              <a:rPr sz="900" b="0">
                <a:solidFill>
                  <a:srgbClr val="5B6678"/>
                </a:solidFill>
                <a:latin typeface="Calibri"/>
              </a:rPr>
              <a:t>Signal Harbor</a:t>
            </a:r>
          </a:p>
        </p:txBody>
      </p:sp>
      <p:sp>
        <p:nvSpPr>
          <p:cNvPr id="5" name="Slide number"/>
          <p:cNvSpPr txBox="1"/>
          <p:nvPr/>
        </p:nvSpPr>
        <p:spPr>
          <a:xfrm>
            <a:off x="10607040" y="6446520"/>
            <a:ext cx="914400" cy="274320"/>
          </a:xfrm>
          <a:prstGeom prst="rect">
            <a:avLst/>
          </a:prstGeom>
          <a:noFill/>
        </p:spPr>
        <p:txBody>
          <a:bodyPr wrap="square" lIns="45720" rIns="45720" tIns="27432" bIns="27432">
            <a:spAutoFit/>
          </a:bodyPr>
          <a:lstStyle/>
          <a:p>
            <a:pPr algn="r"/>
            <a:r>
              <a:rPr sz="900" b="0">
                <a:solidFill>
                  <a:srgbClr val="5B6678"/>
                </a:solidFill>
                <a:latin typeface="Calibri"/>
              </a:rPr>
              <a:t>11 / 20</a:t>
            </a:r>
          </a:p>
        </p:txBody>
      </p:sp>
      <p:sp>
        <p:nvSpPr>
          <p:cNvPr id="6" name="Bullets"/>
          <p:cNvSpPr txBox="1"/>
          <p:nvPr/>
        </p:nvSpPr>
        <p:spPr>
          <a:xfrm>
            <a:off x="685800" y="1783080"/>
            <a:ext cx="4846320" cy="3840480"/>
          </a:xfrm>
          <a:prstGeom prst="rect">
            <a:avLst/>
          </a:prstGeom>
          <a:noFill/>
        </p:spPr>
        <p:txBody>
          <a:bodyPr wrap="square">
            <a:spAutoFit/>
          </a:bodyPr>
          <a:lstStyle/>
          <a:p>
            <a:pPr>
              <a:spcAft>
                <a:spcPts val="700"/>
              </a:spcAft>
            </a:pPr>
            <a:r>
              <a:rPr sz="840">
                <a:solidFill>
                  <a:srgbClr val="177878"/>
                </a:solidFill>
                <a:latin typeface="Calibri"/>
              </a:rPr>
              <a:t>●  </a:t>
            </a:r>
            <a:r>
              <a:rPr sz="1400" b="1">
                <a:solidFill>
                  <a:srgbClr val="0F1B2D"/>
                </a:solidFill>
                <a:latin typeface="Calibri"/>
              </a:rPr>
              <a:t>Sources.</a:t>
            </a:r>
            <a:r>
              <a:rPr sz="1400" b="0">
                <a:solidFill>
                  <a:srgbClr val="0F1B2D"/>
                </a:solidFill>
                <a:latin typeface="Calibri"/>
              </a:rPr>
              <a:t> Each source, who owns it, when it last arrived and whether it is late.</a:t>
            </a:r>
          </a:p>
          <a:p>
            <a:pPr>
              <a:spcAft>
                <a:spcPts val="700"/>
              </a:spcAft>
            </a:pPr>
            <a:r>
              <a:rPr sz="840">
                <a:solidFill>
                  <a:srgbClr val="177878"/>
                </a:solidFill>
                <a:latin typeface="Calibri"/>
              </a:rPr>
              <a:t>●  </a:t>
            </a:r>
            <a:r>
              <a:rPr sz="1400" b="1">
                <a:solidFill>
                  <a:srgbClr val="0F1B2D"/>
                </a:solidFill>
                <a:latin typeface="Calibri"/>
              </a:rPr>
              <a:t>Live pipelines.</a:t>
            </a:r>
            <a:r>
              <a:rPr sz="1400" b="0">
                <a:solidFill>
                  <a:srgbClr val="0F1B2D"/>
                </a:solidFill>
                <a:latin typeface="Calibri"/>
              </a:rPr>
              <a:t> Each pipeline that has gone live, and whether its last run was healthy.</a:t>
            </a:r>
          </a:p>
          <a:p>
            <a:pPr>
              <a:spcAft>
                <a:spcPts val="700"/>
              </a:spcAft>
            </a:pPr>
            <a:r>
              <a:rPr sz="840">
                <a:solidFill>
                  <a:srgbClr val="177878"/>
                </a:solidFill>
                <a:latin typeface="Calibri"/>
              </a:rPr>
              <a:t>●  </a:t>
            </a:r>
            <a:r>
              <a:rPr sz="1400" b="1">
                <a:solidFill>
                  <a:srgbClr val="0F1B2D"/>
                </a:solidFill>
                <a:latin typeface="Calibri"/>
              </a:rPr>
              <a:t>Runs.</a:t>
            </a:r>
            <a:r>
              <a:rPr sz="1400" b="0">
                <a:solidFill>
                  <a:srgbClr val="0F1B2D"/>
                </a:solidFill>
                <a:latin typeface="Calibri"/>
              </a:rPr>
              <a:t> Every run has a run ID, a TEST or PRODUCTION badge and its steps.</a:t>
            </a:r>
          </a:p>
          <a:p>
            <a:pPr>
              <a:spcAft>
                <a:spcPts val="700"/>
              </a:spcAft>
            </a:pPr>
            <a:r>
              <a:rPr sz="840">
                <a:solidFill>
                  <a:srgbClr val="177878"/>
                </a:solidFill>
                <a:latin typeface="Calibri"/>
              </a:rPr>
              <a:t>●  </a:t>
            </a:r>
            <a:r>
              <a:rPr sz="1400" b="1">
                <a:solidFill>
                  <a:srgbClr val="0F1B2D"/>
                </a:solidFill>
                <a:latin typeface="Calibri"/>
              </a:rPr>
              <a:t>Deliveries.</a:t>
            </a:r>
            <a:r>
              <a:rPr sz="1400" b="0">
                <a:solidFill>
                  <a:srgbClr val="0F1B2D"/>
                </a:solidFill>
                <a:latin typeface="Calibri"/>
              </a:rPr>
              <a:t> The email and Slack previews and what is waiting to go out.</a:t>
            </a:r>
          </a:p>
        </p:txBody>
      </p:sp>
      <p:pic>
        <p:nvPicPr>
          <p:cNvPr id="7" name="Picture 6" descr="operations.png"/>
          <p:cNvPicPr>
            <a:picLocks noChangeAspect="1"/>
          </p:cNvPicPr>
          <p:nvPr/>
        </p:nvPicPr>
        <p:blipFill>
          <a:blip r:embed="rId3"/>
          <a:stretch>
            <a:fillRect/>
          </a:stretch>
        </p:blipFill>
        <p:spPr>
          <a:xfrm>
            <a:off x="5897880" y="1783080"/>
            <a:ext cx="5608015" cy="3840480"/>
          </a:xfrm>
          <a:prstGeom prst="rect">
            <a:avLst/>
          </a:prstGeom>
          <a:ln w="12700">
            <a:solidFill>
              <a:srgbClr val="D9DED8"/>
            </a:solidFill>
          </a:ln>
        </p:spPr>
      </p:pic>
      <p:sp>
        <p:nvSpPr>
          <p:cNvPr id="8" name="TextBox 7"/>
          <p:cNvSpPr txBox="1"/>
          <p:nvPr/>
        </p:nvSpPr>
        <p:spPr>
          <a:xfrm>
            <a:off x="5897880" y="5669280"/>
            <a:ext cx="5608015" cy="457200"/>
          </a:xfrm>
          <a:prstGeom prst="rect">
            <a:avLst/>
          </a:prstGeom>
          <a:noFill/>
        </p:spPr>
        <p:txBody>
          <a:bodyPr wrap="square" lIns="45720" rIns="45720" tIns="27432" bIns="27432">
            <a:spAutoFit/>
          </a:bodyPr>
          <a:lstStyle/>
          <a:p>
            <a:r>
              <a:rPr sz="1050" b="0">
                <a:solidFill>
                  <a:srgbClr val="5B6678"/>
                </a:solidFill>
                <a:latin typeface="Calibri"/>
              </a:rPr>
              <a:t>Operations: tiles, then Runs with run IDs and TEST or PRODUCTION badges. Sources, live pipelines and deliveries are on the same page. Synthetic data.</a:t>
            </a:r>
          </a:p>
        </p:txBody>
      </p:sp>
      <p:sp>
        <p:nvSpPr>
          <p:cNvPr id="9" name="TextBox 8"/>
          <p:cNvSpPr txBox="1"/>
          <p:nvPr/>
        </p:nvSpPr>
        <p:spPr>
          <a:xfrm>
            <a:off x="685800" y="5806440"/>
            <a:ext cx="4846320" cy="548640"/>
          </a:xfrm>
          <a:prstGeom prst="rect">
            <a:avLst/>
          </a:prstGeom>
          <a:noFill/>
        </p:spPr>
        <p:txBody>
          <a:bodyPr wrap="square" lIns="45720" rIns="45720" tIns="27432" bIns="27432">
            <a:spAutoFit/>
          </a:bodyPr>
          <a:lstStyle/>
          <a:p>
            <a:r>
              <a:rPr sz="1150" b="0">
                <a:solidFill>
                  <a:srgbClr val="5B6678"/>
                </a:solidFill>
                <a:latin typeface="Calibri"/>
              </a:rPr>
              <a:t>Anything wrong also lands in Action for the person who owns it. Operations sits under Build, next to Projects.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Kicker"/>
          <p:cNvSpPr txBox="1"/>
          <p:nvPr/>
        </p:nvSpPr>
        <p:spPr>
          <a:xfrm>
            <a:off x="685800" y="384048"/>
            <a:ext cx="10789920" cy="274320"/>
          </a:xfrm>
          <a:prstGeom prst="rect">
            <a:avLst/>
          </a:prstGeom>
          <a:noFill/>
        </p:spPr>
        <p:txBody>
          <a:bodyPr wrap="square" lIns="45720" rIns="45720" tIns="27432" bIns="27432">
            <a:spAutoFit/>
          </a:bodyPr>
          <a:lstStyle/>
          <a:p>
            <a:r>
              <a:rPr sz="1100" b="1">
                <a:solidFill>
                  <a:srgbClr val="177878"/>
                </a:solidFill>
                <a:latin typeface="Calibri"/>
              </a:rPr>
              <a:t>LIVE MARKET DATA · CONNECT AN API</a:t>
            </a:r>
          </a:p>
        </p:txBody>
      </p:sp>
      <p:sp>
        <p:nvSpPr>
          <p:cNvPr id="3" name="Title"/>
          <p:cNvSpPr txBox="1"/>
          <p:nvPr/>
        </p:nvSpPr>
        <p:spPr>
          <a:xfrm>
            <a:off x="685800" y="658368"/>
            <a:ext cx="10789920" cy="914400"/>
          </a:xfrm>
          <a:prstGeom prst="rect">
            <a:avLst/>
          </a:prstGeom>
          <a:noFill/>
        </p:spPr>
        <p:txBody>
          <a:bodyPr wrap="square" lIns="45720" rIns="45720" tIns="27432" bIns="27432">
            <a:spAutoFit/>
          </a:bodyPr>
          <a:lstStyle/>
          <a:p>
            <a:r>
              <a:rPr sz="2700" b="1">
                <a:solidFill>
                  <a:srgbClr val="0F1B2D"/>
                </a:solidFill>
                <a:latin typeface="Georgia"/>
              </a:rPr>
              <a:t>Four public sources, Singapore included, on the same controls as the files.</a:t>
            </a:r>
          </a:p>
        </p:txBody>
      </p:sp>
      <p:sp>
        <p:nvSpPr>
          <p:cNvPr id="4" name="Footer"/>
          <p:cNvSpPr txBox="1"/>
          <p:nvPr/>
        </p:nvSpPr>
        <p:spPr>
          <a:xfrm>
            <a:off x="685800" y="6446520"/>
            <a:ext cx="9144000" cy="274320"/>
          </a:xfrm>
          <a:prstGeom prst="rect">
            <a:avLst/>
          </a:prstGeom>
          <a:noFill/>
        </p:spPr>
        <p:txBody>
          <a:bodyPr wrap="square" lIns="45720" rIns="45720" tIns="27432" bIns="27432">
            <a:spAutoFit/>
          </a:bodyPr>
          <a:lstStyle/>
          <a:p>
            <a:r>
              <a:rPr sz="900" b="0">
                <a:solidFill>
                  <a:srgbClr val="5B6678"/>
                </a:solidFill>
                <a:latin typeface="Calibri"/>
              </a:rPr>
              <a:t>Signal Harbor</a:t>
            </a:r>
          </a:p>
        </p:txBody>
      </p:sp>
      <p:sp>
        <p:nvSpPr>
          <p:cNvPr id="5" name="Slide number"/>
          <p:cNvSpPr txBox="1"/>
          <p:nvPr/>
        </p:nvSpPr>
        <p:spPr>
          <a:xfrm>
            <a:off x="10607040" y="6446520"/>
            <a:ext cx="914400" cy="274320"/>
          </a:xfrm>
          <a:prstGeom prst="rect">
            <a:avLst/>
          </a:prstGeom>
          <a:noFill/>
        </p:spPr>
        <p:txBody>
          <a:bodyPr wrap="square" lIns="45720" rIns="45720" tIns="27432" bIns="27432">
            <a:spAutoFit/>
          </a:bodyPr>
          <a:lstStyle/>
          <a:p>
            <a:pPr algn="r"/>
            <a:r>
              <a:rPr sz="900" b="0">
                <a:solidFill>
                  <a:srgbClr val="5B6678"/>
                </a:solidFill>
                <a:latin typeface="Calibri"/>
              </a:rPr>
              <a:t>12 / 20</a:t>
            </a:r>
          </a:p>
        </p:txBody>
      </p:sp>
      <p:graphicFrame>
        <p:nvGraphicFramePr>
          <p:cNvPr id="6" name="Table 5"/>
          <p:cNvGraphicFramePr>
            <a:graphicFrameLocks noGrp="1"/>
          </p:cNvGraphicFramePr>
          <p:nvPr/>
        </p:nvGraphicFramePr>
        <p:xfrm>
          <a:off x="685800" y="1737360"/>
          <a:ext cx="6675120" cy="2542032"/>
        </p:xfrm>
        <a:graphic>
          <a:graphicData uri="http://schemas.openxmlformats.org/drawingml/2006/table">
            <a:tbl>
              <a:tblPr firstRow="1" bandRow="1">
                <a:tableStyleId>{5C22544A-7EE6-4342-B048-85BDC9FD1C3A}</a:tableStyleId>
              </a:tblPr>
              <a:tblGrid>
                <a:gridCol w="1668780"/>
                <a:gridCol w="3560064"/>
                <a:gridCol w="1446276"/>
              </a:tblGrid>
              <a:tr h="347472">
                <a:tc>
                  <a:txBody>
                    <a:bodyPr wrap="square"/>
                    <a:lstStyle/>
                    <a:p>
                      <a:r>
                        <a:rPr sz="1050" b="1">
                          <a:solidFill>
                            <a:srgbClr val="FFFFFF"/>
                          </a:solidFill>
                          <a:latin typeface="Calibri"/>
                        </a:rPr>
                        <a:t>SOURCE</a:t>
                      </a:r>
                    </a:p>
                  </a:txBody>
                  <a:tcPr marL="73152" marR="73152" marT="36576" marB="36576">
                    <a:solidFill>
                      <a:srgbClr val="0F1B2D"/>
                    </a:solidFill>
                  </a:tcPr>
                </a:tc>
                <a:tc>
                  <a:txBody>
                    <a:bodyPr wrap="square"/>
                    <a:lstStyle/>
                    <a:p>
                      <a:r>
                        <a:rPr sz="1050" b="1">
                          <a:solidFill>
                            <a:srgbClr val="FFFFFF"/>
                          </a:solidFill>
                          <a:latin typeface="Calibri"/>
                        </a:rPr>
                        <a:t>WHAT IT GIVES</a:t>
                      </a:r>
                    </a:p>
                  </a:txBody>
                  <a:tcPr marL="73152" marR="73152" marT="36576" marB="36576">
                    <a:solidFill>
                      <a:srgbClr val="0F1B2D"/>
                    </a:solidFill>
                  </a:tcPr>
                </a:tc>
                <a:tc>
                  <a:txBody>
                    <a:bodyPr wrap="square"/>
                    <a:lstStyle/>
                    <a:p>
                      <a:r>
                        <a:rPr sz="1050" b="1">
                          <a:solidFill>
                            <a:srgbClr val="FFFFFF"/>
                          </a:solidFill>
                          <a:latin typeface="Calibri"/>
                        </a:rPr>
                        <a:t>KEY</a:t>
                      </a:r>
                    </a:p>
                  </a:txBody>
                  <a:tcPr marL="73152" marR="73152" marT="36576" marB="36576">
                    <a:solidFill>
                      <a:srgbClr val="0F1B2D"/>
                    </a:solidFill>
                  </a:tcPr>
                </a:tc>
              </a:tr>
              <a:tr h="548640">
                <a:tc>
                  <a:txBody>
                    <a:bodyPr wrap="square"/>
                    <a:lstStyle/>
                    <a:p>
                      <a:r>
                        <a:rPr sz="1200" b="1">
                          <a:solidFill>
                            <a:srgbClr val="0F1B2D"/>
                          </a:solidFill>
                          <a:latin typeface="Calibri"/>
                        </a:rPr>
                        <a:t>Frankfurter</a:t>
                      </a:r>
                      <a:r>
                        <a:rPr sz="1200" b="0">
                          <a:solidFill>
                            <a:srgbClr val="0F1B2D"/>
                          </a:solidFill>
                          <a:latin typeface="Calibri"/>
                        </a:rPr>
                        <a:t> (ECB reference rates)</a:t>
                      </a:r>
                    </a:p>
                  </a:txBody>
                  <a:tcPr marL="73152" marR="73152" marT="36576" marB="36576">
                    <a:solidFill>
                      <a:srgbClr val="FFFFFF"/>
                    </a:solidFill>
                  </a:tcPr>
                </a:tc>
                <a:tc>
                  <a:txBody>
                    <a:bodyPr wrap="square"/>
                    <a:lstStyle/>
                    <a:p>
                      <a:r>
                        <a:rPr sz="1200" b="0">
                          <a:solidFill>
                            <a:srgbClr val="0F1B2D"/>
                          </a:solidFill>
                          <a:latin typeface="Calibri"/>
                        </a:rPr>
                        <a:t>USD/SGD, EUR/USD, EUR/SGD, GBP/USD</a:t>
                      </a:r>
                    </a:p>
                  </a:txBody>
                  <a:tcPr marL="73152" marR="73152" marT="36576" marB="36576">
                    <a:solidFill>
                      <a:srgbClr val="FFFFFF"/>
                    </a:solidFill>
                  </a:tcPr>
                </a:tc>
                <a:tc>
                  <a:txBody>
                    <a:bodyPr wrap="square"/>
                    <a:lstStyle/>
                    <a:p>
                      <a:r>
                        <a:rPr sz="1200" b="0">
                          <a:solidFill>
                            <a:srgbClr val="0F1B2D"/>
                          </a:solidFill>
                          <a:latin typeface="Calibri"/>
                        </a:rPr>
                        <a:t>None</a:t>
                      </a:r>
                    </a:p>
                  </a:txBody>
                  <a:tcPr marL="73152" marR="73152" marT="36576" marB="36576">
                    <a:solidFill>
                      <a:srgbClr val="FFFFFF"/>
                    </a:solidFill>
                  </a:tcPr>
                </a:tc>
              </a:tr>
              <a:tr h="548640">
                <a:tc>
                  <a:txBody>
                    <a:bodyPr wrap="square"/>
                    <a:lstStyle/>
                    <a:p>
                      <a:r>
                        <a:rPr sz="1200" b="1">
                          <a:solidFill>
                            <a:srgbClr val="0F1B2D"/>
                          </a:solidFill>
                          <a:latin typeface="Calibri"/>
                        </a:rPr>
                        <a:t>FRED</a:t>
                      </a:r>
                      <a:r>
                        <a:rPr sz="1200" b="0">
                          <a:solidFill>
                            <a:srgbClr val="0F1B2D"/>
                          </a:solidFill>
                          <a:latin typeface="Calibri"/>
                        </a:rPr>
                        <a:t> (US Federal Reserve data)</a:t>
                      </a:r>
                    </a:p>
                  </a:txBody>
                  <a:tcPr marL="73152" marR="73152" marT="36576" marB="36576">
                    <a:solidFill>
                      <a:srgbClr val="FAF9F6"/>
                    </a:solidFill>
                  </a:tcPr>
                </a:tc>
                <a:tc>
                  <a:txBody>
                    <a:bodyPr wrap="square"/>
                    <a:lstStyle/>
                    <a:p>
                      <a:r>
                        <a:rPr sz="1200" b="0">
                          <a:solidFill>
                            <a:srgbClr val="0F1B2D"/>
                          </a:solidFill>
                          <a:latin typeface="Calibri"/>
                        </a:rPr>
                        <a:t>US 10- and 2-year Treasury yields, SGD per USD, Singapore CPI inflation</a:t>
                      </a:r>
                    </a:p>
                  </a:txBody>
                  <a:tcPr marL="73152" marR="73152" marT="36576" marB="36576">
                    <a:solidFill>
                      <a:srgbClr val="FAF9F6"/>
                    </a:solidFill>
                  </a:tcPr>
                </a:tc>
                <a:tc>
                  <a:txBody>
                    <a:bodyPr wrap="square"/>
                    <a:lstStyle/>
                    <a:p>
                      <a:r>
                        <a:rPr sz="1200" b="0">
                          <a:solidFill>
                            <a:srgbClr val="0F1B2D"/>
                          </a:solidFill>
                          <a:latin typeface="Calibri"/>
                        </a:rPr>
                        <a:t>Free key</a:t>
                      </a:r>
                    </a:p>
                  </a:txBody>
                  <a:tcPr marL="73152" marR="73152" marT="36576" marB="36576">
                    <a:solidFill>
                      <a:srgbClr val="FAF9F6"/>
                    </a:solidFill>
                  </a:tcPr>
                </a:tc>
              </a:tr>
              <a:tr h="548640">
                <a:tc>
                  <a:txBody>
                    <a:bodyPr wrap="square"/>
                    <a:lstStyle/>
                    <a:p>
                      <a:r>
                        <a:rPr sz="1200" b="1">
                          <a:solidFill>
                            <a:srgbClr val="0F1B2D"/>
                          </a:solidFill>
                          <a:latin typeface="Calibri"/>
                        </a:rPr>
                        <a:t>Finnhub</a:t>
                      </a:r>
                    </a:p>
                  </a:txBody>
                  <a:tcPr marL="73152" marR="73152" marT="36576" marB="36576">
                    <a:solidFill>
                      <a:srgbClr val="FFFFFF"/>
                    </a:solidFill>
                  </a:tcPr>
                </a:tc>
                <a:tc>
                  <a:txBody>
                    <a:bodyPr wrap="square"/>
                    <a:lstStyle/>
                    <a:p>
                      <a:r>
                        <a:rPr sz="1200" b="0">
                          <a:solidFill>
                            <a:srgbClr val="0F1B2D"/>
                          </a:solidFill>
                          <a:latin typeface="Calibri"/>
                        </a:rPr>
                        <a:t>ETF quotes (ACWI, AGG, EWS) and market news</a:t>
                      </a:r>
                    </a:p>
                  </a:txBody>
                  <a:tcPr marL="73152" marR="73152" marT="36576" marB="36576">
                    <a:solidFill>
                      <a:srgbClr val="FFFFFF"/>
                    </a:solidFill>
                  </a:tcPr>
                </a:tc>
                <a:tc>
                  <a:txBody>
                    <a:bodyPr wrap="square"/>
                    <a:lstStyle/>
                    <a:p>
                      <a:r>
                        <a:rPr sz="1200" b="0">
                          <a:solidFill>
                            <a:srgbClr val="0F1B2D"/>
                          </a:solidFill>
                          <a:latin typeface="Calibri"/>
                        </a:rPr>
                        <a:t>Free key, sent in a header</a:t>
                      </a:r>
                    </a:p>
                  </a:txBody>
                  <a:tcPr marL="73152" marR="73152" marT="36576" marB="36576">
                    <a:solidFill>
                      <a:srgbClr val="FFFFFF"/>
                    </a:solidFill>
                  </a:tcPr>
                </a:tc>
              </a:tr>
              <a:tr h="548640">
                <a:tc>
                  <a:txBody>
                    <a:bodyPr wrap="square"/>
                    <a:lstStyle/>
                    <a:p>
                      <a:r>
                        <a:rPr sz="1200" b="1">
                          <a:solidFill>
                            <a:srgbClr val="0F1B2D"/>
                          </a:solidFill>
                          <a:latin typeface="Calibri"/>
                        </a:rPr>
                        <a:t>MAS</a:t>
                      </a:r>
                      <a:r>
                        <a:rPr sz="1200" b="0">
                          <a:solidFill>
                            <a:srgbClr val="0F1B2D"/>
                          </a:solidFill>
                          <a:latin typeface="Calibri"/>
                        </a:rPr>
                        <a:t> (Monetary Authority of Singapore)</a:t>
                      </a:r>
                    </a:p>
                  </a:txBody>
                  <a:tcPr marL="73152" marR="73152" marT="36576" marB="36576">
                    <a:solidFill>
                      <a:srgbClr val="FAF9F6"/>
                    </a:solidFill>
                  </a:tcPr>
                </a:tc>
                <a:tc>
                  <a:txBody>
                    <a:bodyPr wrap="square"/>
                    <a:lstStyle/>
                    <a:p>
                      <a:r>
                        <a:rPr sz="1200" b="0">
                          <a:solidFill>
                            <a:srgbClr val="0F1B2D"/>
                          </a:solidFill>
                          <a:latin typeface="Calibri"/>
                        </a:rPr>
                        <a:t>Singapore Government Securities auction yields, 2 to 30 years</a:t>
                      </a:r>
                    </a:p>
                  </a:txBody>
                  <a:tcPr marL="73152" marR="73152" marT="36576" marB="36576">
                    <a:solidFill>
                      <a:srgbClr val="FAF9F6"/>
                    </a:solidFill>
                  </a:tcPr>
                </a:tc>
                <a:tc>
                  <a:txBody>
                    <a:bodyPr wrap="square"/>
                    <a:lstStyle/>
                    <a:p>
                      <a:r>
                        <a:rPr sz="1200" b="0">
                          <a:solidFill>
                            <a:srgbClr val="0F1B2D"/>
                          </a:solidFill>
                          <a:latin typeface="Calibri"/>
                        </a:rPr>
                        <a:t>None</a:t>
                      </a:r>
                    </a:p>
                  </a:txBody>
                  <a:tcPr marL="73152" marR="73152" marT="36576" marB="36576">
                    <a:solidFill>
                      <a:srgbClr val="FAF9F6"/>
                    </a:solidFill>
                  </a:tcPr>
                </a:tc>
              </a:tr>
            </a:tbl>
          </a:graphicData>
        </a:graphic>
      </p:graphicFrame>
      <p:sp>
        <p:nvSpPr>
          <p:cNvPr id="7" name="TextBox 6"/>
          <p:cNvSpPr txBox="1"/>
          <p:nvPr/>
        </p:nvSpPr>
        <p:spPr>
          <a:xfrm>
            <a:off x="685800" y="4754880"/>
            <a:ext cx="6675120" cy="1097280"/>
          </a:xfrm>
          <a:prstGeom prst="rect">
            <a:avLst/>
          </a:prstGeom>
          <a:noFill/>
        </p:spPr>
        <p:txBody>
          <a:bodyPr wrap="square" lIns="45720" rIns="45720" tIns="27432" bIns="27432">
            <a:spAutoFit/>
          </a:bodyPr>
          <a:lstStyle/>
          <a:p>
            <a:r>
              <a:rPr sz="1150" b="0">
                <a:solidFill>
                  <a:srgbClr val="5B6678"/>
                </a:solidFill>
                <a:latin typeface="Calibri"/>
              </a:rPr>
              <a:t>SGS yields are the yield at the last auction of each tenor, not a daily curve. EWS stands in for the licensed Straits Times Index. SORA is not connected yet: it needs a MAS API key registration.</a:t>
            </a:r>
          </a:p>
        </p:txBody>
      </p:sp>
      <p:sp>
        <p:nvSpPr>
          <p:cNvPr id="8" name="Rounded Rectangle 7"/>
          <p:cNvSpPr/>
          <p:nvPr/>
        </p:nvSpPr>
        <p:spPr>
          <a:xfrm>
            <a:off x="7680960" y="1737360"/>
            <a:ext cx="3840480" cy="420624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20" y="1828800"/>
            <a:ext cx="3566160" cy="365760"/>
          </a:xfrm>
          <a:prstGeom prst="rect">
            <a:avLst/>
          </a:prstGeom>
          <a:noFill/>
        </p:spPr>
        <p:txBody>
          <a:bodyPr wrap="square" lIns="45720" rIns="45720" tIns="27432" bIns="27432">
            <a:spAutoFit/>
          </a:bodyPr>
          <a:lstStyle/>
          <a:p>
            <a:r>
              <a:rPr sz="1600" b="1">
                <a:solidFill>
                  <a:srgbClr val="177878"/>
                </a:solidFill>
                <a:latin typeface="Georgia"/>
              </a:rPr>
              <a:t>How a connection works</a:t>
            </a:r>
          </a:p>
        </p:txBody>
      </p:sp>
      <p:sp>
        <p:nvSpPr>
          <p:cNvPr id="10" name="Bullets"/>
          <p:cNvSpPr txBox="1"/>
          <p:nvPr/>
        </p:nvSpPr>
        <p:spPr>
          <a:xfrm>
            <a:off x="7790688" y="2240280"/>
            <a:ext cx="3566160" cy="3657600"/>
          </a:xfrm>
          <a:prstGeom prst="rect">
            <a:avLst/>
          </a:prstGeom>
          <a:noFill/>
        </p:spPr>
        <p:txBody>
          <a:bodyPr wrap="square">
            <a:spAutoFit/>
          </a:bodyPr>
          <a:lstStyle/>
          <a:p>
            <a:pPr>
              <a:spcAft>
                <a:spcPts val="400"/>
              </a:spcAft>
            </a:pPr>
            <a:r>
              <a:rPr sz="750">
                <a:solidFill>
                  <a:srgbClr val="177878"/>
                </a:solidFill>
                <a:latin typeface="Calibri"/>
              </a:rPr>
              <a:t>●  </a:t>
            </a:r>
            <a:r>
              <a:rPr sz="1250" b="0">
                <a:solidFill>
                  <a:srgbClr val="0F1B2D"/>
                </a:solidFill>
                <a:latin typeface="Calibri"/>
              </a:rPr>
              <a:t>Choose the source and series, then </a:t>
            </a:r>
            <a:r>
              <a:rPr sz="1250" b="1">
                <a:solidFill>
                  <a:srgbClr val="0F1B2D"/>
                </a:solidFill>
                <a:latin typeface="Calibri"/>
              </a:rPr>
              <a:t>Test</a:t>
            </a:r>
            <a:r>
              <a:rPr sz="1250" b="0">
                <a:solidFill>
                  <a:srgbClr val="0F1B2D"/>
                </a:solidFill>
                <a:latin typeface="Calibri"/>
              </a:rPr>
              <a:t>: you see real rows and the time it took.</a:t>
            </a:r>
          </a:p>
          <a:p>
            <a:pPr>
              <a:spcAft>
                <a:spcPts val="400"/>
              </a:spcAft>
            </a:pPr>
            <a:r>
              <a:rPr sz="750">
                <a:solidFill>
                  <a:srgbClr val="177878"/>
                </a:solidFill>
                <a:latin typeface="Calibri"/>
              </a:rPr>
              <a:t>●  </a:t>
            </a:r>
            <a:r>
              <a:rPr sz="1250" b="0">
                <a:solidFill>
                  <a:srgbClr val="0F1B2D"/>
                </a:solidFill>
                <a:latin typeface="Calibri"/>
              </a:rPr>
              <a:t>Save, and the daily pull runs. </a:t>
            </a:r>
            <a:r>
              <a:rPr sz="1250" b="1">
                <a:solidFill>
                  <a:srgbClr val="0F1B2D"/>
                </a:solidFill>
                <a:latin typeface="Calibri"/>
              </a:rPr>
              <a:t>Fetch now</a:t>
            </a:r>
            <a:r>
              <a:rPr sz="1250" b="0">
                <a:solidFill>
                  <a:srgbClr val="0F1B2D"/>
                </a:solidFill>
                <a:latin typeface="Calibri"/>
              </a:rPr>
              <a:t> is on the Connectors page.</a:t>
            </a:r>
          </a:p>
          <a:p>
            <a:pPr>
              <a:spcAft>
                <a:spcPts val="400"/>
              </a:spcAft>
            </a:pPr>
            <a:r>
              <a:rPr sz="750">
                <a:solidFill>
                  <a:srgbClr val="177878"/>
                </a:solidFill>
                <a:latin typeface="Calibri"/>
              </a:rPr>
              <a:t>●  </a:t>
            </a:r>
            <a:r>
              <a:rPr sz="1250" b="0">
                <a:solidFill>
                  <a:srgbClr val="0F1B2D"/>
                </a:solidFill>
                <a:latin typeface="Calibri"/>
              </a:rPr>
              <a:t>The host is fixed on an allowlist. Every call goes through the egress gateway.</a:t>
            </a:r>
          </a:p>
          <a:p>
            <a:pPr>
              <a:spcAft>
                <a:spcPts val="400"/>
              </a:spcAft>
            </a:pPr>
            <a:r>
              <a:rPr sz="750">
                <a:solidFill>
                  <a:srgbClr val="177878"/>
                </a:solidFill>
                <a:latin typeface="Calibri"/>
              </a:rPr>
              <a:t>●  </a:t>
            </a:r>
            <a:r>
              <a:rPr sz="1250" b="0">
                <a:solidFill>
                  <a:srgbClr val="0F1B2D"/>
                </a:solidFill>
                <a:latin typeface="Calibri"/>
              </a:rPr>
              <a:t>Keys are read from the environment, never shown on screen or in the address.</a:t>
            </a:r>
          </a:p>
          <a:p>
            <a:pPr>
              <a:spcAft>
                <a:spcPts val="400"/>
              </a:spcAft>
            </a:pPr>
            <a:r>
              <a:rPr sz="750">
                <a:solidFill>
                  <a:srgbClr val="177878"/>
                </a:solidFill>
                <a:latin typeface="Calibri"/>
              </a:rPr>
              <a:t>●  </a:t>
            </a:r>
            <a:r>
              <a:rPr sz="1250" b="0">
                <a:solidFill>
                  <a:srgbClr val="0F1B2D"/>
                </a:solidFill>
                <a:latin typeface="Calibri"/>
              </a:rPr>
              <a:t>Each series is tagged </a:t>
            </a:r>
            <a:r>
              <a:rPr sz="1250" b="1">
                <a:solidFill>
                  <a:srgbClr val="0F1B2D"/>
                </a:solidFill>
                <a:latin typeface="Calibri"/>
              </a:rPr>
              <a:t>LIVE API</a:t>
            </a:r>
            <a:r>
              <a:rPr sz="1250" b="0">
                <a:solidFill>
                  <a:srgbClr val="0F1B2D"/>
                </a:solidFill>
                <a:latin typeface="Calibri"/>
              </a:rPr>
              <a:t> with its source and date on Consume.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Kicker"/>
          <p:cNvSpPr txBox="1"/>
          <p:nvPr/>
        </p:nvSpPr>
        <p:spPr>
          <a:xfrm>
            <a:off x="685800" y="384048"/>
            <a:ext cx="10789920" cy="274320"/>
          </a:xfrm>
          <a:prstGeom prst="rect">
            <a:avLst/>
          </a:prstGeom>
          <a:noFill/>
        </p:spPr>
        <p:txBody>
          <a:bodyPr wrap="square" lIns="45720" rIns="45720" tIns="27432" bIns="27432">
            <a:spAutoFit/>
          </a:bodyPr>
          <a:lstStyle/>
          <a:p>
            <a:r>
              <a:rPr sz="1100" b="1">
                <a:solidFill>
                  <a:srgbClr val="177878"/>
                </a:solidFill>
                <a:latin typeface="Calibri"/>
              </a:rPr>
              <a:t>GOVERNANCE · LINEAGE AND RUN IDS</a:t>
            </a:r>
          </a:p>
        </p:txBody>
      </p:sp>
      <p:sp>
        <p:nvSpPr>
          <p:cNvPr id="3" name="Title"/>
          <p:cNvSpPr txBox="1"/>
          <p:nvPr/>
        </p:nvSpPr>
        <p:spPr>
          <a:xfrm>
            <a:off x="685800" y="658368"/>
            <a:ext cx="10789920" cy="914400"/>
          </a:xfrm>
          <a:prstGeom prst="rect">
            <a:avLst/>
          </a:prstGeom>
          <a:noFill/>
        </p:spPr>
        <p:txBody>
          <a:bodyPr wrap="square" lIns="45720" rIns="45720" tIns="27432" bIns="27432">
            <a:spAutoFit/>
          </a:bodyPr>
          <a:lstStyle/>
          <a:p>
            <a:r>
              <a:rPr sz="2700" b="1">
                <a:solidFill>
                  <a:srgbClr val="0F1B2D"/>
                </a:solidFill>
                <a:latin typeface="Georgia"/>
              </a:rPr>
              <a:t>Every run has an ID, and every gold figure walks back to its file.</a:t>
            </a:r>
          </a:p>
        </p:txBody>
      </p:sp>
      <p:sp>
        <p:nvSpPr>
          <p:cNvPr id="4" name="Footer"/>
          <p:cNvSpPr txBox="1"/>
          <p:nvPr/>
        </p:nvSpPr>
        <p:spPr>
          <a:xfrm>
            <a:off x="685800" y="6446520"/>
            <a:ext cx="9144000" cy="274320"/>
          </a:xfrm>
          <a:prstGeom prst="rect">
            <a:avLst/>
          </a:prstGeom>
          <a:noFill/>
        </p:spPr>
        <p:txBody>
          <a:bodyPr wrap="square" lIns="45720" rIns="45720" tIns="27432" bIns="27432">
            <a:spAutoFit/>
          </a:bodyPr>
          <a:lstStyle/>
          <a:p>
            <a:r>
              <a:rPr sz="900" b="0">
                <a:solidFill>
                  <a:srgbClr val="5B6678"/>
                </a:solidFill>
                <a:latin typeface="Calibri"/>
              </a:rPr>
              <a:t>Runs are listed in Operations (data team)</a:t>
            </a:r>
          </a:p>
        </p:txBody>
      </p:sp>
      <p:sp>
        <p:nvSpPr>
          <p:cNvPr id="5" name="Slide number"/>
          <p:cNvSpPr txBox="1"/>
          <p:nvPr/>
        </p:nvSpPr>
        <p:spPr>
          <a:xfrm>
            <a:off x="10607040" y="6446520"/>
            <a:ext cx="914400" cy="274320"/>
          </a:xfrm>
          <a:prstGeom prst="rect">
            <a:avLst/>
          </a:prstGeom>
          <a:noFill/>
        </p:spPr>
        <p:txBody>
          <a:bodyPr wrap="square" lIns="45720" rIns="45720" tIns="27432" bIns="27432">
            <a:spAutoFit/>
          </a:bodyPr>
          <a:lstStyle/>
          <a:p>
            <a:pPr algn="r"/>
            <a:r>
              <a:rPr sz="900" b="0">
                <a:solidFill>
                  <a:srgbClr val="5B6678"/>
                </a:solidFill>
                <a:latin typeface="Calibri"/>
              </a:rPr>
              <a:t>13 / 20</a:t>
            </a:r>
          </a:p>
        </p:txBody>
      </p:sp>
      <p:sp>
        <p:nvSpPr>
          <p:cNvPr id="6" name="Rounded Rectangle 5"/>
          <p:cNvSpPr/>
          <p:nvPr/>
        </p:nvSpPr>
        <p:spPr>
          <a:xfrm>
            <a:off x="685800" y="1691640"/>
            <a:ext cx="1944014" cy="100584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37360"/>
            <a:ext cx="1852574" cy="320040"/>
          </a:xfrm>
          <a:prstGeom prst="rect">
            <a:avLst/>
          </a:prstGeom>
          <a:noFill/>
        </p:spPr>
        <p:txBody>
          <a:bodyPr wrap="square" lIns="45720" rIns="45720" tIns="27432" bIns="27432">
            <a:spAutoFit/>
          </a:bodyPr>
          <a:lstStyle/>
          <a:p>
            <a:r>
              <a:rPr sz="1400" b="1">
                <a:solidFill>
                  <a:srgbClr val="177878"/>
                </a:solidFill>
                <a:latin typeface="Georgia"/>
              </a:rPr>
              <a:t>Source file</a:t>
            </a:r>
          </a:p>
        </p:txBody>
      </p:sp>
      <p:sp>
        <p:nvSpPr>
          <p:cNvPr id="8" name="TextBox 7"/>
          <p:cNvSpPr txBox="1"/>
          <p:nvPr/>
        </p:nvSpPr>
        <p:spPr>
          <a:xfrm>
            <a:off x="731520" y="2057400"/>
            <a:ext cx="1852574" cy="640080"/>
          </a:xfrm>
          <a:prstGeom prst="rect">
            <a:avLst/>
          </a:prstGeom>
          <a:noFill/>
        </p:spPr>
        <p:txBody>
          <a:bodyPr wrap="square" lIns="45720" rIns="45720" tIns="27432" bIns="27432">
            <a:spAutoFit/>
          </a:bodyPr>
          <a:lstStyle/>
          <a:p>
            <a:r>
              <a:rPr sz="1150" b="0">
                <a:solidFill>
                  <a:srgbClr val="0F1B2D"/>
                </a:solidFill>
                <a:latin typeface="Calibri"/>
              </a:rPr>
              <a:t>From a named source and owner</a:t>
            </a:r>
          </a:p>
        </p:txBody>
      </p:sp>
      <p:sp>
        <p:nvSpPr>
          <p:cNvPr id="9" name="TextBox 8"/>
          <p:cNvSpPr txBox="1"/>
          <p:nvPr/>
        </p:nvSpPr>
        <p:spPr>
          <a:xfrm>
            <a:off x="2629814" y="2011680"/>
            <a:ext cx="274320" cy="365760"/>
          </a:xfrm>
          <a:prstGeom prst="rect">
            <a:avLst/>
          </a:prstGeom>
          <a:noFill/>
        </p:spPr>
        <p:txBody>
          <a:bodyPr wrap="square" lIns="45720" rIns="45720" tIns="27432" bIns="27432">
            <a:spAutoFit/>
          </a:bodyPr>
          <a:lstStyle/>
          <a:p>
            <a:pPr algn="ctr"/>
            <a:r>
              <a:rPr sz="1800" b="0">
                <a:solidFill>
                  <a:srgbClr val="177878"/>
                </a:solidFill>
                <a:latin typeface="Calibri"/>
              </a:rPr>
              <a:t>→</a:t>
            </a:r>
          </a:p>
        </p:txBody>
      </p:sp>
      <p:sp>
        <p:nvSpPr>
          <p:cNvPr id="10" name="Rounded Rectangle 9"/>
          <p:cNvSpPr/>
          <p:nvPr/>
        </p:nvSpPr>
        <p:spPr>
          <a:xfrm>
            <a:off x="2904134" y="1691640"/>
            <a:ext cx="1944014" cy="100584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49854" y="1737360"/>
            <a:ext cx="1852574" cy="320040"/>
          </a:xfrm>
          <a:prstGeom prst="rect">
            <a:avLst/>
          </a:prstGeom>
          <a:noFill/>
        </p:spPr>
        <p:txBody>
          <a:bodyPr wrap="square" lIns="45720" rIns="45720" tIns="27432" bIns="27432">
            <a:spAutoFit/>
          </a:bodyPr>
          <a:lstStyle/>
          <a:p>
            <a:r>
              <a:rPr sz="1400" b="1">
                <a:solidFill>
                  <a:srgbClr val="177878"/>
                </a:solidFill>
                <a:latin typeface="Georgia"/>
              </a:rPr>
              <a:t>File batch</a:t>
            </a:r>
          </a:p>
        </p:txBody>
      </p:sp>
      <p:sp>
        <p:nvSpPr>
          <p:cNvPr id="12" name="TextBox 11"/>
          <p:cNvSpPr txBox="1"/>
          <p:nvPr/>
        </p:nvSpPr>
        <p:spPr>
          <a:xfrm>
            <a:off x="2949854" y="2057400"/>
            <a:ext cx="1852574" cy="640080"/>
          </a:xfrm>
          <a:prstGeom prst="rect">
            <a:avLst/>
          </a:prstGeom>
          <a:noFill/>
        </p:spPr>
        <p:txBody>
          <a:bodyPr wrap="square" lIns="45720" rIns="45720" tIns="27432" bIns="27432">
            <a:spAutoFit/>
          </a:bodyPr>
          <a:lstStyle/>
          <a:p>
            <a:r>
              <a:rPr sz="1150" b="0">
                <a:solidFill>
                  <a:srgbClr val="0F1B2D"/>
                </a:solidFill>
                <a:latin typeface="Calibri"/>
              </a:rPr>
              <a:t>One batch ID, with control totals</a:t>
            </a:r>
          </a:p>
        </p:txBody>
      </p:sp>
      <p:sp>
        <p:nvSpPr>
          <p:cNvPr id="13" name="TextBox 12"/>
          <p:cNvSpPr txBox="1"/>
          <p:nvPr/>
        </p:nvSpPr>
        <p:spPr>
          <a:xfrm>
            <a:off x="4848148" y="2011680"/>
            <a:ext cx="274320" cy="365760"/>
          </a:xfrm>
          <a:prstGeom prst="rect">
            <a:avLst/>
          </a:prstGeom>
          <a:noFill/>
        </p:spPr>
        <p:txBody>
          <a:bodyPr wrap="square" lIns="45720" rIns="45720" tIns="27432" bIns="27432">
            <a:spAutoFit/>
          </a:bodyPr>
          <a:lstStyle/>
          <a:p>
            <a:pPr algn="ctr"/>
            <a:r>
              <a:rPr sz="1800" b="0">
                <a:solidFill>
                  <a:srgbClr val="177878"/>
                </a:solidFill>
                <a:latin typeface="Calibri"/>
              </a:rPr>
              <a:t>→</a:t>
            </a:r>
          </a:p>
        </p:txBody>
      </p:sp>
      <p:sp>
        <p:nvSpPr>
          <p:cNvPr id="14" name="Rounded Rectangle 13"/>
          <p:cNvSpPr/>
          <p:nvPr/>
        </p:nvSpPr>
        <p:spPr>
          <a:xfrm>
            <a:off x="5122468" y="1691640"/>
            <a:ext cx="1944014" cy="100584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68188" y="1737360"/>
            <a:ext cx="1852574" cy="320040"/>
          </a:xfrm>
          <a:prstGeom prst="rect">
            <a:avLst/>
          </a:prstGeom>
          <a:noFill/>
        </p:spPr>
        <p:txBody>
          <a:bodyPr wrap="square" lIns="45720" rIns="45720" tIns="27432" bIns="27432">
            <a:spAutoFit/>
          </a:bodyPr>
          <a:lstStyle/>
          <a:p>
            <a:r>
              <a:rPr sz="1400" b="1">
                <a:solidFill>
                  <a:srgbClr val="177878"/>
                </a:solidFill>
                <a:latin typeface="Georgia"/>
              </a:rPr>
              <a:t>Record</a:t>
            </a:r>
          </a:p>
        </p:txBody>
      </p:sp>
      <p:sp>
        <p:nvSpPr>
          <p:cNvPr id="16" name="TextBox 15"/>
          <p:cNvSpPr txBox="1"/>
          <p:nvPr/>
        </p:nvSpPr>
        <p:spPr>
          <a:xfrm>
            <a:off x="5168188" y="2057400"/>
            <a:ext cx="1852574" cy="640080"/>
          </a:xfrm>
          <a:prstGeom prst="rect">
            <a:avLst/>
          </a:prstGeom>
          <a:noFill/>
        </p:spPr>
        <p:txBody>
          <a:bodyPr wrap="square" lIns="45720" rIns="45720" tIns="27432" bIns="27432">
            <a:spAutoFit/>
          </a:bodyPr>
          <a:lstStyle/>
          <a:p>
            <a:r>
              <a:rPr sz="1150" b="0">
                <a:solidFill>
                  <a:srgbClr val="0F1B2D"/>
                </a:solidFill>
                <a:latin typeface="Calibri"/>
              </a:rPr>
              <a:t>Each row kept with its batch</a:t>
            </a:r>
          </a:p>
        </p:txBody>
      </p:sp>
      <p:sp>
        <p:nvSpPr>
          <p:cNvPr id="17" name="TextBox 16"/>
          <p:cNvSpPr txBox="1"/>
          <p:nvPr/>
        </p:nvSpPr>
        <p:spPr>
          <a:xfrm>
            <a:off x="7066483" y="2011680"/>
            <a:ext cx="274320" cy="365760"/>
          </a:xfrm>
          <a:prstGeom prst="rect">
            <a:avLst/>
          </a:prstGeom>
          <a:noFill/>
        </p:spPr>
        <p:txBody>
          <a:bodyPr wrap="square" lIns="45720" rIns="45720" tIns="27432" bIns="27432">
            <a:spAutoFit/>
          </a:bodyPr>
          <a:lstStyle/>
          <a:p>
            <a:pPr algn="ctr"/>
            <a:r>
              <a:rPr sz="1800" b="0">
                <a:solidFill>
                  <a:srgbClr val="177878"/>
                </a:solidFill>
                <a:latin typeface="Calibri"/>
              </a:rPr>
              <a:t>→</a:t>
            </a:r>
          </a:p>
        </p:txBody>
      </p:sp>
      <p:sp>
        <p:nvSpPr>
          <p:cNvPr id="18" name="Rounded Rectangle 17"/>
          <p:cNvSpPr/>
          <p:nvPr/>
        </p:nvSpPr>
        <p:spPr>
          <a:xfrm>
            <a:off x="7340803" y="1691640"/>
            <a:ext cx="1944014" cy="100584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86523" y="1737360"/>
            <a:ext cx="1852574" cy="320040"/>
          </a:xfrm>
          <a:prstGeom prst="rect">
            <a:avLst/>
          </a:prstGeom>
          <a:noFill/>
        </p:spPr>
        <p:txBody>
          <a:bodyPr wrap="square" lIns="45720" rIns="45720" tIns="27432" bIns="27432">
            <a:spAutoFit/>
          </a:bodyPr>
          <a:lstStyle/>
          <a:p>
            <a:r>
              <a:rPr sz="1400" b="1">
                <a:solidFill>
                  <a:srgbClr val="177878"/>
                </a:solidFill>
                <a:latin typeface="Georgia"/>
              </a:rPr>
              <a:t>Bronze</a:t>
            </a:r>
          </a:p>
        </p:txBody>
      </p:sp>
      <p:sp>
        <p:nvSpPr>
          <p:cNvPr id="20" name="TextBox 19"/>
          <p:cNvSpPr txBox="1"/>
          <p:nvPr/>
        </p:nvSpPr>
        <p:spPr>
          <a:xfrm>
            <a:off x="7386523" y="2057400"/>
            <a:ext cx="1852574" cy="640080"/>
          </a:xfrm>
          <a:prstGeom prst="rect">
            <a:avLst/>
          </a:prstGeom>
          <a:noFill/>
        </p:spPr>
        <p:txBody>
          <a:bodyPr wrap="square" lIns="45720" rIns="45720" tIns="27432" bIns="27432">
            <a:spAutoFit/>
          </a:bodyPr>
          <a:lstStyle/>
          <a:p>
            <a:r>
              <a:rPr sz="1150" b="0">
                <a:solidFill>
                  <a:srgbClr val="0F1B2D"/>
                </a:solidFill>
                <a:latin typeface="Calibri"/>
              </a:rPr>
              <a:t>As received, with its load ID</a:t>
            </a:r>
          </a:p>
        </p:txBody>
      </p:sp>
      <p:sp>
        <p:nvSpPr>
          <p:cNvPr id="21" name="TextBox 20"/>
          <p:cNvSpPr txBox="1"/>
          <p:nvPr/>
        </p:nvSpPr>
        <p:spPr>
          <a:xfrm>
            <a:off x="9284817" y="2011680"/>
            <a:ext cx="274320" cy="365760"/>
          </a:xfrm>
          <a:prstGeom prst="rect">
            <a:avLst/>
          </a:prstGeom>
          <a:noFill/>
        </p:spPr>
        <p:txBody>
          <a:bodyPr wrap="square" lIns="45720" rIns="45720" tIns="27432" bIns="27432">
            <a:spAutoFit/>
          </a:bodyPr>
          <a:lstStyle/>
          <a:p>
            <a:pPr algn="ctr"/>
            <a:r>
              <a:rPr sz="1800" b="0">
                <a:solidFill>
                  <a:srgbClr val="177878"/>
                </a:solidFill>
                <a:latin typeface="Calibri"/>
              </a:rPr>
              <a:t>→</a:t>
            </a:r>
          </a:p>
        </p:txBody>
      </p:sp>
      <p:sp>
        <p:nvSpPr>
          <p:cNvPr id="22" name="Rounded Rectangle 21"/>
          <p:cNvSpPr/>
          <p:nvPr/>
        </p:nvSpPr>
        <p:spPr>
          <a:xfrm>
            <a:off x="9559137" y="1691640"/>
            <a:ext cx="1944014" cy="1005840"/>
          </a:xfrm>
          <a:prstGeom prst="roundRect">
            <a:avLst>
              <a:gd name="adj" fmla="val 6000"/>
            </a:avLst>
          </a:prstGeom>
          <a:solidFill>
            <a:srgbClr val="FFF8EA"/>
          </a:solidFill>
          <a:ln w="12700">
            <a:solidFill>
              <a:srgbClr val="E0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4857" y="1737360"/>
            <a:ext cx="1852574" cy="320040"/>
          </a:xfrm>
          <a:prstGeom prst="rect">
            <a:avLst/>
          </a:prstGeom>
          <a:noFill/>
        </p:spPr>
        <p:txBody>
          <a:bodyPr wrap="square" lIns="45720" rIns="45720" tIns="27432" bIns="27432">
            <a:spAutoFit/>
          </a:bodyPr>
          <a:lstStyle/>
          <a:p>
            <a:r>
              <a:rPr sz="1400" b="1">
                <a:solidFill>
                  <a:srgbClr val="177878"/>
                </a:solidFill>
                <a:latin typeface="Georgia"/>
              </a:rPr>
              <a:t>Gold</a:t>
            </a:r>
          </a:p>
        </p:txBody>
      </p:sp>
      <p:sp>
        <p:nvSpPr>
          <p:cNvPr id="24" name="TextBox 23"/>
          <p:cNvSpPr txBox="1"/>
          <p:nvPr/>
        </p:nvSpPr>
        <p:spPr>
          <a:xfrm>
            <a:off x="9604857" y="2057400"/>
            <a:ext cx="1852574" cy="640080"/>
          </a:xfrm>
          <a:prstGeom prst="rect">
            <a:avLst/>
          </a:prstGeom>
          <a:noFill/>
        </p:spPr>
        <p:txBody>
          <a:bodyPr wrap="square" lIns="45720" rIns="45720" tIns="27432" bIns="27432">
            <a:spAutoFit/>
          </a:bodyPr>
          <a:lstStyle/>
          <a:p>
            <a:r>
              <a:rPr sz="1150" b="0">
                <a:solidFill>
                  <a:srgbClr val="0F1B2D"/>
                </a:solidFill>
                <a:latin typeface="Calibri"/>
              </a:rPr>
              <a:t>Each table carries the run ID that built it</a:t>
            </a:r>
          </a:p>
        </p:txBody>
      </p:sp>
      <p:sp>
        <p:nvSpPr>
          <p:cNvPr id="25" name="Rounded Rectangle 24"/>
          <p:cNvSpPr/>
          <p:nvPr/>
        </p:nvSpPr>
        <p:spPr>
          <a:xfrm>
            <a:off x="685800" y="3063240"/>
            <a:ext cx="5394960" cy="283464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 y="3063240"/>
            <a:ext cx="64008" cy="2834640"/>
          </a:xfrm>
          <a:prstGeom prst="rect">
            <a:avLst/>
          </a:prstGeom>
          <a:solidFill>
            <a:srgbClr val="17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3154680"/>
            <a:ext cx="5120640" cy="365760"/>
          </a:xfrm>
          <a:prstGeom prst="rect">
            <a:avLst/>
          </a:prstGeom>
          <a:noFill/>
        </p:spPr>
        <p:txBody>
          <a:bodyPr wrap="square" lIns="45720" rIns="45720" tIns="27432" bIns="27432">
            <a:spAutoFit/>
          </a:bodyPr>
          <a:lstStyle/>
          <a:p>
            <a:r>
              <a:rPr sz="1600" b="1">
                <a:solidFill>
                  <a:srgbClr val="177878"/>
                </a:solidFill>
                <a:latin typeface="Georgia"/>
              </a:rPr>
              <a:t>A run ID on every run</a:t>
            </a:r>
          </a:p>
        </p:txBody>
      </p:sp>
      <p:sp>
        <p:nvSpPr>
          <p:cNvPr id="28" name="Bullets"/>
          <p:cNvSpPr txBox="1"/>
          <p:nvPr/>
        </p:nvSpPr>
        <p:spPr>
          <a:xfrm>
            <a:off x="795528" y="3566160"/>
            <a:ext cx="5120640" cy="2286000"/>
          </a:xfrm>
          <a:prstGeom prst="rect">
            <a:avLst/>
          </a:prstGeom>
          <a:noFill/>
        </p:spPr>
        <p:txBody>
          <a:bodyPr wrap="square">
            <a:spAutoFit/>
          </a:bodyPr>
          <a:lstStyle/>
          <a:p>
            <a:pPr>
              <a:spcAft>
                <a:spcPts val="400"/>
              </a:spcAft>
            </a:pPr>
            <a:r>
              <a:rPr sz="780">
                <a:solidFill>
                  <a:srgbClr val="177878"/>
                </a:solidFill>
                <a:latin typeface="Calibri"/>
              </a:rPr>
              <a:t>●  </a:t>
            </a:r>
            <a:r>
              <a:rPr sz="1300" b="0">
                <a:solidFill>
                  <a:srgbClr val="0F1B2D"/>
                </a:solidFill>
                <a:latin typeface="Calibri"/>
              </a:rPr>
              <a:t>An ID like run-20261012-131500-ab12, with who started it and what triggered it: manual, schedule, file arrived or connector.</a:t>
            </a:r>
          </a:p>
          <a:p>
            <a:pPr>
              <a:spcAft>
                <a:spcPts val="400"/>
              </a:spcAft>
            </a:pPr>
            <a:r>
              <a:rPr sz="780">
                <a:solidFill>
                  <a:srgbClr val="177878"/>
                </a:solidFill>
                <a:latin typeface="Calibri"/>
              </a:rPr>
              <a:t>●  </a:t>
            </a:r>
            <a:r>
              <a:rPr sz="1300" b="1">
                <a:solidFill>
                  <a:srgbClr val="0F1B2D"/>
                </a:solidFill>
                <a:latin typeface="Calibri"/>
              </a:rPr>
              <a:t>TEST</a:t>
            </a:r>
            <a:r>
              <a:rPr sz="1300" b="0">
                <a:solidFill>
                  <a:srgbClr val="0F1B2D"/>
                </a:solidFill>
                <a:latin typeface="Calibri"/>
              </a:rPr>
              <a:t> runs are on a copy. </a:t>
            </a:r>
            <a:r>
              <a:rPr sz="1300" b="1">
                <a:solidFill>
                  <a:srgbClr val="0F1B2D"/>
                </a:solidFill>
                <a:latin typeface="Calibri"/>
              </a:rPr>
              <a:t>PRODUCTION</a:t>
            </a:r>
            <a:r>
              <a:rPr sz="1300" b="0">
                <a:solidFill>
                  <a:srgbClr val="0F1B2D"/>
                </a:solidFill>
                <a:latin typeface="Calibri"/>
              </a:rPr>
              <a:t> runs are live.</a:t>
            </a:r>
          </a:p>
          <a:p>
            <a:pPr>
              <a:spcAft>
                <a:spcPts val="400"/>
              </a:spcAft>
            </a:pPr>
            <a:r>
              <a:rPr sz="780">
                <a:solidFill>
                  <a:srgbClr val="177878"/>
                </a:solidFill>
                <a:latin typeface="Calibri"/>
              </a:rPr>
              <a:t>●  </a:t>
            </a:r>
            <a:r>
              <a:rPr sz="1300" b="0">
                <a:solidFill>
                  <a:srgbClr val="0F1B2D"/>
                </a:solidFill>
                <a:latin typeface="Calibri"/>
              </a:rPr>
              <a:t>Covers pipeline runs, file loads, connector pulls and reconciliations, each with its steps.</a:t>
            </a:r>
          </a:p>
        </p:txBody>
      </p:sp>
      <p:sp>
        <p:nvSpPr>
          <p:cNvPr id="29" name="Rounded Rectangle 28"/>
          <p:cNvSpPr/>
          <p:nvPr/>
        </p:nvSpPr>
        <p:spPr>
          <a:xfrm>
            <a:off x="6309360" y="3063240"/>
            <a:ext cx="5212080" cy="150876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46520" y="3154680"/>
            <a:ext cx="4937760" cy="365760"/>
          </a:xfrm>
          <a:prstGeom prst="rect">
            <a:avLst/>
          </a:prstGeom>
          <a:noFill/>
        </p:spPr>
        <p:txBody>
          <a:bodyPr wrap="square" lIns="45720" rIns="45720" tIns="27432" bIns="27432">
            <a:spAutoFit/>
          </a:bodyPr>
          <a:lstStyle/>
          <a:p>
            <a:r>
              <a:rPr sz="1600" b="1">
                <a:solidFill>
                  <a:srgbClr val="177878"/>
                </a:solidFill>
                <a:latin typeface="Georgia"/>
              </a:rPr>
              <a:t>What governance can answer</a:t>
            </a:r>
          </a:p>
        </p:txBody>
      </p:sp>
      <p:sp>
        <p:nvSpPr>
          <p:cNvPr id="31" name="Bullets"/>
          <p:cNvSpPr txBox="1"/>
          <p:nvPr/>
        </p:nvSpPr>
        <p:spPr>
          <a:xfrm>
            <a:off x="6419088" y="3566160"/>
            <a:ext cx="4937760" cy="960119"/>
          </a:xfrm>
          <a:prstGeom prst="rect">
            <a:avLst/>
          </a:prstGeom>
          <a:noFill/>
        </p:spPr>
        <p:txBody>
          <a:bodyPr wrap="square">
            <a:spAutoFit/>
          </a:bodyPr>
          <a:lstStyle/>
          <a:p>
            <a:pPr>
              <a:spcAft>
                <a:spcPts val="400"/>
              </a:spcAft>
            </a:pPr>
            <a:r>
              <a:rPr sz="750">
                <a:solidFill>
                  <a:srgbClr val="177878"/>
                </a:solidFill>
                <a:latin typeface="Calibri"/>
              </a:rPr>
              <a:t>●  </a:t>
            </a:r>
            <a:r>
              <a:rPr sz="1250" b="0">
                <a:solidFill>
                  <a:srgbClr val="0F1B2D"/>
                </a:solidFill>
                <a:latin typeface="Calibri"/>
              </a:rPr>
              <a:t>Which run built this figure, and when?</a:t>
            </a:r>
          </a:p>
          <a:p>
            <a:pPr>
              <a:spcAft>
                <a:spcPts val="400"/>
              </a:spcAft>
            </a:pPr>
            <a:r>
              <a:rPr sz="750">
                <a:solidFill>
                  <a:srgbClr val="177878"/>
                </a:solidFill>
                <a:latin typeface="Calibri"/>
              </a:rPr>
              <a:t>●  </a:t>
            </a:r>
            <a:r>
              <a:rPr sz="1250" b="0">
                <a:solidFill>
                  <a:srgbClr val="0F1B2D"/>
                </a:solidFill>
                <a:latin typeface="Calibri"/>
              </a:rPr>
              <a:t>Which file and batch did it come from?</a:t>
            </a:r>
          </a:p>
          <a:p>
            <a:pPr>
              <a:spcAft>
                <a:spcPts val="400"/>
              </a:spcAft>
            </a:pPr>
            <a:r>
              <a:rPr sz="750">
                <a:solidFill>
                  <a:srgbClr val="177878"/>
                </a:solidFill>
                <a:latin typeface="Calibri"/>
              </a:rPr>
              <a:t>●  </a:t>
            </a:r>
            <a:r>
              <a:rPr sz="1250" b="0">
                <a:solidFill>
                  <a:srgbClr val="0F1B2D"/>
                </a:solidFill>
                <a:latin typeface="Calibri"/>
              </a:rPr>
              <a:t>Who started the run, and was it a test?</a:t>
            </a:r>
          </a:p>
        </p:txBody>
      </p:sp>
      <p:sp>
        <p:nvSpPr>
          <p:cNvPr id="32" name="Rectangle 31"/>
          <p:cNvSpPr/>
          <p:nvPr/>
        </p:nvSpPr>
        <p:spPr>
          <a:xfrm>
            <a:off x="6309360" y="4754880"/>
            <a:ext cx="5212080" cy="1143000"/>
          </a:xfrm>
          <a:prstGeom prst="rect">
            <a:avLst/>
          </a:prstGeom>
          <a:solidFill>
            <a:srgbClr val="FBE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309360" y="4754880"/>
            <a:ext cx="64008" cy="1143000"/>
          </a:xfrm>
          <a:prstGeom prst="rect">
            <a:avLst/>
          </a:prstGeom>
          <a:solidFill>
            <a:srgbClr val="E0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4800600"/>
            <a:ext cx="4983480" cy="1051560"/>
          </a:xfrm>
          <a:prstGeom prst="rect">
            <a:avLst/>
          </a:prstGeom>
          <a:noFill/>
        </p:spPr>
        <p:txBody>
          <a:bodyPr wrap="square" lIns="45720" rIns="45720" tIns="27432" bIns="27432" anchor="ctr">
            <a:spAutoFit/>
          </a:bodyPr>
          <a:lstStyle/>
          <a:p>
            <a:r>
              <a:rPr sz="1200" b="0">
                <a:solidFill>
                  <a:srgbClr val="0F1B2D"/>
                </a:solidFill>
                <a:latin typeface="Calibri"/>
              </a:rPr>
              <a:t>The run ID is on gold tables today. The bronze load ID on the market-data loader, and the run ID on the silver tables, are still being joined up.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Kicker"/>
          <p:cNvSpPr txBox="1"/>
          <p:nvPr/>
        </p:nvSpPr>
        <p:spPr>
          <a:xfrm>
            <a:off x="685800" y="384048"/>
            <a:ext cx="10789920" cy="274320"/>
          </a:xfrm>
          <a:prstGeom prst="rect">
            <a:avLst/>
          </a:prstGeom>
          <a:noFill/>
        </p:spPr>
        <p:txBody>
          <a:bodyPr wrap="square" lIns="45720" rIns="45720" tIns="27432" bIns="27432">
            <a:spAutoFit/>
          </a:bodyPr>
          <a:lstStyle/>
          <a:p>
            <a:r>
              <a:rPr sz="1100" b="1">
                <a:solidFill>
                  <a:srgbClr val="177878"/>
                </a:solidFill>
                <a:latin typeface="Calibri"/>
              </a:rPr>
              <a:t>PEOPLE AND ACCESS</a:t>
            </a:r>
          </a:p>
        </p:txBody>
      </p:sp>
      <p:sp>
        <p:nvSpPr>
          <p:cNvPr id="3" name="Title"/>
          <p:cNvSpPr txBox="1"/>
          <p:nvPr/>
        </p:nvSpPr>
        <p:spPr>
          <a:xfrm>
            <a:off x="685800" y="658368"/>
            <a:ext cx="10789920" cy="914400"/>
          </a:xfrm>
          <a:prstGeom prst="rect">
            <a:avLst/>
          </a:prstGeom>
          <a:noFill/>
        </p:spPr>
        <p:txBody>
          <a:bodyPr wrap="square" lIns="45720" rIns="45720" tIns="27432" bIns="27432">
            <a:spAutoFit/>
          </a:bodyPr>
          <a:lstStyle/>
          <a:p>
            <a:r>
              <a:rPr sz="2700" b="1">
                <a:solidFill>
                  <a:srgbClr val="0F1B2D"/>
                </a:solidFill>
                <a:latin typeface="Georgia"/>
              </a:rPr>
              <a:t>Each person sees what their role needs. The maker never approves their own work.</a:t>
            </a:r>
          </a:p>
        </p:txBody>
      </p:sp>
      <p:sp>
        <p:nvSpPr>
          <p:cNvPr id="4" name="Footer"/>
          <p:cNvSpPr txBox="1"/>
          <p:nvPr/>
        </p:nvSpPr>
        <p:spPr>
          <a:xfrm>
            <a:off x="685800" y="6446520"/>
            <a:ext cx="9144000" cy="274320"/>
          </a:xfrm>
          <a:prstGeom prst="rect">
            <a:avLst/>
          </a:prstGeom>
          <a:noFill/>
        </p:spPr>
        <p:txBody>
          <a:bodyPr wrap="square" lIns="45720" rIns="45720" tIns="27432" bIns="27432">
            <a:spAutoFit/>
          </a:bodyPr>
          <a:lstStyle/>
          <a:p>
            <a:r>
              <a:rPr sz="900" b="0">
                <a:solidFill>
                  <a:srgbClr val="5B6678"/>
                </a:solidFill>
                <a:latin typeface="Calibri"/>
              </a:rPr>
              <a:t>Evergreen Office is synthetic. Access is set per office at rollout.</a:t>
            </a:r>
          </a:p>
        </p:txBody>
      </p:sp>
      <p:sp>
        <p:nvSpPr>
          <p:cNvPr id="5" name="Slide number"/>
          <p:cNvSpPr txBox="1"/>
          <p:nvPr/>
        </p:nvSpPr>
        <p:spPr>
          <a:xfrm>
            <a:off x="10607040" y="6446520"/>
            <a:ext cx="914400" cy="274320"/>
          </a:xfrm>
          <a:prstGeom prst="rect">
            <a:avLst/>
          </a:prstGeom>
          <a:noFill/>
        </p:spPr>
        <p:txBody>
          <a:bodyPr wrap="square" lIns="45720" rIns="45720" tIns="27432" bIns="27432">
            <a:spAutoFit/>
          </a:bodyPr>
          <a:lstStyle/>
          <a:p>
            <a:pPr algn="r"/>
            <a:r>
              <a:rPr sz="900" b="0">
                <a:solidFill>
                  <a:srgbClr val="5B6678"/>
                </a:solidFill>
                <a:latin typeface="Calibri"/>
              </a:rPr>
              <a:t>14 / 20</a:t>
            </a:r>
          </a:p>
        </p:txBody>
      </p:sp>
      <p:graphicFrame>
        <p:nvGraphicFramePr>
          <p:cNvPr id="6" name="Table 5"/>
          <p:cNvGraphicFramePr>
            <a:graphicFrameLocks noGrp="1"/>
          </p:cNvGraphicFramePr>
          <p:nvPr/>
        </p:nvGraphicFramePr>
        <p:xfrm>
          <a:off x="685800" y="1737360"/>
          <a:ext cx="10817351" cy="3529584"/>
        </p:xfrm>
        <a:graphic>
          <a:graphicData uri="http://schemas.openxmlformats.org/drawingml/2006/table">
            <a:tbl>
              <a:tblPr firstRow="1" bandRow="1">
                <a:tableStyleId>{5C22544A-7EE6-4342-B048-85BDC9FD1C3A}</a:tableStyleId>
              </a:tblPr>
              <a:tblGrid>
                <a:gridCol w="2106033"/>
                <a:gridCol w="4594981"/>
                <a:gridCol w="4116337"/>
              </a:tblGrid>
              <a:tr h="347472">
                <a:tc>
                  <a:txBody>
                    <a:bodyPr wrap="square"/>
                    <a:lstStyle/>
                    <a:p>
                      <a:r>
                        <a:rPr sz="1050" b="1">
                          <a:solidFill>
                            <a:srgbClr val="FFFFFF"/>
                          </a:solidFill>
                          <a:latin typeface="Calibri"/>
                        </a:rPr>
                        <a:t>ROLE (IN THE DEMO)</a:t>
                      </a:r>
                    </a:p>
                  </a:txBody>
                  <a:tcPr marL="73152" marR="73152" marT="36576" marB="36576">
                    <a:solidFill>
                      <a:srgbClr val="0F1B2D"/>
                    </a:solidFill>
                  </a:tcPr>
                </a:tc>
                <a:tc>
                  <a:txBody>
                    <a:bodyPr wrap="square"/>
                    <a:lstStyle/>
                    <a:p>
                      <a:r>
                        <a:rPr sz="1050" b="1">
                          <a:solidFill>
                            <a:srgbClr val="FFFFFF"/>
                          </a:solidFill>
                          <a:latin typeface="Calibri"/>
                        </a:rPr>
                        <a:t>WHAT THEY SEE AND DO</a:t>
                      </a:r>
                    </a:p>
                  </a:txBody>
                  <a:tcPr marL="73152" marR="73152" marT="36576" marB="36576">
                    <a:solidFill>
                      <a:srgbClr val="0F1B2D"/>
                    </a:solidFill>
                  </a:tcPr>
                </a:tc>
                <a:tc>
                  <a:txBody>
                    <a:bodyPr wrap="square"/>
                    <a:lstStyle/>
                    <a:p>
                      <a:r>
                        <a:rPr sz="1050" b="1">
                          <a:solidFill>
                            <a:srgbClr val="FFFFFF"/>
                          </a:solidFill>
                          <a:latin typeface="Calibri"/>
                        </a:rPr>
                        <a:t>WHAT THEY SIGN OR APPROVE</a:t>
                      </a:r>
                    </a:p>
                  </a:txBody>
                  <a:tcPr marL="73152" marR="73152" marT="36576" marB="36576">
                    <a:solidFill>
                      <a:srgbClr val="0F1B2D"/>
                    </a:solidFill>
                  </a:tcPr>
                </a:tc>
              </a:tr>
              <a:tr h="530352">
                <a:tc>
                  <a:txBody>
                    <a:bodyPr wrap="square"/>
                    <a:lstStyle/>
                    <a:p>
                      <a:r>
                        <a:rPr sz="1250" b="1">
                          <a:solidFill>
                            <a:srgbClr val="0F1B2D"/>
                          </a:solidFill>
                          <a:latin typeface="Calibri"/>
                        </a:rPr>
                        <a:t>Sponsor</a:t>
                      </a:r>
                      <a:r>
                        <a:rPr sz="1250" b="0">
                          <a:solidFill>
                            <a:srgbClr val="0F1B2D"/>
                          </a:solidFill>
                          <a:latin typeface="Calibri"/>
                        </a:rPr>
                        <a:t> · Daniel Foo, CIO</a:t>
                      </a:r>
                    </a:p>
                  </a:txBody>
                  <a:tcPr marL="73152" marR="73152" marT="36576" marB="36576">
                    <a:solidFill>
                      <a:srgbClr val="FFFFFF"/>
                    </a:solidFill>
                  </a:tcPr>
                </a:tc>
                <a:tc>
                  <a:txBody>
                    <a:bodyPr wrap="square"/>
                    <a:lstStyle/>
                    <a:p>
                      <a:r>
                        <a:rPr sz="1250" b="0">
                          <a:solidFill>
                            <a:srgbClr val="0F1B2D"/>
                          </a:solidFill>
                          <a:latin typeface="Calibri"/>
                        </a:rPr>
                        <a:t>Action, Build (their own intent), Consume, Map (read only). Decides what the office needs.</a:t>
                      </a:r>
                    </a:p>
                  </a:txBody>
                  <a:tcPr marL="73152" marR="73152" marT="36576" marB="36576">
                    <a:solidFill>
                      <a:srgbClr val="FFFFFF"/>
                    </a:solidFill>
                  </a:tcPr>
                </a:tc>
                <a:tc>
                  <a:txBody>
                    <a:bodyPr wrap="square"/>
                    <a:lstStyle/>
                    <a:p>
                      <a:r>
                        <a:rPr sz="1250" b="0">
                          <a:solidFill>
                            <a:srgbClr val="0F1B2D"/>
                          </a:solidFill>
                          <a:latin typeface="Calibri"/>
                        </a:rPr>
                        <a:t>Signs the intent. Approves the dashboard and each delivery channel.</a:t>
                      </a:r>
                    </a:p>
                  </a:txBody>
                  <a:tcPr marL="73152" marR="73152" marT="36576" marB="36576">
                    <a:solidFill>
                      <a:srgbClr val="FFFFFF"/>
                    </a:solidFill>
                  </a:tcPr>
                </a:tc>
              </a:tr>
              <a:tr h="530352">
                <a:tc>
                  <a:txBody>
                    <a:bodyPr wrap="square"/>
                    <a:lstStyle/>
                    <a:p>
                      <a:r>
                        <a:rPr sz="1250" b="1">
                          <a:solidFill>
                            <a:srgbClr val="0F1B2D"/>
                          </a:solidFill>
                          <a:latin typeface="Calibri"/>
                        </a:rPr>
                        <a:t>Business owner</a:t>
                      </a:r>
                      <a:r>
                        <a:rPr sz="1250" b="0">
                          <a:solidFill>
                            <a:srgbClr val="0F1B2D"/>
                          </a:solidFill>
                          <a:latin typeface="Calibri"/>
                        </a:rPr>
                        <a:t> · Mei Chen, Operations</a:t>
                      </a:r>
                    </a:p>
                  </a:txBody>
                  <a:tcPr marL="73152" marR="73152" marT="36576" marB="36576">
                    <a:solidFill>
                      <a:srgbClr val="FAF9F6"/>
                    </a:solidFill>
                  </a:tcPr>
                </a:tc>
                <a:tc>
                  <a:txBody>
                    <a:bodyPr wrap="square"/>
                    <a:lstStyle/>
                    <a:p>
                      <a:r>
                        <a:rPr sz="1250" b="0">
                          <a:solidFill>
                            <a:srgbClr val="0F1B2D"/>
                          </a:solidFill>
                          <a:latin typeface="Calibri"/>
                        </a:rPr>
                        <a:t>Talks to North, reads Consume and Map, acts on her Action items. Not the data team.</a:t>
                      </a:r>
                    </a:p>
                  </a:txBody>
                  <a:tcPr marL="73152" marR="73152" marT="36576" marB="36576">
                    <a:solidFill>
                      <a:srgbClr val="FAF9F6"/>
                    </a:solidFill>
                  </a:tcPr>
                </a:tc>
                <a:tc>
                  <a:txBody>
                    <a:bodyPr wrap="square"/>
                    <a:lstStyle/>
                    <a:p>
                      <a:r>
                        <a:rPr sz="1250" b="0">
                          <a:solidFill>
                            <a:srgbClr val="0F1B2D"/>
                          </a:solidFill>
                          <a:latin typeface="Calibri"/>
                        </a:rPr>
                        <a:t>Sends work for approval. Never approves her own.</a:t>
                      </a:r>
                    </a:p>
                  </a:txBody>
                  <a:tcPr marL="73152" marR="73152" marT="36576" marB="36576">
                    <a:solidFill>
                      <a:srgbClr val="FAF9F6"/>
                    </a:solidFill>
                  </a:tcPr>
                </a:tc>
              </a:tr>
              <a:tr h="530352">
                <a:tc>
                  <a:txBody>
                    <a:bodyPr wrap="square"/>
                    <a:lstStyle/>
                    <a:p>
                      <a:r>
                        <a:rPr sz="1250" b="1">
                          <a:solidFill>
                            <a:srgbClr val="0F1B2D"/>
                          </a:solidFill>
                          <a:latin typeface="Calibri"/>
                        </a:rPr>
                        <a:t>Approver</a:t>
                      </a:r>
                      <a:r>
                        <a:rPr sz="1250" b="0">
                          <a:solidFill>
                            <a:srgbClr val="0F1B2D"/>
                          </a:solidFill>
                          <a:latin typeface="Calibri"/>
                        </a:rPr>
                        <a:t> · Raj Patel, Finance</a:t>
                      </a:r>
                    </a:p>
                  </a:txBody>
                  <a:tcPr marL="73152" marR="73152" marT="36576" marB="36576">
                    <a:solidFill>
                      <a:srgbClr val="FFFFFF"/>
                    </a:solidFill>
                  </a:tcPr>
                </a:tc>
                <a:tc>
                  <a:txBody>
                    <a:bodyPr wrap="square"/>
                    <a:lstStyle/>
                    <a:p>
                      <a:r>
                        <a:rPr sz="1250" b="0">
                          <a:solidFill>
                            <a:srgbClr val="0F1B2D"/>
                          </a:solidFill>
                          <a:latin typeface="Calibri"/>
                        </a:rPr>
                        <a:t>Action, Consume, Map. Clears cases and confirms figures.</a:t>
                      </a:r>
                    </a:p>
                  </a:txBody>
                  <a:tcPr marL="73152" marR="73152" marT="36576" marB="36576">
                    <a:solidFill>
                      <a:srgbClr val="FFFFFF"/>
                    </a:solidFill>
                  </a:tcPr>
                </a:tc>
                <a:tc>
                  <a:txBody>
                    <a:bodyPr wrap="square"/>
                    <a:lstStyle/>
                    <a:p>
                      <a:r>
                        <a:rPr sz="1250" b="0">
                          <a:solidFill>
                            <a:srgbClr val="0F1B2D"/>
                          </a:solidFill>
                          <a:latin typeface="Calibri"/>
                        </a:rPr>
                        <a:t>Approves what is sent to him, never his own work.</a:t>
                      </a:r>
                    </a:p>
                  </a:txBody>
                  <a:tcPr marL="73152" marR="73152" marT="36576" marB="36576">
                    <a:solidFill>
                      <a:srgbClr val="FFFFFF"/>
                    </a:solidFill>
                  </a:tcPr>
                </a:tc>
              </a:tr>
              <a:tr h="530352">
                <a:tc>
                  <a:txBody>
                    <a:bodyPr wrap="square"/>
                    <a:lstStyle/>
                    <a:p>
                      <a:r>
                        <a:rPr sz="1250" b="1">
                          <a:solidFill>
                            <a:srgbClr val="0F1B2D"/>
                          </a:solidFill>
                          <a:latin typeface="Calibri"/>
                        </a:rPr>
                        <a:t>Head of data</a:t>
                      </a:r>
                      <a:r>
                        <a:rPr sz="1250" b="0">
                          <a:solidFill>
                            <a:srgbClr val="0F1B2D"/>
                          </a:solidFill>
                          <a:latin typeface="Calibri"/>
                        </a:rPr>
                        <a:t> · Anita Rao</a:t>
                      </a:r>
                    </a:p>
                  </a:txBody>
                  <a:tcPr marL="73152" marR="73152" marT="36576" marB="36576">
                    <a:solidFill>
                      <a:srgbClr val="FAF9F6"/>
                    </a:solidFill>
                  </a:tcPr>
                </a:tc>
                <a:tc>
                  <a:txBody>
                    <a:bodyPr wrap="square"/>
                    <a:lstStyle/>
                    <a:p>
                      <a:r>
                        <a:rPr sz="1250" b="0">
                          <a:solidFill>
                            <a:srgbClr val="0F1B2D"/>
                          </a:solidFill>
                          <a:latin typeface="Calibri"/>
                        </a:rPr>
                        <a:t>Owns the data design and the data approvals in Action.</a:t>
                      </a:r>
                    </a:p>
                  </a:txBody>
                  <a:tcPr marL="73152" marR="73152" marT="36576" marB="36576">
                    <a:solidFill>
                      <a:srgbClr val="FAF9F6"/>
                    </a:solidFill>
                  </a:tcPr>
                </a:tc>
                <a:tc>
                  <a:txBody>
                    <a:bodyPr wrap="square"/>
                    <a:lstStyle/>
                    <a:p>
                      <a:r>
                        <a:rPr sz="1250" b="0">
                          <a:solidFill>
                            <a:srgbClr val="0F1B2D"/>
                          </a:solidFill>
                          <a:latin typeface="Calibri"/>
                        </a:rPr>
                        <a:t>Approves the design pack, the build plan, verified Map items and model changes.</a:t>
                      </a:r>
                    </a:p>
                  </a:txBody>
                  <a:tcPr marL="73152" marR="73152" marT="36576" marB="36576">
                    <a:solidFill>
                      <a:srgbClr val="FAF9F6"/>
                    </a:solidFill>
                  </a:tcPr>
                </a:tc>
              </a:tr>
              <a:tr h="530352">
                <a:tc>
                  <a:txBody>
                    <a:bodyPr wrap="square"/>
                    <a:lstStyle/>
                    <a:p>
                      <a:r>
                        <a:rPr sz="1250" b="1">
                          <a:solidFill>
                            <a:srgbClr val="0F1B2D"/>
                          </a:solidFill>
                          <a:latin typeface="Calibri"/>
                        </a:rPr>
                        <a:t>Data engineer</a:t>
                      </a:r>
                      <a:r>
                        <a:rPr sz="1250" b="0">
                          <a:solidFill>
                            <a:srgbClr val="0F1B2D"/>
                          </a:solidFill>
                          <a:latin typeface="Calibri"/>
                        </a:rPr>
                        <a:t> · Leo Park</a:t>
                      </a:r>
                    </a:p>
                  </a:txBody>
                  <a:tcPr marL="73152" marR="73152" marT="36576" marB="36576">
                    <a:solidFill>
                      <a:srgbClr val="FFFFFF"/>
                    </a:solidFill>
                  </a:tcPr>
                </a:tc>
                <a:tc>
                  <a:txBody>
                    <a:bodyPr wrap="square"/>
                    <a:lstStyle/>
                    <a:p>
                      <a:r>
                        <a:rPr sz="1250" b="0">
                          <a:solidFill>
                            <a:srgbClr val="0F1B2D"/>
                          </a:solidFill>
                          <a:latin typeface="Calibri"/>
                        </a:rPr>
                        <a:t>Operations, Pipelines and Connect an API. Confirms sources and takes the pipeline live.</a:t>
                      </a:r>
                    </a:p>
                  </a:txBody>
                  <a:tcPr marL="73152" marR="73152" marT="36576" marB="36576">
                    <a:solidFill>
                      <a:srgbClr val="FFFFFF"/>
                    </a:solidFill>
                  </a:tcPr>
                </a:tc>
                <a:tc>
                  <a:txBody>
                    <a:bodyPr wrap="square"/>
                    <a:lstStyle/>
                    <a:p>
                      <a:r>
                        <a:rPr sz="1250" b="0">
                          <a:solidFill>
                            <a:srgbClr val="0F1B2D"/>
                          </a:solidFill>
                          <a:latin typeface="Calibri"/>
                        </a:rPr>
                        <a:t>Confirms the sources. Presses Go live.</a:t>
                      </a:r>
                    </a:p>
                  </a:txBody>
                  <a:tcPr marL="73152" marR="73152" marT="36576" marB="36576">
                    <a:solidFill>
                      <a:srgbClr val="FFFFFF"/>
                    </a:solidFill>
                  </a:tcPr>
                </a:tc>
              </a:tr>
              <a:tr h="530352">
                <a:tc>
                  <a:txBody>
                    <a:bodyPr wrap="square"/>
                    <a:lstStyle/>
                    <a:p>
                      <a:r>
                        <a:rPr sz="1250" b="1">
                          <a:solidFill>
                            <a:srgbClr val="0F1B2D"/>
                          </a:solidFill>
                          <a:latin typeface="Calibri"/>
                        </a:rPr>
                        <a:t>Administrator</a:t>
                      </a:r>
                      <a:r>
                        <a:rPr sz="1250" b="0">
                          <a:solidFill>
                            <a:srgbClr val="0F1B2D"/>
                          </a:solidFill>
                          <a:latin typeface="Calibri"/>
                        </a:rPr>
                        <a:t> · Grace Ong</a:t>
                      </a:r>
                    </a:p>
                  </a:txBody>
                  <a:tcPr marL="73152" marR="73152" marT="36576" marB="36576">
                    <a:solidFill>
                      <a:srgbClr val="FAF9F6"/>
                    </a:solidFill>
                  </a:tcPr>
                </a:tc>
                <a:tc>
                  <a:txBody>
                    <a:bodyPr wrap="square"/>
                    <a:lstStyle/>
                    <a:p>
                      <a:r>
                        <a:rPr sz="1250" b="0">
                          <a:solidFill>
                            <a:srgbClr val="0F1B2D"/>
                          </a:solidFill>
                          <a:latin typeface="Calibri"/>
                        </a:rPr>
                        <a:t>Access and every setting.</a:t>
                      </a:r>
                    </a:p>
                  </a:txBody>
                  <a:tcPr marL="73152" marR="73152" marT="36576" marB="36576">
                    <a:solidFill>
                      <a:srgbClr val="FAF9F6"/>
                    </a:solidFill>
                  </a:tcPr>
                </a:tc>
                <a:tc>
                  <a:txBody>
                    <a:bodyPr wrap="square"/>
                    <a:lstStyle/>
                    <a:p>
                      <a:r>
                        <a:rPr sz="1250" b="0">
                          <a:solidFill>
                            <a:srgbClr val="0F1B2D"/>
                          </a:solidFill>
                          <a:latin typeface="Calibri"/>
                        </a:rPr>
                        <a:t>Gives people access to each centre.</a:t>
                      </a:r>
                    </a:p>
                  </a:txBody>
                  <a:tcPr marL="73152" marR="73152" marT="36576" marB="36576">
                    <a:solidFill>
                      <a:srgbClr val="FAF9F6"/>
                    </a:solidFill>
                  </a:tcPr>
                </a:tc>
              </a:tr>
            </a:tbl>
          </a:graphicData>
        </a:graphic>
      </p:graphicFrame>
      <p:sp>
        <p:nvSpPr>
          <p:cNvPr id="7" name="TextBox 6"/>
          <p:cNvSpPr txBox="1"/>
          <p:nvPr/>
        </p:nvSpPr>
        <p:spPr>
          <a:xfrm>
            <a:off x="685800" y="5623560"/>
            <a:ext cx="10817352" cy="640080"/>
          </a:xfrm>
          <a:prstGeom prst="rect">
            <a:avLst/>
          </a:prstGeom>
          <a:noFill/>
        </p:spPr>
        <p:txBody>
          <a:bodyPr wrap="square" lIns="45720" rIns="45720" tIns="27432" bIns="27432">
            <a:spAutoFit/>
          </a:bodyPr>
          <a:lstStyle/>
          <a:p>
            <a:r>
              <a:rPr sz="1200" b="0">
                <a:solidFill>
                  <a:srgbClr val="5B6678"/>
                </a:solidFill>
                <a:latin typeface="Calibri"/>
              </a:rPr>
              <a:t>Settings follow the role: three items for the sponsor and the business owner, seven for the head of data, eight for the data engineer, sixteen for the administrator. Operations and the full data model are for the data team; everyone else sees the gold tables of their own projects.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Kicker"/>
          <p:cNvSpPr txBox="1"/>
          <p:nvPr/>
        </p:nvSpPr>
        <p:spPr>
          <a:xfrm>
            <a:off x="685800" y="384048"/>
            <a:ext cx="10789920" cy="274320"/>
          </a:xfrm>
          <a:prstGeom prst="rect">
            <a:avLst/>
          </a:prstGeom>
          <a:noFill/>
        </p:spPr>
        <p:txBody>
          <a:bodyPr wrap="square" lIns="45720" rIns="45720" tIns="27432" bIns="27432">
            <a:spAutoFit/>
          </a:bodyPr>
          <a:lstStyle/>
          <a:p>
            <a:r>
              <a:rPr sz="1100" b="1">
                <a:solidFill>
                  <a:srgbClr val="177878"/>
                </a:solidFill>
                <a:latin typeface="Calibri"/>
              </a:rPr>
              <a:t>TECHNICAL ARCHITECTURE</a:t>
            </a:r>
          </a:p>
        </p:txBody>
      </p:sp>
      <p:sp>
        <p:nvSpPr>
          <p:cNvPr id="3" name="Title"/>
          <p:cNvSpPr txBox="1"/>
          <p:nvPr/>
        </p:nvSpPr>
        <p:spPr>
          <a:xfrm>
            <a:off x="685800" y="658368"/>
            <a:ext cx="10789920" cy="914400"/>
          </a:xfrm>
          <a:prstGeom prst="rect">
            <a:avLst/>
          </a:prstGeom>
          <a:noFill/>
        </p:spPr>
        <p:txBody>
          <a:bodyPr wrap="square" lIns="45720" rIns="45720" tIns="27432" bIns="27432">
            <a:spAutoFit/>
          </a:bodyPr>
          <a:lstStyle/>
          <a:p>
            <a:r>
              <a:rPr sz="2700" b="1">
                <a:solidFill>
                  <a:srgbClr val="0F1B2D"/>
                </a:solidFill>
                <a:latin typeface="Georgia"/>
              </a:rPr>
              <a:t>One application, one exit, one data plane for each company.</a:t>
            </a:r>
          </a:p>
        </p:txBody>
      </p:sp>
      <p:sp>
        <p:nvSpPr>
          <p:cNvPr id="4" name="Footer"/>
          <p:cNvSpPr txBox="1"/>
          <p:nvPr/>
        </p:nvSpPr>
        <p:spPr>
          <a:xfrm>
            <a:off x="685800" y="6446520"/>
            <a:ext cx="9144000" cy="274320"/>
          </a:xfrm>
          <a:prstGeom prst="rect">
            <a:avLst/>
          </a:prstGeom>
          <a:noFill/>
        </p:spPr>
        <p:txBody>
          <a:bodyPr wrap="square" lIns="45720" rIns="45720" tIns="27432" bIns="27432">
            <a:spAutoFit/>
          </a:bodyPr>
          <a:lstStyle/>
          <a:p>
            <a:r>
              <a:rPr sz="900" b="0">
                <a:solidFill>
                  <a:srgbClr val="5B6678"/>
                </a:solidFill>
                <a:latin typeface="Calibri"/>
              </a:rPr>
              <a:t>Diagrams in the technical pack: four centres, data layers, deployment</a:t>
            </a:r>
          </a:p>
        </p:txBody>
      </p:sp>
      <p:sp>
        <p:nvSpPr>
          <p:cNvPr id="5" name="Slide number"/>
          <p:cNvSpPr txBox="1"/>
          <p:nvPr/>
        </p:nvSpPr>
        <p:spPr>
          <a:xfrm>
            <a:off x="10607040" y="6446520"/>
            <a:ext cx="914400" cy="274320"/>
          </a:xfrm>
          <a:prstGeom prst="rect">
            <a:avLst/>
          </a:prstGeom>
          <a:noFill/>
        </p:spPr>
        <p:txBody>
          <a:bodyPr wrap="square" lIns="45720" rIns="45720" tIns="27432" bIns="27432">
            <a:spAutoFit/>
          </a:bodyPr>
          <a:lstStyle/>
          <a:p>
            <a:pPr algn="r"/>
            <a:r>
              <a:rPr sz="900" b="0">
                <a:solidFill>
                  <a:srgbClr val="5B6678"/>
                </a:solidFill>
                <a:latin typeface="Calibri"/>
              </a:rPr>
              <a:t>15 / 20</a:t>
            </a:r>
          </a:p>
        </p:txBody>
      </p:sp>
      <p:sp>
        <p:nvSpPr>
          <p:cNvPr id="6" name="TextBox 5"/>
          <p:cNvSpPr txBox="1"/>
          <p:nvPr/>
        </p:nvSpPr>
        <p:spPr>
          <a:xfrm>
            <a:off x="685800" y="1783080"/>
            <a:ext cx="1645920" cy="411480"/>
          </a:xfrm>
          <a:prstGeom prst="rect">
            <a:avLst/>
          </a:prstGeom>
          <a:noFill/>
        </p:spPr>
        <p:txBody>
          <a:bodyPr wrap="square" lIns="45720" rIns="45720" tIns="27432" bIns="27432">
            <a:spAutoFit/>
          </a:bodyPr>
          <a:lstStyle/>
          <a:p>
            <a:r>
              <a:rPr sz="1500" b="1">
                <a:solidFill>
                  <a:srgbClr val="177878"/>
                </a:solidFill>
                <a:latin typeface="Georgia"/>
              </a:rPr>
              <a:t>People</a:t>
            </a:r>
          </a:p>
        </p:txBody>
      </p:sp>
      <p:sp>
        <p:nvSpPr>
          <p:cNvPr id="7" name="Rounded Rectangle 6"/>
          <p:cNvSpPr/>
          <p:nvPr/>
        </p:nvSpPr>
        <p:spPr>
          <a:xfrm>
            <a:off x="2468880" y="1691640"/>
            <a:ext cx="2194560" cy="566928"/>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14600" y="1737360"/>
            <a:ext cx="2103120" cy="502920"/>
          </a:xfrm>
          <a:prstGeom prst="rect">
            <a:avLst/>
          </a:prstGeom>
          <a:noFill/>
        </p:spPr>
        <p:txBody>
          <a:bodyPr wrap="square" lIns="45720" rIns="45720" tIns="27432" bIns="27432" anchor="ctr">
            <a:spAutoFit/>
          </a:bodyPr>
          <a:lstStyle/>
          <a:p>
            <a:r>
              <a:rPr sz="1150" b="0">
                <a:solidFill>
                  <a:srgbClr val="0F1B2D"/>
                </a:solidFill>
                <a:latin typeface="Calibri"/>
              </a:rPr>
              <a:t>Sponsor</a:t>
            </a:r>
          </a:p>
        </p:txBody>
      </p:sp>
      <p:sp>
        <p:nvSpPr>
          <p:cNvPr id="9" name="Rounded Rectangle 8"/>
          <p:cNvSpPr/>
          <p:nvPr/>
        </p:nvSpPr>
        <p:spPr>
          <a:xfrm>
            <a:off x="4754880" y="1691640"/>
            <a:ext cx="2194560" cy="566928"/>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0600" y="1737360"/>
            <a:ext cx="2103120" cy="502920"/>
          </a:xfrm>
          <a:prstGeom prst="rect">
            <a:avLst/>
          </a:prstGeom>
          <a:noFill/>
        </p:spPr>
        <p:txBody>
          <a:bodyPr wrap="square" lIns="45720" rIns="45720" tIns="27432" bIns="27432" anchor="ctr">
            <a:spAutoFit/>
          </a:bodyPr>
          <a:lstStyle/>
          <a:p>
            <a:r>
              <a:rPr sz="1150" b="0">
                <a:solidFill>
                  <a:srgbClr val="0F1B2D"/>
                </a:solidFill>
                <a:latin typeface="Calibri"/>
              </a:rPr>
              <a:t>Analyst</a:t>
            </a:r>
          </a:p>
        </p:txBody>
      </p:sp>
      <p:sp>
        <p:nvSpPr>
          <p:cNvPr id="11" name="Rounded Rectangle 10"/>
          <p:cNvSpPr/>
          <p:nvPr/>
        </p:nvSpPr>
        <p:spPr>
          <a:xfrm>
            <a:off x="7040880" y="1691640"/>
            <a:ext cx="2194560" cy="566928"/>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86600" y="1737360"/>
            <a:ext cx="2103120" cy="502920"/>
          </a:xfrm>
          <a:prstGeom prst="rect">
            <a:avLst/>
          </a:prstGeom>
          <a:noFill/>
        </p:spPr>
        <p:txBody>
          <a:bodyPr wrap="square" lIns="45720" rIns="45720" tIns="27432" bIns="27432" anchor="ctr">
            <a:spAutoFit/>
          </a:bodyPr>
          <a:lstStyle/>
          <a:p>
            <a:r>
              <a:rPr sz="1150" b="0">
                <a:solidFill>
                  <a:srgbClr val="0F1B2D"/>
                </a:solidFill>
                <a:latin typeface="Calibri"/>
              </a:rPr>
              <a:t>Approver</a:t>
            </a:r>
          </a:p>
        </p:txBody>
      </p:sp>
      <p:sp>
        <p:nvSpPr>
          <p:cNvPr id="13" name="Rounded Rectangle 12"/>
          <p:cNvSpPr/>
          <p:nvPr/>
        </p:nvSpPr>
        <p:spPr>
          <a:xfrm>
            <a:off x="9326880" y="1691640"/>
            <a:ext cx="2194560" cy="566928"/>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72600" y="1737360"/>
            <a:ext cx="2103120" cy="502920"/>
          </a:xfrm>
          <a:prstGeom prst="rect">
            <a:avLst/>
          </a:prstGeom>
          <a:noFill/>
        </p:spPr>
        <p:txBody>
          <a:bodyPr wrap="square" lIns="45720" rIns="45720" tIns="27432" bIns="27432" anchor="ctr">
            <a:spAutoFit/>
          </a:bodyPr>
          <a:lstStyle/>
          <a:p>
            <a:r>
              <a:rPr sz="1150" b="0">
                <a:solidFill>
                  <a:srgbClr val="0F1B2D"/>
                </a:solidFill>
                <a:latin typeface="Calibri"/>
              </a:rPr>
              <a:t>Head of data</a:t>
            </a:r>
          </a:p>
        </p:txBody>
      </p:sp>
      <p:sp>
        <p:nvSpPr>
          <p:cNvPr id="15" name="TextBox 14"/>
          <p:cNvSpPr txBox="1"/>
          <p:nvPr/>
        </p:nvSpPr>
        <p:spPr>
          <a:xfrm>
            <a:off x="685800" y="2496312"/>
            <a:ext cx="1645920" cy="411480"/>
          </a:xfrm>
          <a:prstGeom prst="rect">
            <a:avLst/>
          </a:prstGeom>
          <a:noFill/>
        </p:spPr>
        <p:txBody>
          <a:bodyPr wrap="square" lIns="45720" rIns="45720" tIns="27432" bIns="27432">
            <a:spAutoFit/>
          </a:bodyPr>
          <a:lstStyle/>
          <a:p>
            <a:r>
              <a:rPr sz="1500" b="1">
                <a:solidFill>
                  <a:srgbClr val="177878"/>
                </a:solidFill>
                <a:latin typeface="Georgia"/>
              </a:rPr>
              <a:t>Browser</a:t>
            </a:r>
          </a:p>
        </p:txBody>
      </p:sp>
      <p:sp>
        <p:nvSpPr>
          <p:cNvPr id="16" name="Rounded Rectangle 15"/>
          <p:cNvSpPr/>
          <p:nvPr/>
        </p:nvSpPr>
        <p:spPr>
          <a:xfrm>
            <a:off x="2468880" y="2404872"/>
            <a:ext cx="1737360" cy="566928"/>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14600" y="2450591"/>
            <a:ext cx="1645919" cy="502920"/>
          </a:xfrm>
          <a:prstGeom prst="rect">
            <a:avLst/>
          </a:prstGeom>
          <a:noFill/>
        </p:spPr>
        <p:txBody>
          <a:bodyPr wrap="square" lIns="45720" rIns="45720" tIns="27432" bIns="27432" anchor="ctr">
            <a:spAutoFit/>
          </a:bodyPr>
          <a:lstStyle/>
          <a:p>
            <a:r>
              <a:rPr sz="1150" b="0">
                <a:solidFill>
                  <a:srgbClr val="0F1B2D"/>
                </a:solidFill>
                <a:latin typeface="Calibri"/>
              </a:rPr>
              <a:t>Action</a:t>
            </a:r>
          </a:p>
        </p:txBody>
      </p:sp>
      <p:sp>
        <p:nvSpPr>
          <p:cNvPr id="18" name="Rounded Rectangle 17"/>
          <p:cNvSpPr/>
          <p:nvPr/>
        </p:nvSpPr>
        <p:spPr>
          <a:xfrm>
            <a:off x="4297680" y="2404872"/>
            <a:ext cx="1737360" cy="566928"/>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43400" y="2450591"/>
            <a:ext cx="1645919" cy="502920"/>
          </a:xfrm>
          <a:prstGeom prst="rect">
            <a:avLst/>
          </a:prstGeom>
          <a:noFill/>
        </p:spPr>
        <p:txBody>
          <a:bodyPr wrap="square" lIns="45720" rIns="45720" tIns="27432" bIns="27432" anchor="ctr">
            <a:spAutoFit/>
          </a:bodyPr>
          <a:lstStyle/>
          <a:p>
            <a:r>
              <a:rPr sz="1150" b="0">
                <a:solidFill>
                  <a:srgbClr val="0F1B2D"/>
                </a:solidFill>
                <a:latin typeface="Calibri"/>
              </a:rPr>
              <a:t>Build</a:t>
            </a:r>
          </a:p>
        </p:txBody>
      </p:sp>
      <p:sp>
        <p:nvSpPr>
          <p:cNvPr id="20" name="Rounded Rectangle 19"/>
          <p:cNvSpPr/>
          <p:nvPr/>
        </p:nvSpPr>
        <p:spPr>
          <a:xfrm>
            <a:off x="6126480" y="2404872"/>
            <a:ext cx="1737360" cy="566928"/>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2450591"/>
            <a:ext cx="1645919" cy="502920"/>
          </a:xfrm>
          <a:prstGeom prst="rect">
            <a:avLst/>
          </a:prstGeom>
          <a:noFill/>
        </p:spPr>
        <p:txBody>
          <a:bodyPr wrap="square" lIns="45720" rIns="45720" tIns="27432" bIns="27432" anchor="ctr">
            <a:spAutoFit/>
          </a:bodyPr>
          <a:lstStyle/>
          <a:p>
            <a:r>
              <a:rPr sz="1150" b="0">
                <a:solidFill>
                  <a:srgbClr val="0F1B2D"/>
                </a:solidFill>
                <a:latin typeface="Calibri"/>
              </a:rPr>
              <a:t>Consume</a:t>
            </a:r>
          </a:p>
        </p:txBody>
      </p:sp>
      <p:sp>
        <p:nvSpPr>
          <p:cNvPr id="22" name="Rounded Rectangle 21"/>
          <p:cNvSpPr/>
          <p:nvPr/>
        </p:nvSpPr>
        <p:spPr>
          <a:xfrm>
            <a:off x="7955279" y="2404872"/>
            <a:ext cx="1737360" cy="566928"/>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01000" y="2450591"/>
            <a:ext cx="1645919" cy="502920"/>
          </a:xfrm>
          <a:prstGeom prst="rect">
            <a:avLst/>
          </a:prstGeom>
          <a:noFill/>
        </p:spPr>
        <p:txBody>
          <a:bodyPr wrap="square" lIns="45720" rIns="45720" tIns="27432" bIns="27432" anchor="ctr">
            <a:spAutoFit/>
          </a:bodyPr>
          <a:lstStyle/>
          <a:p>
            <a:r>
              <a:rPr sz="1150" b="0">
                <a:solidFill>
                  <a:srgbClr val="0F1B2D"/>
                </a:solidFill>
                <a:latin typeface="Calibri"/>
              </a:rPr>
              <a:t>Map</a:t>
            </a:r>
          </a:p>
        </p:txBody>
      </p:sp>
      <p:sp>
        <p:nvSpPr>
          <p:cNvPr id="24" name="Rounded Rectangle 23"/>
          <p:cNvSpPr/>
          <p:nvPr/>
        </p:nvSpPr>
        <p:spPr>
          <a:xfrm>
            <a:off x="9784080" y="2404872"/>
            <a:ext cx="1737360" cy="566928"/>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29800" y="2450591"/>
            <a:ext cx="1645919" cy="502920"/>
          </a:xfrm>
          <a:prstGeom prst="rect">
            <a:avLst/>
          </a:prstGeom>
          <a:noFill/>
        </p:spPr>
        <p:txBody>
          <a:bodyPr wrap="square" lIns="45720" rIns="45720" tIns="27432" bIns="27432" anchor="ctr">
            <a:spAutoFit/>
          </a:bodyPr>
          <a:lstStyle/>
          <a:p>
            <a:r>
              <a:rPr sz="1150" b="0">
                <a:solidFill>
                  <a:srgbClr val="0F1B2D"/>
                </a:solidFill>
                <a:latin typeface="Calibri"/>
              </a:rPr>
              <a:t>Settings</a:t>
            </a:r>
          </a:p>
        </p:txBody>
      </p:sp>
      <p:sp>
        <p:nvSpPr>
          <p:cNvPr id="26" name="TextBox 25"/>
          <p:cNvSpPr txBox="1"/>
          <p:nvPr/>
        </p:nvSpPr>
        <p:spPr>
          <a:xfrm>
            <a:off x="685800" y="3209544"/>
            <a:ext cx="1645920" cy="411480"/>
          </a:xfrm>
          <a:prstGeom prst="rect">
            <a:avLst/>
          </a:prstGeom>
          <a:noFill/>
        </p:spPr>
        <p:txBody>
          <a:bodyPr wrap="square" lIns="45720" rIns="45720" tIns="27432" bIns="27432">
            <a:spAutoFit/>
          </a:bodyPr>
          <a:lstStyle/>
          <a:p>
            <a:r>
              <a:rPr sz="1500" b="1">
                <a:solidFill>
                  <a:srgbClr val="177878"/>
                </a:solidFill>
                <a:latin typeface="Georgia"/>
              </a:rPr>
              <a:t>API</a:t>
            </a:r>
          </a:p>
        </p:txBody>
      </p:sp>
      <p:sp>
        <p:nvSpPr>
          <p:cNvPr id="27" name="Rounded Rectangle 26"/>
          <p:cNvSpPr/>
          <p:nvPr/>
        </p:nvSpPr>
        <p:spPr>
          <a:xfrm>
            <a:off x="2468880" y="3118104"/>
            <a:ext cx="5974080" cy="566928"/>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14600" y="3163824"/>
            <a:ext cx="5882640" cy="502920"/>
          </a:xfrm>
          <a:prstGeom prst="rect">
            <a:avLst/>
          </a:prstGeom>
          <a:noFill/>
        </p:spPr>
        <p:txBody>
          <a:bodyPr wrap="square" lIns="45720" rIns="45720" tIns="27432" bIns="27432" anchor="ctr">
            <a:spAutoFit/>
          </a:bodyPr>
          <a:lstStyle/>
          <a:p>
            <a:r>
              <a:rPr sz="1150" b="0">
                <a:solidFill>
                  <a:srgbClr val="0F1B2D"/>
                </a:solidFill>
                <a:latin typeface="Calibri"/>
              </a:rPr>
              <a:t>One permission table. Any route not in it is refused by default.</a:t>
            </a:r>
          </a:p>
        </p:txBody>
      </p:sp>
      <p:sp>
        <p:nvSpPr>
          <p:cNvPr id="29" name="Rounded Rectangle 28"/>
          <p:cNvSpPr/>
          <p:nvPr/>
        </p:nvSpPr>
        <p:spPr>
          <a:xfrm>
            <a:off x="8534400" y="3118104"/>
            <a:ext cx="2987040" cy="566928"/>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80120" y="3163824"/>
            <a:ext cx="2895600" cy="502920"/>
          </a:xfrm>
          <a:prstGeom prst="rect">
            <a:avLst/>
          </a:prstGeom>
          <a:noFill/>
        </p:spPr>
        <p:txBody>
          <a:bodyPr wrap="square" lIns="45720" rIns="45720" tIns="27432" bIns="27432" anchor="ctr">
            <a:spAutoFit/>
          </a:bodyPr>
          <a:lstStyle/>
          <a:p>
            <a:r>
              <a:rPr sz="1150" b="0">
                <a:solidFill>
                  <a:srgbClr val="0F1B2D"/>
                </a:solidFill>
                <a:latin typeface="Calibri"/>
              </a:rPr>
              <a:t>Company and module checks per request</a:t>
            </a:r>
          </a:p>
        </p:txBody>
      </p:sp>
      <p:sp>
        <p:nvSpPr>
          <p:cNvPr id="31" name="TextBox 30"/>
          <p:cNvSpPr txBox="1"/>
          <p:nvPr/>
        </p:nvSpPr>
        <p:spPr>
          <a:xfrm>
            <a:off x="685800" y="3922776"/>
            <a:ext cx="1645920" cy="411480"/>
          </a:xfrm>
          <a:prstGeom prst="rect">
            <a:avLst/>
          </a:prstGeom>
          <a:noFill/>
        </p:spPr>
        <p:txBody>
          <a:bodyPr wrap="square" lIns="45720" rIns="45720" tIns="27432" bIns="27432">
            <a:spAutoFit/>
          </a:bodyPr>
          <a:lstStyle/>
          <a:p>
            <a:r>
              <a:rPr sz="1500" b="1">
                <a:solidFill>
                  <a:srgbClr val="177878"/>
                </a:solidFill>
                <a:latin typeface="Georgia"/>
              </a:rPr>
              <a:t>Four agents</a:t>
            </a:r>
          </a:p>
        </p:txBody>
      </p:sp>
      <p:sp>
        <p:nvSpPr>
          <p:cNvPr id="32" name="Rounded Rectangle 31"/>
          <p:cNvSpPr/>
          <p:nvPr/>
        </p:nvSpPr>
        <p:spPr>
          <a:xfrm>
            <a:off x="2468880" y="3831336"/>
            <a:ext cx="1401096" cy="566928"/>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514600" y="3877056"/>
            <a:ext cx="1309656" cy="502920"/>
          </a:xfrm>
          <a:prstGeom prst="rect">
            <a:avLst/>
          </a:prstGeom>
          <a:noFill/>
        </p:spPr>
        <p:txBody>
          <a:bodyPr wrap="square" lIns="45720" rIns="45720" tIns="27432" bIns="27432" anchor="ctr">
            <a:spAutoFit/>
          </a:bodyPr>
          <a:lstStyle/>
          <a:p>
            <a:r>
              <a:rPr sz="1150" b="0">
                <a:solidFill>
                  <a:srgbClr val="0F1B2D"/>
                </a:solidFill>
                <a:latin typeface="Calibri"/>
              </a:rPr>
              <a:t>North</a:t>
            </a:r>
          </a:p>
        </p:txBody>
      </p:sp>
      <p:sp>
        <p:nvSpPr>
          <p:cNvPr id="34" name="Rounded Rectangle 33"/>
          <p:cNvSpPr/>
          <p:nvPr/>
        </p:nvSpPr>
        <p:spPr>
          <a:xfrm>
            <a:off x="3961416" y="3831336"/>
            <a:ext cx="1401096" cy="566928"/>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07136" y="3877056"/>
            <a:ext cx="1309656" cy="502920"/>
          </a:xfrm>
          <a:prstGeom prst="rect">
            <a:avLst/>
          </a:prstGeom>
          <a:noFill/>
        </p:spPr>
        <p:txBody>
          <a:bodyPr wrap="square" lIns="45720" rIns="45720" tIns="27432" bIns="27432" anchor="ctr">
            <a:spAutoFit/>
          </a:bodyPr>
          <a:lstStyle/>
          <a:p>
            <a:r>
              <a:rPr sz="1150" b="0">
                <a:solidFill>
                  <a:srgbClr val="0F1B2D"/>
                </a:solidFill>
                <a:latin typeface="Calibri"/>
              </a:rPr>
              <a:t>Span</a:t>
            </a:r>
          </a:p>
        </p:txBody>
      </p:sp>
      <p:sp>
        <p:nvSpPr>
          <p:cNvPr id="36" name="Rounded Rectangle 35"/>
          <p:cNvSpPr/>
          <p:nvPr/>
        </p:nvSpPr>
        <p:spPr>
          <a:xfrm>
            <a:off x="5453953" y="3831336"/>
            <a:ext cx="1401096" cy="566928"/>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99673" y="3877056"/>
            <a:ext cx="1309656" cy="502920"/>
          </a:xfrm>
          <a:prstGeom prst="rect">
            <a:avLst/>
          </a:prstGeom>
          <a:noFill/>
        </p:spPr>
        <p:txBody>
          <a:bodyPr wrap="square" lIns="45720" rIns="45720" tIns="27432" bIns="27432" anchor="ctr">
            <a:spAutoFit/>
          </a:bodyPr>
          <a:lstStyle/>
          <a:p>
            <a:r>
              <a:rPr sz="1150" b="0">
                <a:solidFill>
                  <a:srgbClr val="0F1B2D"/>
                </a:solidFill>
                <a:latin typeface="Calibri"/>
              </a:rPr>
              <a:t>Lumen</a:t>
            </a:r>
          </a:p>
        </p:txBody>
      </p:sp>
      <p:sp>
        <p:nvSpPr>
          <p:cNvPr id="38" name="Rounded Rectangle 37"/>
          <p:cNvSpPr/>
          <p:nvPr/>
        </p:nvSpPr>
        <p:spPr>
          <a:xfrm>
            <a:off x="6946490" y="3831336"/>
            <a:ext cx="1401096" cy="566928"/>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92210" y="3877056"/>
            <a:ext cx="1309656" cy="502920"/>
          </a:xfrm>
          <a:prstGeom prst="rect">
            <a:avLst/>
          </a:prstGeom>
          <a:noFill/>
        </p:spPr>
        <p:txBody>
          <a:bodyPr wrap="square" lIns="45720" rIns="45720" tIns="27432" bIns="27432" anchor="ctr">
            <a:spAutoFit/>
          </a:bodyPr>
          <a:lstStyle/>
          <a:p>
            <a:r>
              <a:rPr sz="1150" b="0">
                <a:solidFill>
                  <a:srgbClr val="0F1B2D"/>
                </a:solidFill>
                <a:latin typeface="Calibri"/>
              </a:rPr>
              <a:t>Tally</a:t>
            </a:r>
          </a:p>
        </p:txBody>
      </p:sp>
      <p:sp>
        <p:nvSpPr>
          <p:cNvPr id="40" name="Rounded Rectangle 39"/>
          <p:cNvSpPr/>
          <p:nvPr/>
        </p:nvSpPr>
        <p:spPr>
          <a:xfrm>
            <a:off x="8439027" y="3831336"/>
            <a:ext cx="3082412" cy="566928"/>
          </a:xfrm>
          <a:prstGeom prst="roundRect">
            <a:avLst>
              <a:gd name="adj" fmla="val 6000"/>
            </a:avLst>
          </a:prstGeom>
          <a:solidFill>
            <a:srgbClr val="FFF8EA"/>
          </a:solidFill>
          <a:ln w="12700">
            <a:solidFill>
              <a:srgbClr val="E0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84747" y="3877056"/>
            <a:ext cx="2990972" cy="502920"/>
          </a:xfrm>
          <a:prstGeom prst="rect">
            <a:avLst/>
          </a:prstGeom>
          <a:noFill/>
        </p:spPr>
        <p:txBody>
          <a:bodyPr wrap="square" lIns="45720" rIns="45720" tIns="27432" bIns="27432" anchor="ctr">
            <a:spAutoFit/>
          </a:bodyPr>
          <a:lstStyle/>
          <a:p>
            <a:r>
              <a:rPr sz="1150" b="0">
                <a:solidFill>
                  <a:srgbClr val="0F1B2D"/>
                </a:solidFill>
                <a:latin typeface="Calibri"/>
              </a:rPr>
              <a:t>One shared read-only loop. A guard: each figure must trace to a recorded fact.</a:t>
            </a:r>
          </a:p>
        </p:txBody>
      </p:sp>
      <p:sp>
        <p:nvSpPr>
          <p:cNvPr id="42" name="TextBox 41"/>
          <p:cNvSpPr txBox="1"/>
          <p:nvPr/>
        </p:nvSpPr>
        <p:spPr>
          <a:xfrm>
            <a:off x="685800" y="4636008"/>
            <a:ext cx="1645920" cy="411480"/>
          </a:xfrm>
          <a:prstGeom prst="rect">
            <a:avLst/>
          </a:prstGeom>
          <a:noFill/>
        </p:spPr>
        <p:txBody>
          <a:bodyPr wrap="square" lIns="45720" rIns="45720" tIns="27432" bIns="27432">
            <a:spAutoFit/>
          </a:bodyPr>
          <a:lstStyle/>
          <a:p>
            <a:r>
              <a:rPr sz="1500" b="1">
                <a:solidFill>
                  <a:srgbClr val="177878"/>
                </a:solidFill>
                <a:latin typeface="Georgia"/>
              </a:rPr>
              <a:t>One exit</a:t>
            </a:r>
          </a:p>
        </p:txBody>
      </p:sp>
      <p:sp>
        <p:nvSpPr>
          <p:cNvPr id="43" name="Rounded Rectangle 42"/>
          <p:cNvSpPr/>
          <p:nvPr/>
        </p:nvSpPr>
        <p:spPr>
          <a:xfrm>
            <a:off x="2468880" y="4544568"/>
            <a:ext cx="5824728" cy="566928"/>
          </a:xfrm>
          <a:prstGeom prst="roundRect">
            <a:avLst>
              <a:gd name="adj" fmla="val 6000"/>
            </a:avLst>
          </a:prstGeom>
          <a:solidFill>
            <a:srgbClr val="FFF8EA"/>
          </a:solidFill>
          <a:ln w="12700">
            <a:solidFill>
              <a:srgbClr val="E0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514600" y="4590288"/>
            <a:ext cx="5733288" cy="502920"/>
          </a:xfrm>
          <a:prstGeom prst="rect">
            <a:avLst/>
          </a:prstGeom>
          <a:noFill/>
        </p:spPr>
        <p:txBody>
          <a:bodyPr wrap="square" lIns="45720" rIns="45720" tIns="27432" bIns="27432" anchor="ctr">
            <a:spAutoFit/>
          </a:bodyPr>
          <a:lstStyle/>
          <a:p>
            <a:r>
              <a:rPr sz="1150" b="1">
                <a:solidFill>
                  <a:srgbClr val="0F1B2D"/>
                </a:solidFill>
                <a:latin typeface="Calibri"/>
              </a:rPr>
              <a:t>Egress gateway</a:t>
            </a:r>
            <a:r>
              <a:rPr sz="1150" b="0">
                <a:solidFill>
                  <a:srgbClr val="0F1B2D"/>
                </a:solidFill>
                <a:latin typeface="Calibri"/>
              </a:rPr>
              <a:t>: allowlist, names masked, no raw rows leave, every call logged, outage breaker</a:t>
            </a:r>
          </a:p>
        </p:txBody>
      </p:sp>
      <p:sp>
        <p:nvSpPr>
          <p:cNvPr id="45" name="Rounded Rectangle 44"/>
          <p:cNvSpPr/>
          <p:nvPr/>
        </p:nvSpPr>
        <p:spPr>
          <a:xfrm>
            <a:off x="8385048" y="4544568"/>
            <a:ext cx="3136392" cy="566928"/>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30768" y="4590288"/>
            <a:ext cx="3044952" cy="502920"/>
          </a:xfrm>
          <a:prstGeom prst="rect">
            <a:avLst/>
          </a:prstGeom>
          <a:noFill/>
        </p:spPr>
        <p:txBody>
          <a:bodyPr wrap="square" lIns="45720" rIns="45720" tIns="27432" bIns="27432" anchor="ctr">
            <a:spAutoFit/>
          </a:bodyPr>
          <a:lstStyle/>
          <a:p>
            <a:r>
              <a:rPr sz="1150" b="0">
                <a:solidFill>
                  <a:srgbClr val="0F1B2D"/>
                </a:solidFill>
                <a:latin typeface="Calibri"/>
              </a:rPr>
              <a:t>Model services and the four market sources, through the gateway only</a:t>
            </a:r>
          </a:p>
        </p:txBody>
      </p:sp>
      <p:sp>
        <p:nvSpPr>
          <p:cNvPr id="47" name="TextBox 46"/>
          <p:cNvSpPr txBox="1"/>
          <p:nvPr/>
        </p:nvSpPr>
        <p:spPr>
          <a:xfrm>
            <a:off x="685800" y="5349240"/>
            <a:ext cx="1645920" cy="411480"/>
          </a:xfrm>
          <a:prstGeom prst="rect">
            <a:avLst/>
          </a:prstGeom>
          <a:noFill/>
        </p:spPr>
        <p:txBody>
          <a:bodyPr wrap="square" lIns="45720" rIns="45720" tIns="27432" bIns="27432">
            <a:spAutoFit/>
          </a:bodyPr>
          <a:lstStyle/>
          <a:p>
            <a:r>
              <a:rPr sz="1500" b="1">
                <a:solidFill>
                  <a:srgbClr val="177878"/>
                </a:solidFill>
                <a:latin typeface="Georgia"/>
              </a:rPr>
              <a:t>Company data</a:t>
            </a:r>
          </a:p>
        </p:txBody>
      </p:sp>
      <p:sp>
        <p:nvSpPr>
          <p:cNvPr id="48" name="Rounded Rectangle 47"/>
          <p:cNvSpPr/>
          <p:nvPr/>
        </p:nvSpPr>
        <p:spPr>
          <a:xfrm>
            <a:off x="2468880" y="5257800"/>
            <a:ext cx="1639018" cy="566928"/>
          </a:xfrm>
          <a:prstGeom prst="roundRect">
            <a:avLst>
              <a:gd name="adj" fmla="val 6000"/>
            </a:avLst>
          </a:prstGeom>
          <a:solidFill>
            <a:srgbClr val="0F1B2D"/>
          </a:solidFill>
          <a:ln w="12700">
            <a:solidFill>
              <a:srgbClr val="0F1B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514600" y="5303520"/>
            <a:ext cx="1547578" cy="502920"/>
          </a:xfrm>
          <a:prstGeom prst="rect">
            <a:avLst/>
          </a:prstGeom>
          <a:noFill/>
        </p:spPr>
        <p:txBody>
          <a:bodyPr wrap="square" lIns="45720" rIns="45720" tIns="27432" bIns="27432" anchor="ctr">
            <a:spAutoFit/>
          </a:bodyPr>
          <a:lstStyle/>
          <a:p>
            <a:r>
              <a:rPr sz="1150" b="0">
                <a:solidFill>
                  <a:srgbClr val="FFFFFF"/>
                </a:solidFill>
                <a:latin typeface="Calibri"/>
              </a:rPr>
              <a:t>Landing (originals)</a:t>
            </a:r>
          </a:p>
        </p:txBody>
      </p:sp>
      <p:sp>
        <p:nvSpPr>
          <p:cNvPr id="50" name="Rounded Rectangle 49"/>
          <p:cNvSpPr/>
          <p:nvPr/>
        </p:nvSpPr>
        <p:spPr>
          <a:xfrm>
            <a:off x="4199338" y="5257800"/>
            <a:ext cx="1639018" cy="566928"/>
          </a:xfrm>
          <a:prstGeom prst="roundRect">
            <a:avLst>
              <a:gd name="adj" fmla="val 6000"/>
            </a:avLst>
          </a:prstGeom>
          <a:solidFill>
            <a:srgbClr val="0F1B2D"/>
          </a:solidFill>
          <a:ln w="12700">
            <a:solidFill>
              <a:srgbClr val="0F1B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245058" y="5303520"/>
            <a:ext cx="1547578" cy="502920"/>
          </a:xfrm>
          <a:prstGeom prst="rect">
            <a:avLst/>
          </a:prstGeom>
          <a:noFill/>
        </p:spPr>
        <p:txBody>
          <a:bodyPr wrap="square" lIns="45720" rIns="45720" tIns="27432" bIns="27432" anchor="ctr">
            <a:spAutoFit/>
          </a:bodyPr>
          <a:lstStyle/>
          <a:p>
            <a:r>
              <a:rPr sz="1150" b="0">
                <a:solidFill>
                  <a:srgbClr val="FFFFFF"/>
                </a:solidFill>
                <a:latin typeface="Calibri"/>
              </a:rPr>
              <a:t>Bronze</a:t>
            </a:r>
          </a:p>
        </p:txBody>
      </p:sp>
      <p:sp>
        <p:nvSpPr>
          <p:cNvPr id="52" name="Rounded Rectangle 51"/>
          <p:cNvSpPr/>
          <p:nvPr/>
        </p:nvSpPr>
        <p:spPr>
          <a:xfrm>
            <a:off x="5929797" y="5257800"/>
            <a:ext cx="1639018" cy="566928"/>
          </a:xfrm>
          <a:prstGeom prst="roundRect">
            <a:avLst>
              <a:gd name="adj" fmla="val 6000"/>
            </a:avLst>
          </a:prstGeom>
          <a:solidFill>
            <a:srgbClr val="0F1B2D"/>
          </a:solidFill>
          <a:ln w="12700">
            <a:solidFill>
              <a:srgbClr val="0F1B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75517" y="5303520"/>
            <a:ext cx="1547578" cy="502920"/>
          </a:xfrm>
          <a:prstGeom prst="rect">
            <a:avLst/>
          </a:prstGeom>
          <a:noFill/>
        </p:spPr>
        <p:txBody>
          <a:bodyPr wrap="square" lIns="45720" rIns="45720" tIns="27432" bIns="27432" anchor="ctr">
            <a:spAutoFit/>
          </a:bodyPr>
          <a:lstStyle/>
          <a:p>
            <a:r>
              <a:rPr sz="1150" b="0">
                <a:solidFill>
                  <a:srgbClr val="FFFFFF"/>
                </a:solidFill>
                <a:latin typeface="Calibri"/>
              </a:rPr>
              <a:t>Silver</a:t>
            </a:r>
          </a:p>
        </p:txBody>
      </p:sp>
      <p:sp>
        <p:nvSpPr>
          <p:cNvPr id="54" name="Rounded Rectangle 53"/>
          <p:cNvSpPr/>
          <p:nvPr/>
        </p:nvSpPr>
        <p:spPr>
          <a:xfrm>
            <a:off x="7660256" y="5257800"/>
            <a:ext cx="1639018" cy="566928"/>
          </a:xfrm>
          <a:prstGeom prst="roundRect">
            <a:avLst>
              <a:gd name="adj" fmla="val 6000"/>
            </a:avLst>
          </a:prstGeom>
          <a:solidFill>
            <a:srgbClr val="0F1B2D"/>
          </a:solidFill>
          <a:ln w="12700">
            <a:solidFill>
              <a:srgbClr val="0F1B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705976" y="5303520"/>
            <a:ext cx="1547578" cy="502920"/>
          </a:xfrm>
          <a:prstGeom prst="rect">
            <a:avLst/>
          </a:prstGeom>
          <a:noFill/>
        </p:spPr>
        <p:txBody>
          <a:bodyPr wrap="square" lIns="45720" rIns="45720" tIns="27432" bIns="27432" anchor="ctr">
            <a:spAutoFit/>
          </a:bodyPr>
          <a:lstStyle/>
          <a:p>
            <a:r>
              <a:rPr sz="1150" b="0">
                <a:solidFill>
                  <a:srgbClr val="FFFFFF"/>
                </a:solidFill>
                <a:latin typeface="Calibri"/>
              </a:rPr>
              <a:t>Gold per project</a:t>
            </a:r>
          </a:p>
        </p:txBody>
      </p:sp>
      <p:sp>
        <p:nvSpPr>
          <p:cNvPr id="56" name="Rounded Rectangle 55"/>
          <p:cNvSpPr/>
          <p:nvPr/>
        </p:nvSpPr>
        <p:spPr>
          <a:xfrm>
            <a:off x="9390715" y="5257800"/>
            <a:ext cx="2130724" cy="566928"/>
          </a:xfrm>
          <a:prstGeom prst="roundRect">
            <a:avLst>
              <a:gd name="adj" fmla="val 6000"/>
            </a:avLst>
          </a:prstGeom>
          <a:solidFill>
            <a:srgbClr val="0F1B2D"/>
          </a:solidFill>
          <a:ln w="12700">
            <a:solidFill>
              <a:srgbClr val="0F1B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436435" y="5303520"/>
            <a:ext cx="2039284" cy="502920"/>
          </a:xfrm>
          <a:prstGeom prst="rect">
            <a:avLst/>
          </a:prstGeom>
          <a:noFill/>
        </p:spPr>
        <p:txBody>
          <a:bodyPr wrap="square" lIns="45720" rIns="45720" tIns="27432" bIns="27432" anchor="ctr">
            <a:spAutoFit/>
          </a:bodyPr>
          <a:lstStyle/>
          <a:p>
            <a:r>
              <a:rPr sz="1150" b="0">
                <a:solidFill>
                  <a:srgbClr val="FFFFFF"/>
                </a:solidFill>
                <a:latin typeface="Calibri"/>
              </a:rPr>
              <a:t>Checks, cases, documents, logs</a:t>
            </a:r>
          </a:p>
        </p:txBody>
      </p:sp>
      <p:sp>
        <p:nvSpPr>
          <p:cNvPr id="58" name="TextBox 57"/>
          <p:cNvSpPr txBox="1"/>
          <p:nvPr/>
        </p:nvSpPr>
        <p:spPr>
          <a:xfrm>
            <a:off x="685800" y="5989320"/>
            <a:ext cx="10789920" cy="457200"/>
          </a:xfrm>
          <a:prstGeom prst="rect">
            <a:avLst/>
          </a:prstGeom>
          <a:noFill/>
        </p:spPr>
        <p:txBody>
          <a:bodyPr wrap="square" lIns="45720" rIns="45720" tIns="27432" bIns="27432">
            <a:spAutoFit/>
          </a:bodyPr>
          <a:lstStyle/>
          <a:p>
            <a:r>
              <a:rPr sz="1150" b="0">
                <a:solidFill>
                  <a:srgbClr val="5B6678"/>
                </a:solidFill>
                <a:latin typeface="Calibri"/>
              </a:rPr>
              <a:t>Deployment: one service, one persistent volume per company, a health check. Demo platform today; the office’s own cloud is a rollout option.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Kicker"/>
          <p:cNvSpPr txBox="1"/>
          <p:nvPr/>
        </p:nvSpPr>
        <p:spPr>
          <a:xfrm>
            <a:off x="685800" y="384048"/>
            <a:ext cx="10789920" cy="274320"/>
          </a:xfrm>
          <a:prstGeom prst="rect">
            <a:avLst/>
          </a:prstGeom>
          <a:noFill/>
        </p:spPr>
        <p:txBody>
          <a:bodyPr wrap="square" lIns="45720" rIns="45720" tIns="27432" bIns="27432">
            <a:spAutoFit/>
          </a:bodyPr>
          <a:lstStyle/>
          <a:p>
            <a:r>
              <a:rPr sz="1100" b="1">
                <a:solidFill>
                  <a:srgbClr val="177878"/>
                </a:solidFill>
                <a:latin typeface="Calibri"/>
              </a:rPr>
              <a:t>SECURITY AND DATA GOVERNANCE</a:t>
            </a:r>
          </a:p>
        </p:txBody>
      </p:sp>
      <p:sp>
        <p:nvSpPr>
          <p:cNvPr id="3" name="Title"/>
          <p:cNvSpPr txBox="1"/>
          <p:nvPr/>
        </p:nvSpPr>
        <p:spPr>
          <a:xfrm>
            <a:off x="685800" y="658368"/>
            <a:ext cx="10789920" cy="914400"/>
          </a:xfrm>
          <a:prstGeom prst="rect">
            <a:avLst/>
          </a:prstGeom>
          <a:noFill/>
        </p:spPr>
        <p:txBody>
          <a:bodyPr wrap="square" lIns="45720" rIns="45720" tIns="27432" bIns="27432">
            <a:spAutoFit/>
          </a:bodyPr>
          <a:lstStyle/>
          <a:p>
            <a:r>
              <a:rPr sz="2700" b="1">
                <a:solidFill>
                  <a:srgbClr val="0F1B2D"/>
                </a:solidFill>
                <a:latin typeface="Georgia"/>
              </a:rPr>
              <a:t>The office’s data stays in its own space. Every figure traces to a file and a person.</a:t>
            </a:r>
          </a:p>
        </p:txBody>
      </p:sp>
      <p:sp>
        <p:nvSpPr>
          <p:cNvPr id="4" name="Footer"/>
          <p:cNvSpPr txBox="1"/>
          <p:nvPr/>
        </p:nvSpPr>
        <p:spPr>
          <a:xfrm>
            <a:off x="685800" y="6446520"/>
            <a:ext cx="9144000" cy="274320"/>
          </a:xfrm>
          <a:prstGeom prst="rect">
            <a:avLst/>
          </a:prstGeom>
          <a:noFill/>
        </p:spPr>
        <p:txBody>
          <a:bodyPr wrap="square" lIns="45720" rIns="45720" tIns="27432" bIns="27432">
            <a:spAutoFit/>
          </a:bodyPr>
          <a:lstStyle/>
          <a:p>
            <a:r>
              <a:rPr sz="900" b="0">
                <a:solidFill>
                  <a:srgbClr val="5B6678"/>
                </a:solidFill>
                <a:latin typeface="Calibri"/>
              </a:rPr>
              <a:t>Signal Harbor</a:t>
            </a:r>
          </a:p>
        </p:txBody>
      </p:sp>
      <p:sp>
        <p:nvSpPr>
          <p:cNvPr id="5" name="Slide number"/>
          <p:cNvSpPr txBox="1"/>
          <p:nvPr/>
        </p:nvSpPr>
        <p:spPr>
          <a:xfrm>
            <a:off x="10607040" y="6446520"/>
            <a:ext cx="914400" cy="274320"/>
          </a:xfrm>
          <a:prstGeom prst="rect">
            <a:avLst/>
          </a:prstGeom>
          <a:noFill/>
        </p:spPr>
        <p:txBody>
          <a:bodyPr wrap="square" lIns="45720" rIns="45720" tIns="27432" bIns="27432">
            <a:spAutoFit/>
          </a:bodyPr>
          <a:lstStyle/>
          <a:p>
            <a:pPr algn="r"/>
            <a:r>
              <a:rPr sz="900" b="0">
                <a:solidFill>
                  <a:srgbClr val="5B6678"/>
                </a:solidFill>
                <a:latin typeface="Calibri"/>
              </a:rPr>
              <a:t>16 / 20</a:t>
            </a:r>
          </a:p>
        </p:txBody>
      </p:sp>
      <p:sp>
        <p:nvSpPr>
          <p:cNvPr id="6" name="Bullets"/>
          <p:cNvSpPr txBox="1"/>
          <p:nvPr/>
        </p:nvSpPr>
        <p:spPr>
          <a:xfrm>
            <a:off x="685800" y="1783080"/>
            <a:ext cx="5212080" cy="3291840"/>
          </a:xfrm>
          <a:prstGeom prst="rect">
            <a:avLst/>
          </a:prstGeom>
          <a:noFill/>
        </p:spPr>
        <p:txBody>
          <a:bodyPr wrap="square">
            <a:spAutoFit/>
          </a:bodyPr>
          <a:lstStyle/>
          <a:p>
            <a:pPr>
              <a:spcAft>
                <a:spcPts val="700"/>
              </a:spcAft>
            </a:pPr>
            <a:r>
              <a:rPr sz="900">
                <a:solidFill>
                  <a:srgbClr val="177878"/>
                </a:solidFill>
                <a:latin typeface="Calibri"/>
              </a:rPr>
              <a:t>●  </a:t>
            </a:r>
            <a:r>
              <a:rPr sz="1500" b="1">
                <a:solidFill>
                  <a:srgbClr val="0F1B2D"/>
                </a:solidFill>
                <a:latin typeface="Calibri"/>
              </a:rPr>
              <a:t>Data stays in the office’s space.</a:t>
            </a:r>
            <a:r>
              <a:rPr sz="1500" b="0">
                <a:solidFill>
                  <a:srgbClr val="0F1B2D"/>
                </a:solidFill>
                <a:latin typeface="Calibri"/>
              </a:rPr>
              <a:t> Each company has its own data plane and volume.</a:t>
            </a:r>
          </a:p>
          <a:p>
            <a:pPr>
              <a:spcAft>
                <a:spcPts val="700"/>
              </a:spcAft>
            </a:pPr>
            <a:r>
              <a:rPr sz="900">
                <a:solidFill>
                  <a:srgbClr val="177878"/>
                </a:solidFill>
                <a:latin typeface="Calibri"/>
              </a:rPr>
              <a:t>●  </a:t>
            </a:r>
            <a:r>
              <a:rPr sz="1500" b="1">
                <a:solidFill>
                  <a:srgbClr val="0F1B2D"/>
                </a:solidFill>
                <a:latin typeface="Calibri"/>
              </a:rPr>
              <a:t>One way out.</a:t>
            </a:r>
            <a:r>
              <a:rPr sz="1500" b="0">
                <a:solidFill>
                  <a:srgbClr val="0F1B2D"/>
                </a:solidFill>
                <a:latin typeface="Calibri"/>
              </a:rPr>
              <a:t> The egress gateway is the only route to any outside service.</a:t>
            </a:r>
          </a:p>
          <a:p>
            <a:pPr>
              <a:spcAft>
                <a:spcPts val="700"/>
              </a:spcAft>
            </a:pPr>
            <a:r>
              <a:rPr sz="900">
                <a:solidFill>
                  <a:srgbClr val="177878"/>
                </a:solidFill>
                <a:latin typeface="Calibri"/>
              </a:rPr>
              <a:t>●  </a:t>
            </a:r>
            <a:r>
              <a:rPr sz="1500" b="1">
                <a:solidFill>
                  <a:srgbClr val="0F1B2D"/>
                </a:solidFill>
                <a:latin typeface="Calibri"/>
              </a:rPr>
              <a:t>Names are masked</a:t>
            </a:r>
            <a:r>
              <a:rPr sz="1500" b="0">
                <a:solidFill>
                  <a:srgbClr val="0F1B2D"/>
                </a:solidFill>
                <a:latin typeface="Calibri"/>
              </a:rPr>
              <a:t> before text leaves the office. Raw rows never leave.</a:t>
            </a:r>
          </a:p>
        </p:txBody>
      </p:sp>
      <p:sp>
        <p:nvSpPr>
          <p:cNvPr id="7" name="Bullets"/>
          <p:cNvSpPr txBox="1"/>
          <p:nvPr/>
        </p:nvSpPr>
        <p:spPr>
          <a:xfrm>
            <a:off x="6309360" y="1783080"/>
            <a:ext cx="5212080" cy="3291840"/>
          </a:xfrm>
          <a:prstGeom prst="rect">
            <a:avLst/>
          </a:prstGeom>
          <a:noFill/>
        </p:spPr>
        <p:txBody>
          <a:bodyPr wrap="square">
            <a:spAutoFit/>
          </a:bodyPr>
          <a:lstStyle/>
          <a:p>
            <a:pPr>
              <a:spcAft>
                <a:spcPts val="700"/>
              </a:spcAft>
            </a:pPr>
            <a:r>
              <a:rPr sz="900">
                <a:solidFill>
                  <a:srgbClr val="177878"/>
                </a:solidFill>
                <a:latin typeface="Calibri"/>
              </a:rPr>
              <a:t>●  </a:t>
            </a:r>
            <a:r>
              <a:rPr sz="1500" b="1">
                <a:solidFill>
                  <a:srgbClr val="0F1B2D"/>
                </a:solidFill>
                <a:latin typeface="Calibri"/>
              </a:rPr>
              <a:t>Every figure traces</a:t>
            </a:r>
            <a:r>
              <a:rPr sz="1500" b="0">
                <a:solidFill>
                  <a:srgbClr val="0F1B2D"/>
                </a:solidFill>
                <a:latin typeface="Calibri"/>
              </a:rPr>
              <a:t> to its file, row and person through “Where is this from?”.</a:t>
            </a:r>
          </a:p>
          <a:p>
            <a:pPr>
              <a:spcAft>
                <a:spcPts val="700"/>
              </a:spcAft>
            </a:pPr>
            <a:r>
              <a:rPr sz="900">
                <a:solidFill>
                  <a:srgbClr val="177878"/>
                </a:solidFill>
                <a:latin typeface="Calibri"/>
              </a:rPr>
              <a:t>●  </a:t>
            </a:r>
            <a:r>
              <a:rPr sz="1500" b="1">
                <a:solidFill>
                  <a:srgbClr val="0F1B2D"/>
                </a:solidFill>
                <a:latin typeface="Calibri"/>
              </a:rPr>
              <a:t>Approvals by a different person.</a:t>
            </a:r>
            <a:r>
              <a:rPr sz="1500" b="0">
                <a:solidFill>
                  <a:srgbClr val="0F1B2D"/>
                </a:solidFill>
                <a:latin typeface="Calibri"/>
              </a:rPr>
              <a:t> Maker and checker differ. Approved is locked.</a:t>
            </a:r>
          </a:p>
          <a:p>
            <a:pPr>
              <a:spcAft>
                <a:spcPts val="700"/>
              </a:spcAft>
            </a:pPr>
            <a:r>
              <a:rPr sz="900">
                <a:solidFill>
                  <a:srgbClr val="177878"/>
                </a:solidFill>
                <a:latin typeface="Calibri"/>
              </a:rPr>
              <a:t>●  </a:t>
            </a:r>
            <a:r>
              <a:rPr sz="1500" b="1">
                <a:solidFill>
                  <a:srgbClr val="0F1B2D"/>
                </a:solidFill>
                <a:latin typeface="Calibri"/>
              </a:rPr>
              <a:t>Text in files is data, never instructions.</a:t>
            </a:r>
            <a:r>
              <a:rPr sz="1500" b="0">
                <a:solidFill>
                  <a:srgbClr val="0F1B2D"/>
                </a:solidFill>
                <a:latin typeface="Calibri"/>
              </a:rPr>
              <a:t> Agents cannot approve or send.</a:t>
            </a:r>
          </a:p>
        </p:txBody>
      </p:sp>
      <p:sp>
        <p:nvSpPr>
          <p:cNvPr id="8" name="Rectangle 7"/>
          <p:cNvSpPr/>
          <p:nvPr/>
        </p:nvSpPr>
        <p:spPr>
          <a:xfrm>
            <a:off x="685800" y="4297680"/>
            <a:ext cx="10817352" cy="777240"/>
          </a:xfrm>
          <a:prstGeom prst="rect">
            <a:avLst/>
          </a:prstGeom>
          <a:solidFill>
            <a:srgbClr val="FBE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4297680"/>
            <a:ext cx="64008" cy="777240"/>
          </a:xfrm>
          <a:prstGeom prst="rect">
            <a:avLst/>
          </a:prstGeom>
          <a:solidFill>
            <a:srgbClr val="E0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343400"/>
            <a:ext cx="10588752" cy="685800"/>
          </a:xfrm>
          <a:prstGeom prst="rect">
            <a:avLst/>
          </a:prstGeom>
          <a:noFill/>
        </p:spPr>
        <p:txBody>
          <a:bodyPr wrap="square" lIns="45720" rIns="45720" tIns="27432" bIns="27432" anchor="ctr">
            <a:spAutoFit/>
          </a:bodyPr>
          <a:lstStyle/>
          <a:p>
            <a:r>
              <a:rPr sz="1400" b="1">
                <a:solidFill>
                  <a:srgbClr val="0F1B2D"/>
                </a:solidFill>
                <a:latin typeface="Calibri"/>
              </a:rPr>
              <a:t>Run tracking:</a:t>
            </a:r>
            <a:r>
              <a:rPr sz="1400" b="0">
                <a:solidFill>
                  <a:srgbClr val="0F1B2D"/>
                </a:solidFill>
                <a:latin typeface="Calibri"/>
              </a:rPr>
              <a:t> every run, test or production, has a run ID, its person, its trigger and its steps. Slide 13 shows the chain from file to gold figure.</a:t>
            </a:r>
          </a:p>
        </p:txBody>
      </p:sp>
      <p:sp>
        <p:nvSpPr>
          <p:cNvPr id="11" name="TextBox 10"/>
          <p:cNvSpPr txBox="1"/>
          <p:nvPr/>
        </p:nvSpPr>
        <p:spPr>
          <a:xfrm>
            <a:off x="685800" y="5303520"/>
            <a:ext cx="10789920" cy="548640"/>
          </a:xfrm>
          <a:prstGeom prst="rect">
            <a:avLst/>
          </a:prstGeom>
          <a:noFill/>
        </p:spPr>
        <p:txBody>
          <a:bodyPr wrap="square" lIns="45720" rIns="45720" tIns="27432" bIns="27432">
            <a:spAutoFit/>
          </a:bodyPr>
          <a:lstStyle/>
          <a:p>
            <a:r>
              <a:rPr sz="1200" b="0">
                <a:solidFill>
                  <a:srgbClr val="5B6678"/>
                </a:solidFill>
                <a:latin typeface="Calibri"/>
              </a:rPr>
              <a:t>Demo data is synthetic. Production controls (keys, roles, retention) are set per office during rollout.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Kicker"/>
          <p:cNvSpPr txBox="1"/>
          <p:nvPr/>
        </p:nvSpPr>
        <p:spPr>
          <a:xfrm>
            <a:off x="685800" y="384048"/>
            <a:ext cx="10789920" cy="274320"/>
          </a:xfrm>
          <a:prstGeom prst="rect">
            <a:avLst/>
          </a:prstGeom>
          <a:noFill/>
        </p:spPr>
        <p:txBody>
          <a:bodyPr wrap="square" lIns="45720" rIns="45720" tIns="27432" bIns="27432">
            <a:spAutoFit/>
          </a:bodyPr>
          <a:lstStyle/>
          <a:p>
            <a:r>
              <a:rPr sz="1100" b="1">
                <a:solidFill>
                  <a:srgbClr val="177878"/>
                </a:solidFill>
                <a:latin typeface="Calibri"/>
              </a:rPr>
              <a:t>OPERATING EFFICIENCY</a:t>
            </a:r>
          </a:p>
        </p:txBody>
      </p:sp>
      <p:sp>
        <p:nvSpPr>
          <p:cNvPr id="3" name="Title"/>
          <p:cNvSpPr txBox="1"/>
          <p:nvPr/>
        </p:nvSpPr>
        <p:spPr>
          <a:xfrm>
            <a:off x="685800" y="658368"/>
            <a:ext cx="10789920" cy="914400"/>
          </a:xfrm>
          <a:prstGeom prst="rect">
            <a:avLst/>
          </a:prstGeom>
          <a:noFill/>
        </p:spPr>
        <p:txBody>
          <a:bodyPr wrap="square" lIns="45720" rIns="45720" tIns="27432" bIns="27432">
            <a:spAutoFit/>
          </a:bodyPr>
          <a:lstStyle/>
          <a:p>
            <a:r>
              <a:rPr sz="2700" b="1">
                <a:solidFill>
                  <a:srgbClr val="0F1B2D"/>
                </a:solidFill>
                <a:latin typeface="Georgia"/>
              </a:rPr>
              <a:t>One monthly report: measured in our walkthrough, against a typical manual month.</a:t>
            </a:r>
          </a:p>
        </p:txBody>
      </p:sp>
      <p:sp>
        <p:nvSpPr>
          <p:cNvPr id="4" name="Footer"/>
          <p:cNvSpPr txBox="1"/>
          <p:nvPr/>
        </p:nvSpPr>
        <p:spPr>
          <a:xfrm>
            <a:off x="685800" y="6446520"/>
            <a:ext cx="9144000" cy="274320"/>
          </a:xfrm>
          <a:prstGeom prst="rect">
            <a:avLst/>
          </a:prstGeom>
          <a:noFill/>
        </p:spPr>
        <p:txBody>
          <a:bodyPr wrap="square" lIns="45720" rIns="45720" tIns="27432" bIns="27432">
            <a:spAutoFit/>
          </a:bodyPr>
          <a:lstStyle/>
          <a:p>
            <a:r>
              <a:rPr sz="900" b="0">
                <a:solidFill>
                  <a:srgbClr val="5B6678"/>
                </a:solidFill>
                <a:latin typeface="Calibri"/>
              </a:rPr>
              <a:t>Measured = from the walkthrough of 11 Oct 2026 (synthetic data). Estimated = to validate.</a:t>
            </a:r>
          </a:p>
        </p:txBody>
      </p:sp>
      <p:sp>
        <p:nvSpPr>
          <p:cNvPr id="5" name="Slide number"/>
          <p:cNvSpPr txBox="1"/>
          <p:nvPr/>
        </p:nvSpPr>
        <p:spPr>
          <a:xfrm>
            <a:off x="10607040" y="6446520"/>
            <a:ext cx="914400" cy="274320"/>
          </a:xfrm>
          <a:prstGeom prst="rect">
            <a:avLst/>
          </a:prstGeom>
          <a:noFill/>
        </p:spPr>
        <p:txBody>
          <a:bodyPr wrap="square" lIns="45720" rIns="45720" tIns="27432" bIns="27432">
            <a:spAutoFit/>
          </a:bodyPr>
          <a:lstStyle/>
          <a:p>
            <a:pPr algn="r"/>
            <a:r>
              <a:rPr sz="900" b="0">
                <a:solidFill>
                  <a:srgbClr val="5B6678"/>
                </a:solidFill>
                <a:latin typeface="Calibri"/>
              </a:rPr>
              <a:t>17 / 20</a:t>
            </a:r>
          </a:p>
        </p:txBody>
      </p:sp>
      <p:graphicFrame>
        <p:nvGraphicFramePr>
          <p:cNvPr id="6" name="Table 5"/>
          <p:cNvGraphicFramePr>
            <a:graphicFrameLocks noGrp="1"/>
          </p:cNvGraphicFramePr>
          <p:nvPr/>
        </p:nvGraphicFramePr>
        <p:xfrm>
          <a:off x="685800" y="1737360"/>
          <a:ext cx="10817350" cy="2953512"/>
        </p:xfrm>
        <a:graphic>
          <a:graphicData uri="http://schemas.openxmlformats.org/drawingml/2006/table">
            <a:tbl>
              <a:tblPr firstRow="1" bandRow="1">
                <a:tableStyleId>{5C22544A-7EE6-4342-B048-85BDC9FD1C3A}</a:tableStyleId>
              </a:tblPr>
              <a:tblGrid>
                <a:gridCol w="2016794"/>
                <a:gridCol w="4400278"/>
                <a:gridCol w="4400278"/>
              </a:tblGrid>
              <a:tr h="347472">
                <a:tc>
                  <a:txBody>
                    <a:bodyPr wrap="square"/>
                    <a:lstStyle/>
                    <a:p>
                      <a:r>
                        <a:rPr sz="1050" b="1">
                          <a:solidFill>
                            <a:srgbClr val="FFFFFF"/>
                          </a:solidFill>
                          <a:latin typeface="Calibri"/>
                        </a:rPr>
                        <a:t>WHAT</a:t>
                      </a:r>
                    </a:p>
                  </a:txBody>
                  <a:tcPr marL="73152" marR="73152" marT="36576" marB="36576">
                    <a:solidFill>
                      <a:srgbClr val="0F1B2D"/>
                    </a:solidFill>
                  </a:tcPr>
                </a:tc>
                <a:tc>
                  <a:txBody>
                    <a:bodyPr wrap="square"/>
                    <a:lstStyle/>
                    <a:p>
                      <a:r>
                        <a:rPr sz="1050" b="1">
                          <a:solidFill>
                            <a:srgbClr val="FFFFFF"/>
                          </a:solidFill>
                          <a:latin typeface="Calibri"/>
                        </a:rPr>
                        <a:t>MEASURED IN OUR WALKTHROUGH</a:t>
                      </a:r>
                    </a:p>
                  </a:txBody>
                  <a:tcPr marL="73152" marR="73152" marT="36576" marB="36576">
                    <a:solidFill>
                      <a:srgbClr val="0F1B2D"/>
                    </a:solidFill>
                  </a:tcPr>
                </a:tc>
                <a:tc>
                  <a:txBody>
                    <a:bodyPr wrap="square"/>
                    <a:lstStyle/>
                    <a:p>
                      <a:r>
                        <a:rPr sz="1050" b="1">
                          <a:solidFill>
                            <a:srgbClr val="FFFFFF"/>
                          </a:solidFill>
                          <a:latin typeface="Calibri"/>
                        </a:rPr>
                        <a:t>TYPICAL MANUAL MONTH-END</a:t>
                      </a:r>
                    </a:p>
                  </a:txBody>
                  <a:tcPr marL="73152" marR="73152" marT="36576" marB="36576">
                    <a:solidFill>
                      <a:srgbClr val="0F1B2D"/>
                    </a:solidFill>
                  </a:tcPr>
                </a:tc>
              </a:tr>
              <a:tr h="868680">
                <a:tc>
                  <a:txBody>
                    <a:bodyPr wrap="square"/>
                    <a:lstStyle/>
                    <a:p>
                      <a:r>
                        <a:rPr sz="1300" b="0">
                          <a:solidFill>
                            <a:srgbClr val="0F1B2D"/>
                          </a:solidFill>
                          <a:latin typeface="Calibri"/>
                        </a:rPr>
                        <a:t>Time to a delivered report</a:t>
                      </a:r>
                    </a:p>
                  </a:txBody>
                  <a:tcPr marL="73152" marR="73152" marT="36576" marB="36576">
                    <a:solidFill>
                      <a:srgbClr val="FFFFFF"/>
                    </a:solidFill>
                  </a:tcPr>
                </a:tc>
                <a:tc>
                  <a:txBody>
                    <a:bodyPr wrap="square"/>
                    <a:lstStyle/>
                    <a:p>
                      <a:r>
                        <a:rPr sz="1300" b="1">
                          <a:solidFill>
                            <a:srgbClr val="177878"/>
                          </a:solidFill>
                          <a:latin typeface="Calibri"/>
                        </a:rPr>
                        <a:t>MEASURED</a:t>
                      </a:r>
                      <a:r>
                        <a:rPr sz="1300" b="0">
                          <a:solidFill>
                            <a:srgbClr val="0F1B2D"/>
                          </a:solidFill>
                          <a:latin typeface="Calibri"/>
                        </a:rPr>
                        <a:t>  About 45 minutes, first words to delivery live, of which about 10 minutes was the conversation.</a:t>
                      </a:r>
                    </a:p>
                  </a:txBody>
                  <a:tcPr marL="73152" marR="73152" marT="36576" marB="36576">
                    <a:solidFill>
                      <a:srgbClr val="FFFFFF"/>
                    </a:solidFill>
                  </a:tcPr>
                </a:tc>
                <a:tc>
                  <a:txBody>
                    <a:bodyPr wrap="square"/>
                    <a:lstStyle/>
                    <a:p>
                      <a:r>
                        <a:rPr sz="1300" b="1">
                          <a:solidFill>
                            <a:srgbClr val="7A4E0C"/>
                          </a:solidFill>
                          <a:latin typeface="Calibri"/>
                        </a:rPr>
                        <a:t>ESTIMATED</a:t>
                      </a:r>
                      <a:r>
                        <a:rPr sz="1300" b="0">
                          <a:solidFill>
                            <a:srgbClr val="0F1B2D"/>
                          </a:solidFill>
                          <a:latin typeface="Calibri"/>
                        </a:rPr>
                        <a:t>  Typically two working days of spreadsheet work, to be validated with your team.</a:t>
                      </a:r>
                    </a:p>
                  </a:txBody>
                  <a:tcPr marL="73152" marR="73152" marT="36576" marB="36576">
                    <a:solidFill>
                      <a:srgbClr val="FFFFFF"/>
                    </a:solidFill>
                  </a:tcPr>
                </a:tc>
              </a:tr>
              <a:tr h="868680">
                <a:tc>
                  <a:txBody>
                    <a:bodyPr wrap="square"/>
                    <a:lstStyle/>
                    <a:p>
                      <a:r>
                        <a:rPr sz="1300" b="0">
                          <a:solidFill>
                            <a:srgbClr val="0F1B2D"/>
                          </a:solidFill>
                          <a:latin typeface="Calibri"/>
                        </a:rPr>
                        <a:t>People involved</a:t>
                      </a:r>
                    </a:p>
                  </a:txBody>
                  <a:tcPr marL="73152" marR="73152" marT="36576" marB="36576">
                    <a:solidFill>
                      <a:srgbClr val="FAF9F6"/>
                    </a:solidFill>
                  </a:tcPr>
                </a:tc>
                <a:tc>
                  <a:txBody>
                    <a:bodyPr wrap="square"/>
                    <a:lstStyle/>
                    <a:p>
                      <a:r>
                        <a:rPr sz="1300" b="1">
                          <a:solidFill>
                            <a:srgbClr val="177878"/>
                          </a:solidFill>
                          <a:latin typeface="Calibri"/>
                        </a:rPr>
                        <a:t>MEASURED</a:t>
                      </a:r>
                      <a:r>
                        <a:rPr sz="1300" b="0">
                          <a:solidFill>
                            <a:srgbClr val="0F1B2D"/>
                          </a:solidFill>
                          <a:latin typeface="Calibri"/>
                        </a:rPr>
                        <a:t>  Four people, each acting at their own points. Agents ran and checked between them.</a:t>
                      </a:r>
                    </a:p>
                  </a:txBody>
                  <a:tcPr marL="73152" marR="73152" marT="36576" marB="36576">
                    <a:solidFill>
                      <a:srgbClr val="FAF9F6"/>
                    </a:solidFill>
                  </a:tcPr>
                </a:tc>
                <a:tc>
                  <a:txBody>
                    <a:bodyPr wrap="square"/>
                    <a:lstStyle/>
                    <a:p>
                      <a:r>
                        <a:rPr sz="1300" b="1">
                          <a:solidFill>
                            <a:srgbClr val="7A4E0C"/>
                          </a:solidFill>
                          <a:latin typeface="Calibri"/>
                        </a:rPr>
                        <a:t>ESTIMATED</a:t>
                      </a:r>
                      <a:r>
                        <a:rPr sz="1300" b="0">
                          <a:solidFill>
                            <a:srgbClr val="0F1B2D"/>
                          </a:solidFill>
                          <a:latin typeface="Calibri"/>
                        </a:rPr>
                        <a:t>  An analyst and a reviewer, plus time chasing statements. To be validated.</a:t>
                      </a:r>
                    </a:p>
                  </a:txBody>
                  <a:tcPr marL="73152" marR="73152" marT="36576" marB="36576">
                    <a:solidFill>
                      <a:srgbClr val="FAF9F6"/>
                    </a:solidFill>
                  </a:tcPr>
                </a:tc>
              </a:tr>
              <a:tr h="868680">
                <a:tc>
                  <a:txBody>
                    <a:bodyPr wrap="square"/>
                    <a:lstStyle/>
                    <a:p>
                      <a:r>
                        <a:rPr sz="1300" b="0">
                          <a:solidFill>
                            <a:srgbClr val="0F1B2D"/>
                          </a:solidFill>
                          <a:latin typeface="Calibri"/>
                        </a:rPr>
                        <a:t>Model cost</a:t>
                      </a:r>
                    </a:p>
                  </a:txBody>
                  <a:tcPr marL="73152" marR="73152" marT="36576" marB="36576">
                    <a:solidFill>
                      <a:srgbClr val="FFFFFF"/>
                    </a:solidFill>
                  </a:tcPr>
                </a:tc>
                <a:tc>
                  <a:txBody>
                    <a:bodyPr wrap="square"/>
                    <a:lstStyle/>
                    <a:p>
                      <a:r>
                        <a:rPr sz="1300" b="1">
                          <a:solidFill>
                            <a:srgbClr val="177878"/>
                          </a:solidFill>
                          <a:latin typeface="Calibri"/>
                        </a:rPr>
                        <a:t>MEASURED</a:t>
                      </a:r>
                      <a:r>
                        <a:rPr sz="1300" b="0">
                          <a:solidFill>
                            <a:srgbClr val="0F1B2D"/>
                          </a:solidFill>
                          <a:latin typeface="Calibri"/>
                        </a:rPr>
                        <a:t>  About USD 0.01 for the whole run (test mode, 26 model calls).</a:t>
                      </a:r>
                    </a:p>
                  </a:txBody>
                  <a:tcPr marL="73152" marR="73152" marT="36576" marB="36576">
                    <a:solidFill>
                      <a:srgbClr val="FFFFFF"/>
                    </a:solidFill>
                  </a:tcPr>
                </a:tc>
                <a:tc>
                  <a:txBody>
                    <a:bodyPr wrap="square"/>
                    <a:lstStyle/>
                    <a:p>
                      <a:r>
                        <a:rPr sz="1300" b="1">
                          <a:solidFill>
                            <a:srgbClr val="7A4E0C"/>
                          </a:solidFill>
                          <a:latin typeface="Calibri"/>
                        </a:rPr>
                        <a:t>ESTIMATED</a:t>
                      </a:r>
                      <a:r>
                        <a:rPr sz="1300" b="0">
                          <a:solidFill>
                            <a:srgbClr val="0F1B2D"/>
                          </a:solidFill>
                          <a:latin typeface="Calibri"/>
                        </a:rPr>
                        <a:t>  No model cost; the cost is staff time.</a:t>
                      </a:r>
                    </a:p>
                  </a:txBody>
                  <a:tcPr marL="73152" marR="73152" marT="36576" marB="36576">
                    <a:solidFill>
                      <a:srgbClr val="FFFFFF"/>
                    </a:solidFill>
                  </a:tcPr>
                </a:tc>
              </a:tr>
            </a:tbl>
          </a:graphicData>
        </a:graphic>
      </p:graphicFrame>
      <p:sp>
        <p:nvSpPr>
          <p:cNvPr id="7" name="Rectangle 6"/>
          <p:cNvSpPr/>
          <p:nvPr/>
        </p:nvSpPr>
        <p:spPr>
          <a:xfrm>
            <a:off x="685800" y="5029200"/>
            <a:ext cx="10817352" cy="822960"/>
          </a:xfrm>
          <a:prstGeom prst="rect">
            <a:avLst/>
          </a:prstGeom>
          <a:solidFill>
            <a:srgbClr val="FBE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5029200"/>
            <a:ext cx="64008" cy="822960"/>
          </a:xfrm>
          <a:prstGeom prst="rect">
            <a:avLst/>
          </a:prstGeom>
          <a:solidFill>
            <a:srgbClr val="E0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074920"/>
            <a:ext cx="10588752" cy="731520"/>
          </a:xfrm>
          <a:prstGeom prst="rect">
            <a:avLst/>
          </a:prstGeom>
          <a:noFill/>
        </p:spPr>
        <p:txBody>
          <a:bodyPr wrap="square" lIns="45720" rIns="45720" tIns="27432" bIns="27432" anchor="ctr">
            <a:spAutoFit/>
          </a:bodyPr>
          <a:lstStyle/>
          <a:p>
            <a:r>
              <a:rPr sz="1300" b="0">
                <a:solidFill>
                  <a:srgbClr val="0F1B2D"/>
                </a:solidFill>
                <a:latin typeface="Calibri"/>
              </a:rPr>
              <a:t>Not included in the 45 minutes: waiting for managers to send statements, and any real corrections found later. The manual figures are typical, not measured in your office.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Kicker"/>
          <p:cNvSpPr txBox="1"/>
          <p:nvPr/>
        </p:nvSpPr>
        <p:spPr>
          <a:xfrm>
            <a:off x="685800" y="384048"/>
            <a:ext cx="10789920" cy="274320"/>
          </a:xfrm>
          <a:prstGeom prst="rect">
            <a:avLst/>
          </a:prstGeom>
          <a:noFill/>
        </p:spPr>
        <p:txBody>
          <a:bodyPr wrap="square" lIns="45720" rIns="45720" tIns="27432" bIns="27432">
            <a:spAutoFit/>
          </a:bodyPr>
          <a:lstStyle/>
          <a:p>
            <a:r>
              <a:rPr sz="1100" b="1">
                <a:solidFill>
                  <a:srgbClr val="177878"/>
                </a:solidFill>
                <a:latin typeface="Calibri"/>
              </a:rPr>
              <a:t>ROLLOUT PLAN</a:t>
            </a:r>
          </a:p>
        </p:txBody>
      </p:sp>
      <p:sp>
        <p:nvSpPr>
          <p:cNvPr id="3" name="Title"/>
          <p:cNvSpPr txBox="1"/>
          <p:nvPr/>
        </p:nvSpPr>
        <p:spPr>
          <a:xfrm>
            <a:off x="685800" y="658368"/>
            <a:ext cx="10789920" cy="914400"/>
          </a:xfrm>
          <a:prstGeom prst="rect">
            <a:avLst/>
          </a:prstGeom>
          <a:noFill/>
        </p:spPr>
        <p:txBody>
          <a:bodyPr wrap="square" lIns="45720" rIns="45720" tIns="27432" bIns="27432">
            <a:spAutoFit/>
          </a:bodyPr>
          <a:lstStyle/>
          <a:p>
            <a:r>
              <a:rPr sz="2700" b="1">
                <a:solidFill>
                  <a:srgbClr val="0F1B2D"/>
                </a:solidFill>
                <a:latin typeface="Georgia"/>
              </a:rPr>
              <a:t>Start with one use case in two to four weeks, then add the next.</a:t>
            </a:r>
          </a:p>
        </p:txBody>
      </p:sp>
      <p:sp>
        <p:nvSpPr>
          <p:cNvPr id="4" name="Footer"/>
          <p:cNvSpPr txBox="1"/>
          <p:nvPr/>
        </p:nvSpPr>
        <p:spPr>
          <a:xfrm>
            <a:off x="685800" y="6446520"/>
            <a:ext cx="9144000" cy="274320"/>
          </a:xfrm>
          <a:prstGeom prst="rect">
            <a:avLst/>
          </a:prstGeom>
          <a:noFill/>
        </p:spPr>
        <p:txBody>
          <a:bodyPr wrap="square" lIns="45720" rIns="45720" tIns="27432" bIns="27432">
            <a:spAutoFit/>
          </a:bodyPr>
          <a:lstStyle/>
          <a:p>
            <a:r>
              <a:rPr sz="900" b="0">
                <a:solidFill>
                  <a:srgbClr val="5B6678"/>
                </a:solidFill>
                <a:latin typeface="Calibri"/>
              </a:rPr>
              <a:t>Signal Harbor</a:t>
            </a:r>
          </a:p>
        </p:txBody>
      </p:sp>
      <p:sp>
        <p:nvSpPr>
          <p:cNvPr id="5" name="Slide number"/>
          <p:cNvSpPr txBox="1"/>
          <p:nvPr/>
        </p:nvSpPr>
        <p:spPr>
          <a:xfrm>
            <a:off x="10607040" y="6446520"/>
            <a:ext cx="914400" cy="274320"/>
          </a:xfrm>
          <a:prstGeom prst="rect">
            <a:avLst/>
          </a:prstGeom>
          <a:noFill/>
        </p:spPr>
        <p:txBody>
          <a:bodyPr wrap="square" lIns="45720" rIns="45720" tIns="27432" bIns="27432">
            <a:spAutoFit/>
          </a:bodyPr>
          <a:lstStyle/>
          <a:p>
            <a:pPr algn="r"/>
            <a:r>
              <a:rPr sz="900" b="0">
                <a:solidFill>
                  <a:srgbClr val="5B6678"/>
                </a:solidFill>
                <a:latin typeface="Calibri"/>
              </a:rPr>
              <a:t>18 / 20</a:t>
            </a:r>
          </a:p>
        </p:txBody>
      </p:sp>
      <p:sp>
        <p:nvSpPr>
          <p:cNvPr id="6" name="Rounded Rectangle 5"/>
          <p:cNvSpPr/>
          <p:nvPr/>
        </p:nvSpPr>
        <p:spPr>
          <a:xfrm>
            <a:off x="685800" y="1783080"/>
            <a:ext cx="2560320" cy="201168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2286000" cy="365760"/>
          </a:xfrm>
          <a:prstGeom prst="rect">
            <a:avLst/>
          </a:prstGeom>
          <a:noFill/>
        </p:spPr>
        <p:txBody>
          <a:bodyPr wrap="square" lIns="45720" rIns="45720" tIns="27432" bIns="27432">
            <a:spAutoFit/>
          </a:bodyPr>
          <a:lstStyle/>
          <a:p>
            <a:r>
              <a:rPr sz="1600" b="1">
                <a:solidFill>
                  <a:srgbClr val="177878"/>
                </a:solidFill>
                <a:latin typeface="Georgia"/>
              </a:rPr>
              <a:t>1 · Choose</a:t>
            </a:r>
          </a:p>
        </p:txBody>
      </p:sp>
      <p:sp>
        <p:nvSpPr>
          <p:cNvPr id="8" name="TextBox 7"/>
          <p:cNvSpPr txBox="1"/>
          <p:nvPr/>
        </p:nvSpPr>
        <p:spPr>
          <a:xfrm>
            <a:off x="822960" y="2286000"/>
            <a:ext cx="2286000" cy="1463040"/>
          </a:xfrm>
          <a:prstGeom prst="rect">
            <a:avLst/>
          </a:prstGeom>
          <a:noFill/>
        </p:spPr>
        <p:txBody>
          <a:bodyPr wrap="square" lIns="45720" rIns="45720" tIns="27432" bIns="27432">
            <a:spAutoFit/>
          </a:bodyPr>
          <a:lstStyle/>
          <a:p>
            <a:r>
              <a:rPr sz="1300" b="0">
                <a:solidFill>
                  <a:srgbClr val="0F1B2D"/>
                </a:solidFill>
                <a:latin typeface="Calibri"/>
              </a:rPr>
              <a:t>One use case with an owner. Proposed: the monthly portfolio against its benchmark.</a:t>
            </a:r>
          </a:p>
        </p:txBody>
      </p:sp>
      <p:sp>
        <p:nvSpPr>
          <p:cNvPr id="9" name="Rounded Rectangle 8"/>
          <p:cNvSpPr/>
          <p:nvPr/>
        </p:nvSpPr>
        <p:spPr>
          <a:xfrm>
            <a:off x="3429000" y="1783080"/>
            <a:ext cx="2560320" cy="201168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1874519"/>
            <a:ext cx="2286000" cy="365760"/>
          </a:xfrm>
          <a:prstGeom prst="rect">
            <a:avLst/>
          </a:prstGeom>
          <a:noFill/>
        </p:spPr>
        <p:txBody>
          <a:bodyPr wrap="square" lIns="45720" rIns="45720" tIns="27432" bIns="27432">
            <a:spAutoFit/>
          </a:bodyPr>
          <a:lstStyle/>
          <a:p>
            <a:r>
              <a:rPr sz="1600" b="1">
                <a:solidFill>
                  <a:srgbClr val="177878"/>
                </a:solidFill>
                <a:latin typeface="Georgia"/>
              </a:rPr>
              <a:t>2 · Prove</a:t>
            </a:r>
          </a:p>
        </p:txBody>
      </p:sp>
      <p:sp>
        <p:nvSpPr>
          <p:cNvPr id="11" name="TextBox 10"/>
          <p:cNvSpPr txBox="1"/>
          <p:nvPr/>
        </p:nvSpPr>
        <p:spPr>
          <a:xfrm>
            <a:off x="3566160" y="2286000"/>
            <a:ext cx="2286000" cy="1463040"/>
          </a:xfrm>
          <a:prstGeom prst="rect">
            <a:avLst/>
          </a:prstGeom>
          <a:noFill/>
        </p:spPr>
        <p:txBody>
          <a:bodyPr wrap="square" lIns="45720" rIns="45720" tIns="27432" bIns="27432">
            <a:spAutoFit/>
          </a:bodyPr>
          <a:lstStyle/>
          <a:p>
            <a:r>
              <a:rPr sz="1300" b="0">
                <a:solidFill>
                  <a:srgbClr val="0F1B2D"/>
                </a:solidFill>
                <a:latin typeface="Calibri"/>
              </a:rPr>
              <a:t>Build on synthetic or pilot files. Check every line against a report already issued.</a:t>
            </a:r>
          </a:p>
        </p:txBody>
      </p:sp>
      <p:sp>
        <p:nvSpPr>
          <p:cNvPr id="12" name="Rounded Rectangle 11"/>
          <p:cNvSpPr/>
          <p:nvPr/>
        </p:nvSpPr>
        <p:spPr>
          <a:xfrm>
            <a:off x="6172200" y="1783080"/>
            <a:ext cx="2560320" cy="201168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1874519"/>
            <a:ext cx="2286000" cy="365760"/>
          </a:xfrm>
          <a:prstGeom prst="rect">
            <a:avLst/>
          </a:prstGeom>
          <a:noFill/>
        </p:spPr>
        <p:txBody>
          <a:bodyPr wrap="square" lIns="45720" rIns="45720" tIns="27432" bIns="27432">
            <a:spAutoFit/>
          </a:bodyPr>
          <a:lstStyle/>
          <a:p>
            <a:r>
              <a:rPr sz="1600" b="1">
                <a:solidFill>
                  <a:srgbClr val="177878"/>
                </a:solidFill>
                <a:latin typeface="Georgia"/>
              </a:rPr>
              <a:t>3 · Run alongside</a:t>
            </a:r>
          </a:p>
        </p:txBody>
      </p:sp>
      <p:sp>
        <p:nvSpPr>
          <p:cNvPr id="14" name="TextBox 13"/>
          <p:cNvSpPr txBox="1"/>
          <p:nvPr/>
        </p:nvSpPr>
        <p:spPr>
          <a:xfrm>
            <a:off x="6309360" y="2286000"/>
            <a:ext cx="2286000" cy="1463040"/>
          </a:xfrm>
          <a:prstGeom prst="rect">
            <a:avLst/>
          </a:prstGeom>
          <a:noFill/>
        </p:spPr>
        <p:txBody>
          <a:bodyPr wrap="square" lIns="45720" rIns="45720" tIns="27432" bIns="27432">
            <a:spAutoFit/>
          </a:bodyPr>
          <a:lstStyle/>
          <a:p>
            <a:r>
              <a:rPr sz="1300" b="0">
                <a:solidFill>
                  <a:srgbClr val="0F1B2D"/>
                </a:solidFill>
                <a:latin typeface="Calibri"/>
              </a:rPr>
              <a:t>One real month-end in parallel with the current process. Head of data signs off.</a:t>
            </a:r>
          </a:p>
        </p:txBody>
      </p:sp>
      <p:sp>
        <p:nvSpPr>
          <p:cNvPr id="15" name="Rounded Rectangle 14"/>
          <p:cNvSpPr/>
          <p:nvPr/>
        </p:nvSpPr>
        <p:spPr>
          <a:xfrm>
            <a:off x="8915400" y="1783080"/>
            <a:ext cx="2560320" cy="2011680"/>
          </a:xfrm>
          <a:prstGeom prst="roundRect">
            <a:avLst>
              <a:gd name="adj" fmla="val 6000"/>
            </a:avLst>
          </a:prstGeom>
          <a:solidFill>
            <a:srgbClr val="FFFFFF"/>
          </a:solidFill>
          <a:ln w="12700">
            <a:solidFill>
              <a:srgbClr val="D9D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1874519"/>
            <a:ext cx="2286000" cy="365760"/>
          </a:xfrm>
          <a:prstGeom prst="rect">
            <a:avLst/>
          </a:prstGeom>
          <a:noFill/>
        </p:spPr>
        <p:txBody>
          <a:bodyPr wrap="square" lIns="45720" rIns="45720" tIns="27432" bIns="27432">
            <a:spAutoFit/>
          </a:bodyPr>
          <a:lstStyle/>
          <a:p>
            <a:r>
              <a:rPr sz="1600" b="1">
                <a:solidFill>
                  <a:srgbClr val="177878"/>
                </a:solidFill>
                <a:latin typeface="Georgia"/>
              </a:rPr>
              <a:t>4 · Extend</a:t>
            </a:r>
          </a:p>
        </p:txBody>
      </p:sp>
      <p:sp>
        <p:nvSpPr>
          <p:cNvPr id="17" name="TextBox 16"/>
          <p:cNvSpPr txBox="1"/>
          <p:nvPr/>
        </p:nvSpPr>
        <p:spPr>
          <a:xfrm>
            <a:off x="9052560" y="2286000"/>
            <a:ext cx="2286000" cy="1463040"/>
          </a:xfrm>
          <a:prstGeom prst="rect">
            <a:avLst/>
          </a:prstGeom>
          <a:noFill/>
        </p:spPr>
        <p:txBody>
          <a:bodyPr wrap="square" lIns="45720" rIns="45720" tIns="27432" bIns="27432">
            <a:spAutoFit/>
          </a:bodyPr>
          <a:lstStyle/>
          <a:p>
            <a:r>
              <a:rPr sz="1300" b="0">
                <a:solidFill>
                  <a:srgbClr val="0F1B2D"/>
                </a:solidFill>
                <a:latin typeface="Calibri"/>
              </a:rPr>
              <a:t>Add the next use case on the same design and approvals, one at a time.</a:t>
            </a:r>
          </a:p>
        </p:txBody>
      </p:sp>
      <p:sp>
        <p:nvSpPr>
          <p:cNvPr id="18" name="Bullets"/>
          <p:cNvSpPr txBox="1"/>
          <p:nvPr/>
        </p:nvSpPr>
        <p:spPr>
          <a:xfrm>
            <a:off x="685800" y="4160520"/>
            <a:ext cx="5212080" cy="1828800"/>
          </a:xfrm>
          <a:prstGeom prst="rect">
            <a:avLst/>
          </a:prstGeom>
          <a:noFill/>
        </p:spPr>
        <p:txBody>
          <a:bodyPr wrap="square">
            <a:spAutoFit/>
          </a:bodyPr>
          <a:lstStyle/>
          <a:p>
            <a:pPr>
              <a:spcAft>
                <a:spcPts val="700"/>
              </a:spcAft>
            </a:pPr>
            <a:r>
              <a:rPr sz="840">
                <a:solidFill>
                  <a:srgbClr val="177878"/>
                </a:solidFill>
                <a:latin typeface="Calibri"/>
              </a:rPr>
              <a:t>●  </a:t>
            </a:r>
            <a:r>
              <a:rPr sz="1400" b="1">
                <a:solidFill>
                  <a:srgbClr val="0F1B2D"/>
                </a:solidFill>
                <a:latin typeface="Calibri"/>
              </a:rPr>
              <a:t>Pilot data first.</a:t>
            </a:r>
            <a:r>
              <a:rPr sz="1400" b="0">
                <a:solidFill>
                  <a:srgbClr val="0F1B2D"/>
                </a:solidFill>
                <a:latin typeface="Calibri"/>
              </a:rPr>
              <a:t> Synthetic or pilot files until the pack is approved.</a:t>
            </a:r>
          </a:p>
          <a:p>
            <a:pPr>
              <a:spcAft>
                <a:spcPts val="700"/>
              </a:spcAft>
            </a:pPr>
            <a:r>
              <a:rPr sz="840">
                <a:solidFill>
                  <a:srgbClr val="177878"/>
                </a:solidFill>
                <a:latin typeface="Calibri"/>
              </a:rPr>
              <a:t>●  </a:t>
            </a:r>
            <a:r>
              <a:rPr sz="1400" b="1">
                <a:solidFill>
                  <a:srgbClr val="0F1B2D"/>
                </a:solidFill>
                <a:latin typeface="Calibri"/>
              </a:rPr>
              <a:t>Hosting.</a:t>
            </a:r>
            <a:r>
              <a:rPr sz="1400" b="0">
                <a:solidFill>
                  <a:srgbClr val="0F1B2D"/>
                </a:solidFill>
                <a:latin typeface="Calibri"/>
              </a:rPr>
              <a:t> The demo platform today; your own cloud when the pilot ends.</a:t>
            </a:r>
          </a:p>
        </p:txBody>
      </p:sp>
      <p:sp>
        <p:nvSpPr>
          <p:cNvPr id="19" name="Bullets"/>
          <p:cNvSpPr txBox="1"/>
          <p:nvPr/>
        </p:nvSpPr>
        <p:spPr>
          <a:xfrm>
            <a:off x="6309360" y="4160520"/>
            <a:ext cx="5212080" cy="1828800"/>
          </a:xfrm>
          <a:prstGeom prst="rect">
            <a:avLst/>
          </a:prstGeom>
          <a:noFill/>
        </p:spPr>
        <p:txBody>
          <a:bodyPr wrap="square">
            <a:spAutoFit/>
          </a:bodyPr>
          <a:lstStyle/>
          <a:p>
            <a:pPr>
              <a:spcAft>
                <a:spcPts val="700"/>
              </a:spcAft>
            </a:pPr>
            <a:r>
              <a:rPr sz="840">
                <a:solidFill>
                  <a:srgbClr val="177878"/>
                </a:solidFill>
                <a:latin typeface="Calibri"/>
              </a:rPr>
              <a:t>●  </a:t>
            </a:r>
            <a:r>
              <a:rPr sz="1400" b="1">
                <a:solidFill>
                  <a:srgbClr val="0F1B2D"/>
                </a:solidFill>
                <a:latin typeface="Calibri"/>
              </a:rPr>
              <a:t>Success is measured.</a:t>
            </a:r>
            <a:r>
              <a:rPr sz="1400" b="0">
                <a:solidFill>
                  <a:srgbClr val="0F1B2D"/>
                </a:solidFill>
                <a:latin typeface="Calibri"/>
              </a:rPr>
              <a:t> The pilot report must tie to the issued figures line by line.</a:t>
            </a:r>
          </a:p>
          <a:p>
            <a:pPr>
              <a:spcAft>
                <a:spcPts val="700"/>
              </a:spcAft>
            </a:pPr>
            <a:r>
              <a:rPr sz="840">
                <a:solidFill>
                  <a:srgbClr val="177878"/>
                </a:solidFill>
                <a:latin typeface="Calibri"/>
              </a:rPr>
              <a:t>●  </a:t>
            </a:r>
            <a:r>
              <a:rPr sz="1400" b="1">
                <a:solidFill>
                  <a:srgbClr val="0F1B2D"/>
                </a:solidFill>
                <a:latin typeface="Calibri"/>
              </a:rPr>
              <a:t>Timing.</a:t>
            </a:r>
            <a:r>
              <a:rPr sz="1400" b="0">
                <a:solidFill>
                  <a:srgbClr val="0F1B2D"/>
                </a:solidFill>
                <a:latin typeface="Calibri"/>
              </a:rPr>
              <a:t> Two to four weeks to the first parallel run, depending on file access.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Kicker"/>
          <p:cNvSpPr txBox="1"/>
          <p:nvPr/>
        </p:nvSpPr>
        <p:spPr>
          <a:xfrm>
            <a:off x="685800" y="384048"/>
            <a:ext cx="10789920" cy="274320"/>
          </a:xfrm>
          <a:prstGeom prst="rect">
            <a:avLst/>
          </a:prstGeom>
          <a:noFill/>
        </p:spPr>
        <p:txBody>
          <a:bodyPr wrap="square" lIns="45720" rIns="45720" tIns="27432" bIns="27432">
            <a:spAutoFit/>
          </a:bodyPr>
          <a:lstStyle/>
          <a:p>
            <a:r>
              <a:rPr sz="1100" b="1">
                <a:solidFill>
                  <a:srgbClr val="177878"/>
                </a:solidFill>
                <a:latin typeface="Calibri"/>
              </a:rPr>
              <a:t>WHAT WE NEED FROM YOU</a:t>
            </a:r>
          </a:p>
        </p:txBody>
      </p:sp>
      <p:sp>
        <p:nvSpPr>
          <p:cNvPr id="3" name="Title"/>
          <p:cNvSpPr txBox="1"/>
          <p:nvPr/>
        </p:nvSpPr>
        <p:spPr>
          <a:xfrm>
            <a:off x="685800" y="658368"/>
            <a:ext cx="10789920" cy="914400"/>
          </a:xfrm>
          <a:prstGeom prst="rect">
            <a:avLst/>
          </a:prstGeom>
          <a:noFill/>
        </p:spPr>
        <p:txBody>
          <a:bodyPr wrap="square" lIns="45720" rIns="45720" tIns="27432" bIns="27432">
            <a:spAutoFit/>
          </a:bodyPr>
          <a:lstStyle/>
          <a:p>
            <a:r>
              <a:rPr sz="2700" b="1">
                <a:solidFill>
                  <a:srgbClr val="0F1B2D"/>
                </a:solidFill>
                <a:latin typeface="Georgia"/>
              </a:rPr>
              <a:t>Six decisions to start the pilot.</a:t>
            </a:r>
          </a:p>
        </p:txBody>
      </p:sp>
      <p:sp>
        <p:nvSpPr>
          <p:cNvPr id="4" name="Footer"/>
          <p:cNvSpPr txBox="1"/>
          <p:nvPr/>
        </p:nvSpPr>
        <p:spPr>
          <a:xfrm>
            <a:off x="685800" y="6446520"/>
            <a:ext cx="9144000" cy="274320"/>
          </a:xfrm>
          <a:prstGeom prst="rect">
            <a:avLst/>
          </a:prstGeom>
          <a:noFill/>
        </p:spPr>
        <p:txBody>
          <a:bodyPr wrap="square" lIns="45720" rIns="45720" tIns="27432" bIns="27432">
            <a:spAutoFit/>
          </a:bodyPr>
          <a:lstStyle/>
          <a:p>
            <a:r>
              <a:rPr sz="900" b="0">
                <a:solidFill>
                  <a:srgbClr val="5B6678"/>
                </a:solidFill>
                <a:latin typeface="Calibri"/>
              </a:rPr>
              <a:t>Signal Harbor</a:t>
            </a:r>
          </a:p>
        </p:txBody>
      </p:sp>
      <p:sp>
        <p:nvSpPr>
          <p:cNvPr id="5" name="Slide number"/>
          <p:cNvSpPr txBox="1"/>
          <p:nvPr/>
        </p:nvSpPr>
        <p:spPr>
          <a:xfrm>
            <a:off x="10607040" y="6446520"/>
            <a:ext cx="914400" cy="274320"/>
          </a:xfrm>
          <a:prstGeom prst="rect">
            <a:avLst/>
          </a:prstGeom>
          <a:noFill/>
        </p:spPr>
        <p:txBody>
          <a:bodyPr wrap="square" lIns="45720" rIns="45720" tIns="27432" bIns="27432">
            <a:spAutoFit/>
          </a:bodyPr>
          <a:lstStyle/>
          <a:p>
            <a:pPr algn="r"/>
            <a:r>
              <a:rPr sz="900" b="0">
                <a:solidFill>
                  <a:srgbClr val="5B6678"/>
                </a:solidFill>
                <a:latin typeface="Calibri"/>
              </a:rPr>
              <a:t>19 / 20</a:t>
            </a:r>
          </a:p>
        </p:txBody>
      </p:sp>
      <p:sp>
        <p:nvSpPr>
          <p:cNvPr id="6" name="Bullets"/>
          <p:cNvSpPr txBox="1"/>
          <p:nvPr/>
        </p:nvSpPr>
        <p:spPr>
          <a:xfrm>
            <a:off x="685800" y="1783080"/>
            <a:ext cx="5212080" cy="3108960"/>
          </a:xfrm>
          <a:prstGeom prst="rect">
            <a:avLst/>
          </a:prstGeom>
          <a:noFill/>
        </p:spPr>
        <p:txBody>
          <a:bodyPr wrap="square">
            <a:spAutoFit/>
          </a:bodyPr>
          <a:lstStyle/>
          <a:p>
            <a:pPr>
              <a:spcAft>
                <a:spcPts val="1200"/>
              </a:spcAft>
            </a:pPr>
            <a:r>
              <a:rPr sz="960">
                <a:solidFill>
                  <a:srgbClr val="177878"/>
                </a:solidFill>
                <a:latin typeface="Calibri"/>
              </a:rPr>
              <a:t>●  </a:t>
            </a:r>
            <a:r>
              <a:rPr sz="1600" b="1">
                <a:solidFill>
                  <a:srgbClr val="0F1B2D"/>
                </a:solidFill>
                <a:latin typeface="Calibri"/>
              </a:rPr>
              <a:t>One use case and one owner</a:t>
            </a:r>
            <a:r>
              <a:rPr sz="1600" b="0">
                <a:solidFill>
                  <a:srgbClr val="0F1B2D"/>
                </a:solidFill>
                <a:latin typeface="Calibri"/>
              </a:rPr>
              <a:t> for the pilot.</a:t>
            </a:r>
          </a:p>
          <a:p>
            <a:pPr>
              <a:spcAft>
                <a:spcPts val="1200"/>
              </a:spcAft>
            </a:pPr>
            <a:r>
              <a:rPr sz="960">
                <a:solidFill>
                  <a:srgbClr val="177878"/>
                </a:solidFill>
                <a:latin typeface="Calibri"/>
              </a:rPr>
              <a:t>●  </a:t>
            </a:r>
            <a:r>
              <a:rPr sz="1600" b="1">
                <a:solidFill>
                  <a:srgbClr val="0F1B2D"/>
                </a:solidFill>
                <a:latin typeface="Calibri"/>
              </a:rPr>
              <a:t>Sample files</a:t>
            </a:r>
            <a:r>
              <a:rPr sz="1600" b="0">
                <a:solidFill>
                  <a:srgbClr val="0F1B2D"/>
                </a:solidFill>
                <a:latin typeface="Calibri"/>
              </a:rPr>
              <a:t> for each source, or confirmation of the list in the intent.</a:t>
            </a:r>
          </a:p>
          <a:p>
            <a:pPr>
              <a:spcAft>
                <a:spcPts val="1200"/>
              </a:spcAft>
            </a:pPr>
            <a:r>
              <a:rPr sz="960">
                <a:solidFill>
                  <a:srgbClr val="177878"/>
                </a:solidFill>
                <a:latin typeface="Calibri"/>
              </a:rPr>
              <a:t>●  </a:t>
            </a:r>
            <a:r>
              <a:rPr sz="1600" b="1">
                <a:solidFill>
                  <a:srgbClr val="0F1B2D"/>
                </a:solidFill>
                <a:latin typeface="Calibri"/>
              </a:rPr>
              <a:t>A head of data</a:t>
            </a:r>
            <a:r>
              <a:rPr sz="1600" b="0">
                <a:solidFill>
                  <a:srgbClr val="0F1B2D"/>
                </a:solidFill>
                <a:latin typeface="Calibri"/>
              </a:rPr>
              <a:t> who approves the design pack and the plan.</a:t>
            </a:r>
          </a:p>
        </p:txBody>
      </p:sp>
      <p:sp>
        <p:nvSpPr>
          <p:cNvPr id="7" name="Bullets"/>
          <p:cNvSpPr txBox="1"/>
          <p:nvPr/>
        </p:nvSpPr>
        <p:spPr>
          <a:xfrm>
            <a:off x="6309360" y="1783080"/>
            <a:ext cx="5212080" cy="3108960"/>
          </a:xfrm>
          <a:prstGeom prst="rect">
            <a:avLst/>
          </a:prstGeom>
          <a:noFill/>
        </p:spPr>
        <p:txBody>
          <a:bodyPr wrap="square">
            <a:spAutoFit/>
          </a:bodyPr>
          <a:lstStyle/>
          <a:p>
            <a:pPr>
              <a:spcAft>
                <a:spcPts val="1200"/>
              </a:spcAft>
            </a:pPr>
            <a:r>
              <a:rPr sz="960">
                <a:solidFill>
                  <a:srgbClr val="177878"/>
                </a:solidFill>
                <a:latin typeface="Calibri"/>
              </a:rPr>
              <a:t>●  </a:t>
            </a:r>
            <a:r>
              <a:rPr sz="1600" b="1">
                <a:solidFill>
                  <a:srgbClr val="0F1B2D"/>
                </a:solidFill>
                <a:latin typeface="Calibri"/>
              </a:rPr>
              <a:t>An access list:</a:t>
            </a:r>
            <a:r>
              <a:rPr sz="1600" b="0">
                <a:solidFill>
                  <a:srgbClr val="0F1B2D"/>
                </a:solidFill>
                <a:latin typeface="Calibri"/>
              </a:rPr>
              <a:t> who signs, who reads, who approves.</a:t>
            </a:r>
          </a:p>
          <a:p>
            <a:pPr>
              <a:spcAft>
                <a:spcPts val="1200"/>
              </a:spcAft>
            </a:pPr>
            <a:r>
              <a:rPr sz="960">
                <a:solidFill>
                  <a:srgbClr val="177878"/>
                </a:solidFill>
                <a:latin typeface="Calibri"/>
              </a:rPr>
              <a:t>●  </a:t>
            </a:r>
            <a:r>
              <a:rPr sz="1600" b="1">
                <a:solidFill>
                  <a:srgbClr val="0F1B2D"/>
                </a:solidFill>
                <a:latin typeface="Calibri"/>
              </a:rPr>
              <a:t>Hosting choice:</a:t>
            </a:r>
            <a:r>
              <a:rPr sz="1600" b="0">
                <a:solidFill>
                  <a:srgbClr val="0F1B2D"/>
                </a:solidFill>
                <a:latin typeface="Calibri"/>
              </a:rPr>
              <a:t> the demo platform for the pilot, or your cloud.</a:t>
            </a:r>
          </a:p>
          <a:p>
            <a:pPr>
              <a:spcAft>
                <a:spcPts val="1200"/>
              </a:spcAft>
            </a:pPr>
            <a:r>
              <a:rPr sz="960">
                <a:solidFill>
                  <a:srgbClr val="177878"/>
                </a:solidFill>
                <a:latin typeface="Calibri"/>
              </a:rPr>
              <a:t>●  </a:t>
            </a:r>
            <a:r>
              <a:rPr sz="1600" b="1">
                <a:solidFill>
                  <a:srgbClr val="0F1B2D"/>
                </a:solidFill>
                <a:latin typeface="Calibri"/>
              </a:rPr>
              <a:t>The success line:</a:t>
            </a:r>
            <a:r>
              <a:rPr sz="1600" b="0">
                <a:solidFill>
                  <a:srgbClr val="0F1B2D"/>
                </a:solidFill>
                <a:latin typeface="Calibri"/>
              </a:rPr>
              <a:t> the pilot report ties to the issued figures.</a:t>
            </a:r>
          </a:p>
        </p:txBody>
      </p:sp>
      <p:sp>
        <p:nvSpPr>
          <p:cNvPr id="8" name="Rectangle 7"/>
          <p:cNvSpPr/>
          <p:nvPr/>
        </p:nvSpPr>
        <p:spPr>
          <a:xfrm>
            <a:off x="685800" y="4572000"/>
            <a:ext cx="10817352" cy="822960"/>
          </a:xfrm>
          <a:prstGeom prst="rect">
            <a:avLst/>
          </a:prstGeom>
          <a:solidFill>
            <a:srgbClr val="FBE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4572000"/>
            <a:ext cx="64008" cy="822960"/>
          </a:xfrm>
          <a:prstGeom prst="rect">
            <a:avLst/>
          </a:prstGeom>
          <a:solidFill>
            <a:srgbClr val="E0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617720"/>
            <a:ext cx="10588752" cy="731520"/>
          </a:xfrm>
          <a:prstGeom prst="rect">
            <a:avLst/>
          </a:prstGeom>
          <a:noFill/>
        </p:spPr>
        <p:txBody>
          <a:bodyPr wrap="square" lIns="45720" rIns="45720" tIns="27432" bIns="27432" anchor="ctr">
            <a:spAutoFit/>
          </a:bodyPr>
          <a:lstStyle/>
          <a:p>
            <a:r>
              <a:rPr sz="1500" b="0">
                <a:solidFill>
                  <a:srgbClr val="0F1B2D"/>
                </a:solidFill>
                <a:latin typeface="Calibri"/>
              </a:rPr>
              <a:t>Next step: a working session with the owner, the head of data and the business reader, within the week.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Rectangle 1"/>
          <p:cNvSpPr/>
          <p:nvPr/>
        </p:nvSpPr>
        <p:spPr>
          <a:xfrm>
            <a:off x="685800" y="2011680"/>
            <a:ext cx="1280160" cy="64008"/>
          </a:xfrm>
          <a:prstGeom prst="rect">
            <a:avLst/>
          </a:prstGeom>
          <a:solidFill>
            <a:srgbClr val="E0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0"/>
            <a:ext cx="10515600" cy="365760"/>
          </a:xfrm>
          <a:prstGeom prst="rect">
            <a:avLst/>
          </a:prstGeom>
          <a:noFill/>
        </p:spPr>
        <p:txBody>
          <a:bodyPr wrap="square" lIns="45720" rIns="45720" tIns="27432" bIns="27432">
            <a:spAutoFit/>
          </a:bodyPr>
          <a:lstStyle/>
          <a:p>
            <a:r>
              <a:rPr sz="1300" b="1">
                <a:solidFill>
                  <a:srgbClr val="5FC2C2"/>
                </a:solidFill>
                <a:latin typeface="Calibri"/>
              </a:rPr>
              <a:t>THANK YOU</a:t>
            </a:r>
          </a:p>
        </p:txBody>
      </p:sp>
      <p:sp>
        <p:nvSpPr>
          <p:cNvPr id="4" name="Title"/>
          <p:cNvSpPr txBox="1"/>
          <p:nvPr/>
        </p:nvSpPr>
        <p:spPr>
          <a:xfrm>
            <a:off x="685800" y="2697480"/>
            <a:ext cx="10515600" cy="1645920"/>
          </a:xfrm>
          <a:prstGeom prst="rect">
            <a:avLst/>
          </a:prstGeom>
          <a:noFill/>
        </p:spPr>
        <p:txBody>
          <a:bodyPr wrap="square" lIns="45720" rIns="45720" tIns="27432" bIns="27432">
            <a:spAutoFit/>
          </a:bodyPr>
          <a:lstStyle/>
          <a:p>
            <a:r>
              <a:rPr sz="4400" b="1">
                <a:solidFill>
                  <a:srgbClr val="FFFFFF"/>
                </a:solidFill>
                <a:latin typeface="Georgia"/>
              </a:rPr>
              <a:t>Questions and discussion</a:t>
            </a:r>
          </a:p>
        </p:txBody>
      </p:sp>
      <p:sp>
        <p:nvSpPr>
          <p:cNvPr id="5" name="TextBox 4"/>
          <p:cNvSpPr txBox="1"/>
          <p:nvPr/>
        </p:nvSpPr>
        <p:spPr>
          <a:xfrm>
            <a:off x="685800" y="4526280"/>
            <a:ext cx="9601200" cy="1097280"/>
          </a:xfrm>
          <a:prstGeom prst="rect">
            <a:avLst/>
          </a:prstGeom>
          <a:noFill/>
        </p:spPr>
        <p:txBody>
          <a:bodyPr wrap="square" lIns="45720" rIns="45720" tIns="27432" bIns="27432">
            <a:spAutoFit/>
          </a:bodyPr>
          <a:lstStyle/>
          <a:p>
            <a:r>
              <a:rPr sz="1800" b="0">
                <a:solidFill>
                  <a:srgbClr val="C9D4E2"/>
                </a:solidFill>
                <a:latin typeface="Calibri"/>
              </a:rPr>
              <a:t>Every figure in this session came from synthetic Evergreen Office data. The same trail works on your data once the pilot starts.</a:t>
            </a:r>
          </a:p>
        </p:txBody>
      </p:sp>
      <p:sp>
        <p:nvSpPr>
          <p:cNvPr id="6" name="TextBox 5"/>
          <p:cNvSpPr txBox="1"/>
          <p:nvPr/>
        </p:nvSpPr>
        <p:spPr>
          <a:xfrm>
            <a:off x="685800" y="6446520"/>
            <a:ext cx="9144000" cy="274320"/>
          </a:xfrm>
          <a:prstGeom prst="rect">
            <a:avLst/>
          </a:prstGeom>
          <a:noFill/>
        </p:spPr>
        <p:txBody>
          <a:bodyPr wrap="square" lIns="45720" rIns="45720" tIns="27432" bIns="27432">
            <a:spAutoFit/>
          </a:bodyPr>
          <a:lstStyle/>
          <a:p>
            <a:r>
              <a:rPr sz="900" b="0">
                <a:solidFill>
                  <a:srgbClr val="9FB0C4"/>
                </a:solidFill>
                <a:latin typeface="Calibri"/>
              </a:rPr>
              <a:t>Signal Harbor · Evergreen Office is synthetic</a:t>
            </a:r>
          </a:p>
        </p:txBody>
      </p:sp>
      <p:sp>
        <p:nvSpPr>
          <p:cNvPr id="7" name="TextBox 6"/>
          <p:cNvSpPr txBox="1"/>
          <p:nvPr/>
        </p:nvSpPr>
        <p:spPr>
          <a:xfrm>
            <a:off x="10607040" y="6446520"/>
            <a:ext cx="914400" cy="274320"/>
          </a:xfrm>
          <a:prstGeom prst="rect">
            <a:avLst/>
          </a:prstGeom>
          <a:noFill/>
        </p:spPr>
        <p:txBody>
          <a:bodyPr wrap="square" lIns="45720" rIns="45720" tIns="27432" bIns="27432">
            <a:spAutoFit/>
          </a:bodyPr>
          <a:lstStyle/>
          <a:p>
            <a:pPr algn="r"/>
            <a:r>
              <a:rPr sz="900" b="0">
                <a:solidFill>
                  <a:srgbClr val="9FB0C4"/>
                </a:solidFill>
                <a:latin typeface="Calibri"/>
              </a:rPr>
              <a:t>20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