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follows your hand sketch: the organiser logs in, prepares, creates a room, people join, they are briefed, each goes to an individual room, the notes land on one board in clusters, everyone comes back, and the charter is signed or sent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output is the signed charter: what the business wants to track and why, with priorities. It is what module 2 opens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a management consultant running a workshop: they set the frame, keep time and write on the wall, and the room does the thinking. The conversation is spoken and casual, like talking to a person, with the text always shown. This is a change from the product today, where North offers suggested problems by default; here that becomes something the organiser can switch on in preparation.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Preparation is new: today the organiser only gives a title and the phases. Also prepared here, not shown: the charter template to use at the end, the names of the people who can sign, and whether a senior approver is needed. Content shown is an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today: creating a session and joining by link without an account. New: a fixed number of seats, and Nira creating it through conversation. The link expires when the session closes, and the organiser can revoke a seat.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today: a lobby state and joining with a name and role. New: the seat picture and Nira greeting each arrival. Names and roles shown are invented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briefing is new as a screen; today there is a brief phase where North seeds suggestions. The names rule is stated here on purpose, in copper, because it changes how freely people speak. The video is either a standard one we supply or one the organiser uploads.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experience and it must feel like talking to a person. North speaks its replies aloud and the text is always shown. It does not suggest problems; the two buttons at the bottom are the only way to get more from the agents. Opening a note shows the note form: the problem, why it matters, who is affected, where the data might be. Built today: private rooms, speaking to North with speech turned into text, notes with a form. New: North's spoken voice, the listen-first behaviour, and notes appearing live beside the conversation. The quotes are invented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admin board in your sketch: notes around problem clusters. Every note stays linked to the conversation it came from. With anonymous names, a note shows no author to the room. Built today: gathering and grouping by North, raw and grouped views. New: the organiser watching it fill live, and moving notes between clusters by hand. Content is an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three steps on the sketch: MoSCoW, internal discussion, prepare the charter. A cluster left unticked is kept on the board for a later session; nothing is deleted. Pause holds the room and every seat so the group can come back another day. Built today: agree or not, discussion threads and priorities in the alignment room. New: the tick that sends a cluster to the charter, and an explicit Pause.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Nira writes the charter from the ticked clusters into the template the organiser chose. An approver who was not in the session gets a link to the draft only; they can approve, or send it back with a comment, which reopens stage 7. Built today: a charter document signed by two sponsors, or one owner alone. New: charter templates and sending the draft to an approver outside the session. Content is an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eight properties are what the organiser sets in preparation, and they are the whole configuration of a session. The rules in the right-hand column are what make it watertight: each one closes a way the session could go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said you may have missed something; these are the eight cases I found. The last one matters most: anonymity is only real if the organiser cannot open a transcript and read who said what. That is one of the decisions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here is built or planned yet. Once these six are settled I can turn module 1 into a build plan and do the same deck for module 2. The build itself should wait for the family-office merge, because it touches the same session and Intent Centre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052A5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052A5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FD6D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MODULE 1 · DESIGN FOR DISCUSSION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705199"/>
            <a:ext cx="1088339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0" i="0" dirty="0">
                <a:solidFill>
                  <a:srgbClr val="F2F4F6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The Intent Centre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12800" y="37617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7FD6D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From login to a signed charter, screen by screen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57963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D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 October 2026 · Drawn from your sketch · Every screen here is a design mock-up with example content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052A5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The workflow, end to end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491555"/>
            <a:ext cx="2292350" cy="1078012"/>
          </a:xfrm>
          <a:prstGeom prst="roundRect">
            <a:avLst>
              <a:gd name="adj" fmla="val 6774"/>
            </a:avLst>
          </a:prstGeom>
          <a:solidFill>
            <a:srgbClr val="FFFFFF"/>
          </a:solidFill>
          <a:ln w="6350">
            <a:solidFill>
              <a:srgbClr val="D5DB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1550" y="1647130"/>
            <a:ext cx="2040636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6F78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1 Prepare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71550" y="2017911"/>
            <a:ext cx="2040636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Organiser sets the purpose, templates, time and rules</a:t>
            </a:r>
            <a:endParaRPr lang="en-US" sz="1200" dirty="0"/>
          </a:p>
        </p:txBody>
      </p:sp>
      <p:pic>
        <p:nvPicPr>
          <p:cNvPr id="6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13100" y="1928912"/>
            <a:ext cx="254000" cy="20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571875" y="1491555"/>
            <a:ext cx="2292350" cy="1078012"/>
          </a:xfrm>
          <a:prstGeom prst="roundRect">
            <a:avLst>
              <a:gd name="adj" fmla="val 6774"/>
            </a:avLst>
          </a:prstGeom>
          <a:solidFill>
            <a:srgbClr val="FFFFFF"/>
          </a:solidFill>
          <a:ln w="6350">
            <a:solidFill>
              <a:srgbClr val="D5DB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27450" y="1647130"/>
            <a:ext cx="21336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6F78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2 Create and invite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727450" y="2017911"/>
            <a:ext cx="2040636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Nira makes the room and a join link per seat</a:t>
            </a:r>
            <a:endParaRPr lang="en-US" sz="1200" dirty="0"/>
          </a:p>
        </p:txBody>
      </p:sp>
      <p:pic>
        <p:nvPicPr>
          <p:cNvPr id="10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69000" y="1928912"/>
            <a:ext cx="254000" cy="203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327775" y="1491555"/>
            <a:ext cx="2292350" cy="1078012"/>
          </a:xfrm>
          <a:prstGeom prst="roundRect">
            <a:avLst>
              <a:gd name="adj" fmla="val 6774"/>
            </a:avLst>
          </a:prstGeom>
          <a:solidFill>
            <a:srgbClr val="FFFFFF"/>
          </a:solidFill>
          <a:ln w="6350">
            <a:solidFill>
              <a:srgbClr val="D5DBE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83350" y="1647130"/>
            <a:ext cx="2040636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6F78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3 Lobby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83350" y="2017911"/>
            <a:ext cx="2040636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People arrive; everyone waits until the organiser starts</a:t>
            </a:r>
            <a:endParaRPr lang="en-US" sz="1200" dirty="0"/>
          </a:p>
        </p:txBody>
      </p:sp>
      <p:pic>
        <p:nvPicPr>
          <p:cNvPr id="14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24900" y="1928912"/>
            <a:ext cx="254000" cy="2032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083675" y="1491555"/>
            <a:ext cx="2292350" cy="1078012"/>
          </a:xfrm>
          <a:prstGeom prst="roundRect">
            <a:avLst>
              <a:gd name="adj" fmla="val 6774"/>
            </a:avLst>
          </a:prstGeom>
          <a:solidFill>
            <a:srgbClr val="FFFFFF"/>
          </a:solidFill>
          <a:ln w="6350">
            <a:solidFill>
              <a:srgbClr val="D5DBE1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9239250" y="1647130"/>
            <a:ext cx="2040636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A6F78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4 Briefing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9239250" y="2017911"/>
            <a:ext cx="2040636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Room rules, the short video, by name or anonymous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5975" y="3063478"/>
            <a:ext cx="2292350" cy="1078012"/>
          </a:xfrm>
          <a:prstGeom prst="roundRect">
            <a:avLst>
              <a:gd name="adj" fmla="val 6774"/>
            </a:avLst>
          </a:prstGeom>
          <a:solidFill>
            <a:srgbClr val="FFFFFF"/>
          </a:solidFill>
          <a:ln w="6350">
            <a:solidFill>
              <a:srgbClr val="D5DBE1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71550" y="3219053"/>
            <a:ext cx="21336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9A52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5 Individual rooms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971550" y="3589834"/>
            <a:ext cx="2040636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person talks; the agent only listens and notes</a:t>
            </a:r>
            <a:endParaRPr lang="en-US" sz="1200" dirty="0"/>
          </a:p>
        </p:txBody>
      </p:sp>
      <p:pic>
        <p:nvPicPr>
          <p:cNvPr id="21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213100" y="3500934"/>
            <a:ext cx="254000" cy="20320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3571875" y="2804517"/>
            <a:ext cx="2292350" cy="1596033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6350">
            <a:solidFill>
              <a:srgbClr val="D5DBE1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727450" y="2960092"/>
            <a:ext cx="204063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9A52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6 Brainstorm board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3727450" y="3650853"/>
            <a:ext cx="2040636" cy="619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notes land here; North groups them into problem clusters</a:t>
            </a:r>
            <a:endParaRPr lang="en-US" sz="1200" dirty="0"/>
          </a:p>
        </p:txBody>
      </p:sp>
      <p:pic>
        <p:nvPicPr>
          <p:cNvPr id="25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969000" y="3500934"/>
            <a:ext cx="254000" cy="20320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327775" y="3063478"/>
            <a:ext cx="2292350" cy="1078012"/>
          </a:xfrm>
          <a:prstGeom prst="roundRect">
            <a:avLst>
              <a:gd name="adj" fmla="val 6774"/>
            </a:avLst>
          </a:prstGeom>
          <a:solidFill>
            <a:srgbClr val="FFFFFF"/>
          </a:solidFill>
          <a:ln w="6350">
            <a:solidFill>
              <a:srgbClr val="D5DBE1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483350" y="3219053"/>
            <a:ext cx="21336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9A52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7 Back in the room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6483350" y="3589834"/>
            <a:ext cx="2040636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Tick clusters into the charter, set priorities, discuss</a:t>
            </a:r>
            <a:endParaRPr lang="en-US" sz="1200" dirty="0"/>
          </a:p>
        </p:txBody>
      </p:sp>
      <p:pic>
        <p:nvPicPr>
          <p:cNvPr id="29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724900" y="3500934"/>
            <a:ext cx="254000" cy="20320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9083675" y="3063478"/>
            <a:ext cx="2292350" cy="1078012"/>
          </a:xfrm>
          <a:prstGeom prst="roundRect">
            <a:avLst>
              <a:gd name="adj" fmla="val 6774"/>
            </a:avLst>
          </a:prstGeom>
          <a:solidFill>
            <a:srgbClr val="052A52"/>
          </a:solidFill>
          <a:ln w="6350">
            <a:solidFill>
              <a:srgbClr val="052A52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9239250" y="3219053"/>
            <a:ext cx="2040636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7FD6DD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8 Charter</a:t>
            </a:r>
            <a:endParaRPr lang="en-US" sz="1800" dirty="0"/>
          </a:p>
        </p:txBody>
      </p:sp>
      <p:sp>
        <p:nvSpPr>
          <p:cNvPr id="32" name="Text 24"/>
          <p:cNvSpPr/>
          <p:nvPr/>
        </p:nvSpPr>
        <p:spPr>
          <a:xfrm>
            <a:off x="9239250" y="3589834"/>
            <a:ext cx="2040636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C9D3D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Signed in the room, or sent to a senior approver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12800" y="4632325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Stages 1 and 2 can be done days ahead. Stages 3 to 7 are the live session. Stage 8 can wait for an approver.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Signal Harbor · Module 1 Intent Centre, design for discussion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FD6D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STANCE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66441"/>
            <a:ext cx="10883392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F2F4F6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The people talk. The agents facilitate.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5975" y="2344936"/>
            <a:ext cx="3380284" cy="1509713"/>
          </a:xfrm>
          <a:prstGeom prst="roundRect">
            <a:avLst>
              <a:gd name="adj" fmla="val 4837"/>
            </a:avLst>
          </a:prstGeom>
          <a:noFill/>
          <a:ln w="6350">
            <a:solidFill>
              <a:srgbClr val="3A5A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551311"/>
            <a:ext cx="305656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7FD6DD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Nira, the coordinator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2350" y="2901752"/>
            <a:ext cx="3056560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D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Welcomes, explains the rules, keeps time, moves the room on. Answers "what do I do now?"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809" y="2344936"/>
            <a:ext cx="3380383" cy="1509713"/>
          </a:xfrm>
          <a:prstGeom prst="roundRect">
            <a:avLst>
              <a:gd name="adj" fmla="val 4837"/>
            </a:avLst>
          </a:prstGeom>
          <a:noFill/>
          <a:ln w="6350">
            <a:solidFill>
              <a:srgbClr val="3A5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2184" y="2551311"/>
            <a:ext cx="305666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7FD6DD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North, the industry expert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2184" y="2901752"/>
            <a:ext cx="305666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D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Listens and takes the note. Reads it back to check. Answers "how do others do this?" only when asked.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5741" y="2344936"/>
            <a:ext cx="3380284" cy="1509713"/>
          </a:xfrm>
          <a:prstGeom prst="roundRect">
            <a:avLst>
              <a:gd name="adj" fmla="val 4837"/>
            </a:avLst>
          </a:prstGeom>
          <a:noFill/>
          <a:ln w="6350">
            <a:solidFill>
              <a:srgbClr val="3A5A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02116" y="2551311"/>
            <a:ext cx="305656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7FD6DD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Neither one leads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02116" y="2901752"/>
            <a:ext cx="3056560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D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suggestions unless asked. No opinions on the problem. The words on a note are the person's own.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052A5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1 · Prepare the session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466155"/>
            <a:ext cx="6978650" cy="3795713"/>
          </a:xfrm>
          <a:prstGeom prst="roundRect">
            <a:avLst>
              <a:gd name="adj" fmla="val 1924"/>
            </a:avLst>
          </a:prstGeom>
          <a:solidFill>
            <a:srgbClr val="FFFFFF"/>
          </a:solidFill>
          <a:ln w="6350">
            <a:solidFill>
              <a:srgbClr val="D5DB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9150" y="1469330"/>
            <a:ext cx="6972300" cy="416520"/>
          </a:xfrm>
          <a:custGeom>
            <a:avLst/>
            <a:gdLst/>
            <a:ahLst/>
            <a:cxnLst/>
            <a:rect l="l" t="t" r="r" b="b"/>
            <a:pathLst>
              <a:path w="6972300" h="416520">
                <a:moveTo>
                  <a:pt x="76200" y="0"/>
                </a:moveTo>
                <a:lnTo>
                  <a:pt x="6896100" y="0"/>
                </a:lnTo>
                <a:arcTo hR="76200" wR="76200" stAng="16200000" swAng="5400000"/>
                <a:lnTo>
                  <a:pt x="6972300" y="416520"/>
                </a:lnTo>
                <a:lnTo>
                  <a:pt x="0" y="416520"/>
                </a:lnTo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52A52"/>
          </a:solidFill>
          <a:ln/>
        </p:spPr>
        <p:txBody>
          <a:bodyPr wrap="square" lIns="152400" tIns="101600" rIns="0" bIns="762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Intent Centre</a:t>
            </a:r>
            <a:r>
              <a:rPr lang="en-US" sz="1200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Prepare · organiser only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74725" y="2041426"/>
            <a:ext cx="6661150" cy="372070"/>
          </a:xfrm>
          <a:prstGeom prst="roundRect">
            <a:avLst>
              <a:gd name="adj" fmla="val 12800"/>
            </a:avLst>
          </a:prstGeom>
          <a:noFill/>
          <a:ln w="6350">
            <a:solidFill>
              <a:srgbClr val="D5D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9500" y="2120801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 we are here to 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86100" y="2120801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Find what stops us seeing our funding position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74725" y="2496046"/>
            <a:ext cx="6661150" cy="372070"/>
          </a:xfrm>
          <a:prstGeom prst="roundRect">
            <a:avLst>
              <a:gd name="adj" fmla="val 12800"/>
            </a:avLst>
          </a:prstGeom>
          <a:noFill/>
          <a:ln w="6350">
            <a:solidFill>
              <a:srgbClr val="D5D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9500" y="2575421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Outcome we want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86100" y="2575421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signed list of problems, in priority order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74725" y="2950666"/>
            <a:ext cx="6661150" cy="372070"/>
          </a:xfrm>
          <a:prstGeom prst="roundRect">
            <a:avLst>
              <a:gd name="adj" fmla="val 12800"/>
            </a:avLst>
          </a:prstGeom>
          <a:noFill/>
          <a:ln w="6350">
            <a:solidFill>
              <a:srgbClr val="D5DB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9500" y="3030041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Intent templates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86100" y="3030041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Problem note · Family office library · offered: off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74725" y="3405287"/>
            <a:ext cx="6661150" cy="372070"/>
          </a:xfrm>
          <a:prstGeom prst="roundRect">
            <a:avLst>
              <a:gd name="adj" fmla="val 12800"/>
            </a:avLst>
          </a:prstGeom>
          <a:noFill/>
          <a:ln w="6350">
            <a:solidFill>
              <a:srgbClr val="D5DB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9500" y="3484662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86100" y="3484662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30 minutes: 5 briefing, 15 rooms, 10 together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74725" y="3859907"/>
            <a:ext cx="6661150" cy="372070"/>
          </a:xfrm>
          <a:prstGeom prst="roundRect">
            <a:avLst>
              <a:gd name="adj" fmla="val 12800"/>
            </a:avLst>
          </a:prstGeom>
          <a:noFill/>
          <a:ln w="6350">
            <a:solidFill>
              <a:srgbClr val="D5DB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500" y="3939282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Names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86100" y="3939282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Anonymous on the board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74725" y="4314527"/>
            <a:ext cx="6661150" cy="372070"/>
          </a:xfrm>
          <a:prstGeom prst="roundRect">
            <a:avLst>
              <a:gd name="adj" fmla="val 12800"/>
            </a:avLst>
          </a:prstGeom>
          <a:noFill/>
          <a:ln w="6350">
            <a:solidFill>
              <a:srgbClr val="D5DB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9500" y="4393902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Briefing video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86100" y="4393902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 "what happens next" · or upload your own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9150" y="4842173"/>
            <a:ext cx="6972300" cy="416520"/>
          </a:xfrm>
          <a:custGeom>
            <a:avLst/>
            <a:gdLst/>
            <a:ahLst/>
            <a:cxnLst/>
            <a:rect l="l" t="t" r="r" b="b"/>
            <a:pathLst>
              <a:path w="6972300" h="416520">
                <a:moveTo>
                  <a:pt x="0" y="0"/>
                </a:moveTo>
                <a:lnTo>
                  <a:pt x="6972300" y="0"/>
                </a:lnTo>
                <a:lnTo>
                  <a:pt x="6972300" y="340320"/>
                </a:lnTo>
                <a:arcTo hR="76200" wR="76200" stAng="0" swAng="5400000"/>
                <a:lnTo>
                  <a:pt x="76200" y="416520"/>
                </a:lnTo>
                <a:arcTo hR="76200" w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DF1F2"/>
          </a:solidFill>
          <a:ln/>
        </p:spPr>
        <p:txBody>
          <a:bodyPr wrap="square" lIns="152400" tIns="101600" rIns="0" bIns="762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Nira:</a:t>
            </a: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saved. You can change any of this until you start the session.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02600" y="1462980"/>
            <a:ext cx="33748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A521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 MOCK-UP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02600" y="1803301"/>
            <a:ext cx="393192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Who:</a:t>
            </a:r>
            <a:r>
              <a:rPr lang="en-US" sz="14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organiser, alone, any time before.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02600" y="2179141"/>
            <a:ext cx="337489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These six answers become the room rules everyone is shown at the briefing.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02600" y="2803823"/>
            <a:ext cx="337489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prepared session can be saved and reused as a template.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Signal Harbor · Module 1 Intent Centre, design for discussion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052A5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2 · Create the room and invite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466155"/>
            <a:ext cx="6978650" cy="3231852"/>
          </a:xfrm>
          <a:prstGeom prst="roundRect">
            <a:avLst>
              <a:gd name="adj" fmla="val 2260"/>
            </a:avLst>
          </a:prstGeom>
          <a:solidFill>
            <a:srgbClr val="FFFFFF"/>
          </a:solidFill>
          <a:ln w="6350">
            <a:solidFill>
              <a:srgbClr val="D5DB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9150" y="1469330"/>
            <a:ext cx="6972300" cy="416520"/>
          </a:xfrm>
          <a:custGeom>
            <a:avLst/>
            <a:gdLst/>
            <a:ahLst/>
            <a:cxnLst/>
            <a:rect l="l" t="t" r="r" b="b"/>
            <a:pathLst>
              <a:path w="6972300" h="416520">
                <a:moveTo>
                  <a:pt x="76200" y="0"/>
                </a:moveTo>
                <a:lnTo>
                  <a:pt x="6896100" y="0"/>
                </a:lnTo>
                <a:arcTo hR="76200" wR="76200" stAng="16200000" swAng="5400000"/>
                <a:lnTo>
                  <a:pt x="6972300" y="416520"/>
                </a:lnTo>
                <a:lnTo>
                  <a:pt x="0" y="416520"/>
                </a:lnTo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52A52"/>
          </a:solidFill>
          <a:ln/>
        </p:spPr>
        <p:txBody>
          <a:bodyPr wrap="square" lIns="152400" tIns="101600" rIns="0" bIns="762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Your brainstorm room</a:t>
            </a:r>
            <a:r>
              <a:rPr lang="en-US" sz="1200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8 seats · not started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71550" y="2038251"/>
            <a:ext cx="6667500" cy="408880"/>
          </a:xfrm>
          <a:prstGeom prst="roundRect">
            <a:avLst>
              <a:gd name="adj" fmla="val 12424"/>
            </a:avLst>
          </a:prstGeom>
          <a:solidFill>
            <a:srgbClr val="DDF1F2"/>
          </a:solidFill>
          <a:ln/>
        </p:spPr>
        <p:txBody>
          <a:bodyPr wrap="square" lIns="112121" tIns="86721" rIns="0" bIns="61321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Nira:</a:t>
            </a: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how many people are joining? I will make a seat and a private room for each.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71550" y="2629991"/>
            <a:ext cx="4367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43434" y="2555081"/>
            <a:ext cx="411460" cy="363141"/>
          </a:xfrm>
          <a:prstGeom prst="roundRect">
            <a:avLst>
              <a:gd name="adj" fmla="val 12240"/>
            </a:avLst>
          </a:prstGeom>
          <a:noFill/>
          <a:ln w="12700">
            <a:solidFill>
              <a:srgbClr val="052A5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62845" y="2629991"/>
            <a:ext cx="5043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to 10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74725" y="3029347"/>
            <a:ext cx="6661150" cy="524470"/>
          </a:xfrm>
          <a:prstGeom prst="roundRect">
            <a:avLst>
              <a:gd name="adj" fmla="val 9081"/>
            </a:avLst>
          </a:prstGeom>
          <a:noFill/>
          <a:ln w="635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4900" y="3184922"/>
            <a:ext cx="56443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Join link · one link, each person picks a free seat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61051" y="3134122"/>
            <a:ext cx="844649" cy="314920"/>
          </a:xfrm>
          <a:prstGeom prst="roundRect">
            <a:avLst>
              <a:gd name="adj" fmla="val 16131"/>
            </a:avLst>
          </a:prstGeom>
          <a:solidFill>
            <a:srgbClr val="052A5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Copy link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4725" y="3661767"/>
            <a:ext cx="1603375" cy="397470"/>
          </a:xfrm>
          <a:prstGeom prst="roundRect">
            <a:avLst>
              <a:gd name="adj" fmla="val 11982"/>
            </a:avLst>
          </a:prstGeom>
          <a:noFill/>
          <a:ln w="6350">
            <a:solidFill>
              <a:srgbClr val="0E9AA7"/>
            </a:solidFill>
            <a:prstDash val="dash"/>
          </a:ln>
        </p:spPr>
        <p:txBody>
          <a:bodyPr wrap="square" lIns="52726" tIns="78126" rIns="52726" bIns="5272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A6F7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Seat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60650" y="3661767"/>
            <a:ext cx="1603375" cy="397470"/>
          </a:xfrm>
          <a:prstGeom prst="roundRect">
            <a:avLst>
              <a:gd name="adj" fmla="val 11982"/>
            </a:avLst>
          </a:prstGeom>
          <a:noFill/>
          <a:ln w="6350">
            <a:solidFill>
              <a:srgbClr val="0E9AA7"/>
            </a:solidFill>
            <a:prstDash val="dash"/>
          </a:ln>
        </p:spPr>
        <p:txBody>
          <a:bodyPr wrap="square" lIns="52726" tIns="78126" rIns="52726" bIns="5272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A6F7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Seat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46575" y="3661767"/>
            <a:ext cx="1603375" cy="397470"/>
          </a:xfrm>
          <a:prstGeom prst="roundRect">
            <a:avLst>
              <a:gd name="adj" fmla="val 11982"/>
            </a:avLst>
          </a:prstGeom>
          <a:noFill/>
          <a:ln w="6350">
            <a:solidFill>
              <a:srgbClr val="0E9AA7"/>
            </a:solidFill>
            <a:prstDash val="dash"/>
          </a:ln>
        </p:spPr>
        <p:txBody>
          <a:bodyPr wrap="square" lIns="52726" tIns="78126" rIns="52726" bIns="5272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A6F7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Seat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2500" y="3661767"/>
            <a:ext cx="1603375" cy="397470"/>
          </a:xfrm>
          <a:prstGeom prst="roundRect">
            <a:avLst>
              <a:gd name="adj" fmla="val 11982"/>
            </a:avLst>
          </a:prstGeom>
          <a:noFill/>
          <a:ln w="6350">
            <a:solidFill>
              <a:srgbClr val="0E9AA7"/>
            </a:solidFill>
            <a:prstDash val="dash"/>
          </a:ln>
        </p:spPr>
        <p:txBody>
          <a:bodyPr wrap="square" lIns="52726" tIns="78126" rIns="52726" bIns="5272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A6F7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Seat 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4725" y="4141788"/>
            <a:ext cx="1603375" cy="397470"/>
          </a:xfrm>
          <a:prstGeom prst="roundRect">
            <a:avLst>
              <a:gd name="adj" fmla="val 11982"/>
            </a:avLst>
          </a:prstGeom>
          <a:noFill/>
          <a:ln w="6350">
            <a:solidFill>
              <a:srgbClr val="0E9AA7"/>
            </a:solidFill>
            <a:prstDash val="dash"/>
          </a:ln>
        </p:spPr>
        <p:txBody>
          <a:bodyPr wrap="square" lIns="52726" tIns="78126" rIns="52726" bIns="5272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A6F7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Seat 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60650" y="4141788"/>
            <a:ext cx="1603375" cy="397470"/>
          </a:xfrm>
          <a:prstGeom prst="roundRect">
            <a:avLst>
              <a:gd name="adj" fmla="val 11982"/>
            </a:avLst>
          </a:prstGeom>
          <a:noFill/>
          <a:ln w="6350">
            <a:solidFill>
              <a:srgbClr val="0E9AA7"/>
            </a:solidFill>
            <a:prstDash val="dash"/>
          </a:ln>
        </p:spPr>
        <p:txBody>
          <a:bodyPr wrap="square" lIns="52726" tIns="78126" rIns="52726" bIns="5272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A6F7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Seat 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46575" y="4141788"/>
            <a:ext cx="1603375" cy="397470"/>
          </a:xfrm>
          <a:prstGeom prst="roundRect">
            <a:avLst>
              <a:gd name="adj" fmla="val 11982"/>
            </a:avLst>
          </a:prstGeom>
          <a:noFill/>
          <a:ln w="6350">
            <a:solidFill>
              <a:srgbClr val="0E9AA7"/>
            </a:solidFill>
            <a:prstDash val="dash"/>
          </a:ln>
        </p:spPr>
        <p:txBody>
          <a:bodyPr wrap="square" lIns="52726" tIns="78126" rIns="52726" bIns="5272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A6F7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Seat 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2500" y="4141788"/>
            <a:ext cx="1603375" cy="397470"/>
          </a:xfrm>
          <a:prstGeom prst="roundRect">
            <a:avLst>
              <a:gd name="adj" fmla="val 11982"/>
            </a:avLst>
          </a:prstGeom>
          <a:noFill/>
          <a:ln w="6350">
            <a:solidFill>
              <a:srgbClr val="0E9AA7"/>
            </a:solidFill>
            <a:prstDash val="dash"/>
          </a:ln>
        </p:spPr>
        <p:txBody>
          <a:bodyPr wrap="square" lIns="52726" tIns="78126" rIns="52726" bIns="52726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A6F7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Seat 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02600" y="1462980"/>
            <a:ext cx="33748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A521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 MOCK-UP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02600" y="1803301"/>
            <a:ext cx="337489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Who:</a:t>
            </a:r>
            <a:r>
              <a:rPr lang="en-US" sz="14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organiser, talking to Nira.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02600" y="2179141"/>
            <a:ext cx="3374898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room is the company's own private space. Only people with the link and a free seat get in.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02600" y="3052663"/>
            <a:ext cx="337489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 seat means a solo session: the organiser is also the only participant.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Signal Harbor · Module 1 Intent Centre, design for discussion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052A5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3 · The lobby: wait until people join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466155"/>
            <a:ext cx="6978650" cy="2891334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6350">
            <a:solidFill>
              <a:srgbClr val="D5DB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9150" y="1469330"/>
            <a:ext cx="6972300" cy="416520"/>
          </a:xfrm>
          <a:custGeom>
            <a:avLst/>
            <a:gdLst/>
            <a:ahLst/>
            <a:cxnLst/>
            <a:rect l="l" t="t" r="r" b="b"/>
            <a:pathLst>
              <a:path w="6972300" h="416520">
                <a:moveTo>
                  <a:pt x="76200" y="0"/>
                </a:moveTo>
                <a:lnTo>
                  <a:pt x="6896100" y="0"/>
                </a:lnTo>
                <a:arcTo hR="76200" wR="76200" stAng="16200000" swAng="5400000"/>
                <a:lnTo>
                  <a:pt x="6972300" y="416520"/>
                </a:lnTo>
                <a:lnTo>
                  <a:pt x="0" y="416520"/>
                </a:lnTo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52A52"/>
          </a:solidFill>
          <a:ln/>
        </p:spPr>
        <p:txBody>
          <a:bodyPr wrap="square" lIns="152400" tIns="101600" rIns="0" bIns="762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Lobby</a:t>
            </a:r>
            <a:r>
              <a:rPr lang="en-US" sz="1200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5 of 8 here · waiting for the organiser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71550" y="2038251"/>
            <a:ext cx="1609725" cy="573881"/>
          </a:xfrm>
          <a:prstGeom prst="roundRect">
            <a:avLst>
              <a:gd name="adj" fmla="val 8852"/>
            </a:avLst>
          </a:prstGeom>
          <a:solidFill>
            <a:srgbClr val="DDF1F2"/>
          </a:solidFill>
          <a:ln/>
        </p:spPr>
        <p:txBody>
          <a:bodyPr wrap="square" lIns="48621" tIns="74021" rIns="48621" bIns="48621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Mei</a:t>
            </a:r>
            <a:endParaRPr lang="en-US" sz="12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Investments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7475" y="2038251"/>
            <a:ext cx="1609725" cy="573881"/>
          </a:xfrm>
          <a:prstGeom prst="roundRect">
            <a:avLst>
              <a:gd name="adj" fmla="val 8852"/>
            </a:avLst>
          </a:prstGeom>
          <a:solidFill>
            <a:srgbClr val="DDF1F2"/>
          </a:solidFill>
          <a:ln/>
        </p:spPr>
        <p:txBody>
          <a:bodyPr wrap="square" lIns="48621" tIns="74021" rIns="48621" bIns="48621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Arjun</a:t>
            </a:r>
            <a:endParaRPr lang="en-US" sz="12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3400" y="2038251"/>
            <a:ext cx="1609725" cy="573881"/>
          </a:xfrm>
          <a:prstGeom prst="roundRect">
            <a:avLst>
              <a:gd name="adj" fmla="val 8852"/>
            </a:avLst>
          </a:prstGeom>
          <a:solidFill>
            <a:srgbClr val="DDF1F2"/>
          </a:solidFill>
          <a:ln/>
        </p:spPr>
        <p:txBody>
          <a:bodyPr wrap="square" lIns="48621" tIns="74021" rIns="48621" bIns="48621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Sara</a:t>
            </a:r>
            <a:endParaRPr lang="en-US" sz="12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29325" y="2038251"/>
            <a:ext cx="1609725" cy="573881"/>
          </a:xfrm>
          <a:prstGeom prst="roundRect">
            <a:avLst>
              <a:gd name="adj" fmla="val 8852"/>
            </a:avLst>
          </a:prstGeom>
          <a:solidFill>
            <a:srgbClr val="DDF1F2"/>
          </a:solidFill>
          <a:ln/>
        </p:spPr>
        <p:txBody>
          <a:bodyPr wrap="square" lIns="48621" tIns="74021" rIns="48621" bIns="48621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Wei</a:t>
            </a:r>
            <a:endParaRPr lang="en-US" sz="12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1550" y="2688332"/>
            <a:ext cx="1609725" cy="586581"/>
          </a:xfrm>
          <a:prstGeom prst="roundRect">
            <a:avLst>
              <a:gd name="adj" fmla="val 8660"/>
            </a:avLst>
          </a:prstGeom>
          <a:solidFill>
            <a:srgbClr val="DDF1F2"/>
          </a:solidFill>
          <a:ln/>
        </p:spPr>
        <p:txBody>
          <a:bodyPr wrap="square" lIns="48621" tIns="74021" rIns="48621" bIns="48621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Tom</a:t>
            </a:r>
            <a:endParaRPr lang="en-US" sz="12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Treasury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60650" y="2691507"/>
            <a:ext cx="1603375" cy="580231"/>
          </a:xfrm>
          <a:prstGeom prst="roundRect">
            <a:avLst>
              <a:gd name="adj" fmla="val 8208"/>
            </a:avLst>
          </a:prstGeom>
          <a:noFill/>
          <a:ln w="6350">
            <a:solidFill>
              <a:srgbClr val="C9D3DE"/>
            </a:solidFill>
            <a:prstDash val="dash"/>
          </a:ln>
        </p:spPr>
        <p:txBody>
          <a:bodyPr wrap="square" lIns="52726" tIns="78126" rIns="52726" bIns="52726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Seat 6</a:t>
            </a:r>
            <a:endParaRPr lang="en-US" sz="12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46575" y="2691507"/>
            <a:ext cx="1603375" cy="580231"/>
          </a:xfrm>
          <a:prstGeom prst="roundRect">
            <a:avLst>
              <a:gd name="adj" fmla="val 8208"/>
            </a:avLst>
          </a:prstGeom>
          <a:noFill/>
          <a:ln w="6350">
            <a:solidFill>
              <a:srgbClr val="C9D3DE"/>
            </a:solidFill>
            <a:prstDash val="dash"/>
          </a:ln>
        </p:spPr>
        <p:txBody>
          <a:bodyPr wrap="square" lIns="52726" tIns="78126" rIns="52726" bIns="52726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Seat 7</a:t>
            </a:r>
            <a:endParaRPr lang="en-US" sz="12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2500" y="2691507"/>
            <a:ext cx="1603375" cy="580231"/>
          </a:xfrm>
          <a:prstGeom prst="roundRect">
            <a:avLst>
              <a:gd name="adj" fmla="val 8208"/>
            </a:avLst>
          </a:prstGeom>
          <a:noFill/>
          <a:ln w="6350">
            <a:solidFill>
              <a:srgbClr val="C9D3DE"/>
            </a:solidFill>
            <a:prstDash val="dash"/>
          </a:ln>
        </p:spPr>
        <p:txBody>
          <a:bodyPr wrap="square" lIns="52726" tIns="78126" rIns="52726" bIns="52726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Seat 8</a:t>
            </a:r>
            <a:endParaRPr lang="en-US" sz="12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71550" y="3376513"/>
            <a:ext cx="6667500" cy="408880"/>
          </a:xfrm>
          <a:prstGeom prst="roundRect">
            <a:avLst>
              <a:gd name="adj" fmla="val 12424"/>
            </a:avLst>
          </a:prstGeom>
          <a:solidFill>
            <a:srgbClr val="DDF1F2"/>
          </a:solidFill>
          <a:ln/>
        </p:spPr>
        <p:txBody>
          <a:bodyPr wrap="square" lIns="112121" tIns="86721" rIns="0" bIns="61321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Nira:</a:t>
            </a: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welcome, Tom. We start when everyone is here. Today takes thirty minutes.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1550" y="3937794"/>
            <a:ext cx="11082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Organiser only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0507" y="3886994"/>
            <a:ext cx="1518543" cy="314920"/>
          </a:xfrm>
          <a:prstGeom prst="roundRect">
            <a:avLst>
              <a:gd name="adj" fmla="val 16131"/>
            </a:avLst>
          </a:prstGeom>
          <a:solidFill>
            <a:srgbClr val="052A5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Start with 5 · or wait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02600" y="1462980"/>
            <a:ext cx="33748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A521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 MOCK-UP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02600" y="1803301"/>
            <a:ext cx="337489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Who:</a:t>
            </a:r>
            <a:r>
              <a:rPr lang="en-US" sz="14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everyone. Like a game lobby: you see who has arrived.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02600" y="2427982"/>
            <a:ext cx="337489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person gives a name and a role on arrival.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02600" y="3052663"/>
            <a:ext cx="337489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organiser can start with empty seats; latecomers can still take one.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Signal Harbor · Module 1 Intent Centre, design for discussion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052A5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4 · The briefing: room rules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466155"/>
            <a:ext cx="6978650" cy="3329384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6350">
            <a:solidFill>
              <a:srgbClr val="D5DB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9150" y="1469330"/>
            <a:ext cx="6972300" cy="416520"/>
          </a:xfrm>
          <a:custGeom>
            <a:avLst/>
            <a:gdLst/>
            <a:ahLst/>
            <a:cxnLst/>
            <a:rect l="l" t="t" r="r" b="b"/>
            <a:pathLst>
              <a:path w="6972300" h="416520">
                <a:moveTo>
                  <a:pt x="76200" y="0"/>
                </a:moveTo>
                <a:lnTo>
                  <a:pt x="6896100" y="0"/>
                </a:lnTo>
                <a:arcTo hR="76200" wR="76200" stAng="16200000" swAng="5400000"/>
                <a:lnTo>
                  <a:pt x="6972300" y="416520"/>
                </a:lnTo>
                <a:lnTo>
                  <a:pt x="0" y="416520"/>
                </a:lnTo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52A52"/>
          </a:solidFill>
          <a:ln/>
        </p:spPr>
        <p:txBody>
          <a:bodyPr wrap="square" lIns="152400" tIns="101600" rIns="0" bIns="762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Before we start</a:t>
            </a:r>
            <a:r>
              <a:rPr lang="en-US" sz="1200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everyone sees this together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71550" y="2038251"/>
            <a:ext cx="2540000" cy="2077244"/>
          </a:xfrm>
          <a:prstGeom prst="roundRect">
            <a:avLst>
              <a:gd name="adj" fmla="val 2446"/>
            </a:avLst>
          </a:prstGeom>
          <a:solidFill>
            <a:srgbClr val="052A52"/>
          </a:solidFill>
          <a:ln/>
        </p:spPr>
      </p:sp>
      <p:pic>
        <p:nvPicPr>
          <p:cNvPr id="6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2950" y="261213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8435" y="3145532"/>
            <a:ext cx="126613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 happens next</a:t>
            </a:r>
            <a:endParaRPr lang="en-US" sz="12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short video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38550" y="2038251"/>
            <a:ext cx="4000500" cy="325041"/>
          </a:xfrm>
          <a:prstGeom prst="rect">
            <a:avLst/>
          </a:prstGeom>
          <a:solidFill>
            <a:srgbClr val="F2F4F6"/>
          </a:solidFill>
          <a:ln/>
        </p:spPr>
        <p:txBody>
          <a:bodyPr wrap="square" lIns="127000" tIns="63500" rIns="0" bIns="3810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 we do:</a:t>
            </a: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name what stops us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0" y="2038251"/>
            <a:ext cx="0" cy="325041"/>
          </a:xfrm>
          <a:prstGeom prst="line">
            <a:avLst/>
          </a:prstGeom>
          <a:noFill/>
          <a:ln w="38100">
            <a:solidFill>
              <a:srgbClr val="0E9A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38550" y="2426791"/>
            <a:ext cx="4000500" cy="523081"/>
          </a:xfrm>
          <a:prstGeom prst="rect">
            <a:avLst/>
          </a:prstGeom>
          <a:solidFill>
            <a:srgbClr val="F2F4F6"/>
          </a:solidFill>
          <a:ln/>
        </p:spPr>
        <p:txBody>
          <a:bodyPr wrap="square" lIns="127000" tIns="63500" rIns="0" bIns="3810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How:</a:t>
            </a: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you talk in your own room; your notes go to one board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0" y="2426791"/>
            <a:ext cx="0" cy="523081"/>
          </a:xfrm>
          <a:prstGeom prst="line">
            <a:avLst/>
          </a:prstGeom>
          <a:noFill/>
          <a:ln w="38100">
            <a:solidFill>
              <a:srgbClr val="0E9A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38550" y="3013373"/>
            <a:ext cx="4000500" cy="325041"/>
          </a:xfrm>
          <a:prstGeom prst="rect">
            <a:avLst/>
          </a:prstGeom>
          <a:solidFill>
            <a:srgbClr val="F2F4F6"/>
          </a:solidFill>
          <a:ln/>
        </p:spPr>
        <p:txBody>
          <a:bodyPr wrap="square" lIns="127000" tIns="63500" rIns="0" bIns="3810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Time:</a:t>
            </a: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15 minutes alone, 10 together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0" y="3013373"/>
            <a:ext cx="0" cy="325041"/>
          </a:xfrm>
          <a:prstGeom prst="line">
            <a:avLst/>
          </a:prstGeom>
          <a:noFill/>
          <a:ln w="38100">
            <a:solidFill>
              <a:srgbClr val="0E9A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38550" y="3401913"/>
            <a:ext cx="4000500" cy="325041"/>
          </a:xfrm>
          <a:prstGeom prst="rect">
            <a:avLst/>
          </a:prstGeom>
          <a:solidFill>
            <a:srgbClr val="F2F4F6"/>
          </a:solidFill>
          <a:ln/>
        </p:spPr>
        <p:txBody>
          <a:bodyPr wrap="square" lIns="127000" tIns="63500" rIns="0" bIns="3810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Outcome:</a:t>
            </a: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signed list, in priority order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0" y="3401913"/>
            <a:ext cx="0" cy="325041"/>
          </a:xfrm>
          <a:prstGeom prst="line">
            <a:avLst/>
          </a:prstGeom>
          <a:noFill/>
          <a:ln w="38100">
            <a:solidFill>
              <a:srgbClr val="0E9AA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38550" y="3790454"/>
            <a:ext cx="4000500" cy="325041"/>
          </a:xfrm>
          <a:prstGeom prst="rect">
            <a:avLst/>
          </a:prstGeom>
          <a:solidFill>
            <a:srgbClr val="F2F4F6"/>
          </a:solidFill>
          <a:ln/>
        </p:spPr>
        <p:txBody>
          <a:bodyPr wrap="square" lIns="127000" tIns="63500" rIns="0" bIns="3810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Names:</a:t>
            </a: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your notes appear without your name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0" y="3790454"/>
            <a:ext cx="0" cy="325041"/>
          </a:xfrm>
          <a:prstGeom prst="line">
            <a:avLst/>
          </a:prstGeom>
          <a:noFill/>
          <a:ln w="38100">
            <a:solidFill>
              <a:srgbClr val="B4642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9150" y="4271070"/>
            <a:ext cx="6972300" cy="0"/>
          </a:xfrm>
          <a:prstGeom prst="line">
            <a:avLst/>
          </a:prstGeom>
          <a:noFill/>
          <a:ln w="6350">
            <a:solidFill>
              <a:srgbClr val="D5DB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1550" y="4426645"/>
            <a:ext cx="22946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 of 8 have pressed "I'm clear"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571232" y="4375845"/>
            <a:ext cx="2067818" cy="314920"/>
          </a:xfrm>
          <a:prstGeom prst="roundRect">
            <a:avLst>
              <a:gd name="adj" fmla="val 16131"/>
            </a:avLst>
          </a:prstGeom>
          <a:solidFill>
            <a:srgbClr val="052A5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Send everyone to their room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102600" y="1462980"/>
            <a:ext cx="33748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A521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 MOCK-UP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02600" y="1803301"/>
            <a:ext cx="337489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Who:</a:t>
            </a:r>
            <a:r>
              <a:rPr lang="en-US" sz="14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everyone, led by Nira's voice.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102600" y="2179141"/>
            <a:ext cx="337489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rules come straight from what the organiser prepared.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102600" y="2803823"/>
            <a:ext cx="337489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person confirms they are clear, or asks Nira a question, before the rooms open.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Signal Harbor · Module 1 Intent Centre, design for discussion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052A5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5 · Your own room: just talk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466155"/>
            <a:ext cx="6978650" cy="3433663"/>
          </a:xfrm>
          <a:prstGeom prst="roundRect">
            <a:avLst>
              <a:gd name="adj" fmla="val 2127"/>
            </a:avLst>
          </a:prstGeom>
          <a:solidFill>
            <a:srgbClr val="FFFFFF"/>
          </a:solidFill>
          <a:ln w="6350">
            <a:solidFill>
              <a:srgbClr val="D5DB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9150" y="1469330"/>
            <a:ext cx="6972300" cy="416520"/>
          </a:xfrm>
          <a:custGeom>
            <a:avLst/>
            <a:gdLst/>
            <a:ahLst/>
            <a:cxnLst/>
            <a:rect l="l" t="t" r="r" b="b"/>
            <a:pathLst>
              <a:path w="6972300" h="416520">
                <a:moveTo>
                  <a:pt x="76200" y="0"/>
                </a:moveTo>
                <a:lnTo>
                  <a:pt x="6896100" y="0"/>
                </a:lnTo>
                <a:arcTo hR="76200" wR="76200" stAng="16200000" swAng="5400000"/>
                <a:lnTo>
                  <a:pt x="6972300" y="416520"/>
                </a:lnTo>
                <a:lnTo>
                  <a:pt x="0" y="416520"/>
                </a:lnTo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52A52"/>
          </a:solidFill>
          <a:ln/>
        </p:spPr>
      </p:sp>
      <p:sp>
        <p:nvSpPr>
          <p:cNvPr id="5" name="Text 3"/>
          <p:cNvSpPr/>
          <p:nvPr/>
        </p:nvSpPr>
        <p:spPr>
          <a:xfrm>
            <a:off x="971550" y="1570930"/>
            <a:ext cx="3060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Your room</a:t>
            </a:r>
            <a:r>
              <a:rPr lang="en-US" sz="1200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private · only you and North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47773" y="1570930"/>
            <a:ext cx="6912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D6D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12:40 left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1550" y="2038251"/>
            <a:ext cx="4381500" cy="589161"/>
          </a:xfrm>
          <a:prstGeom prst="roundRect">
            <a:avLst>
              <a:gd name="adj" fmla="val 17245"/>
            </a:avLst>
          </a:prstGeom>
          <a:solidFill>
            <a:srgbClr val="F2F4F6"/>
          </a:solidFill>
          <a:ln/>
        </p:spPr>
        <p:txBody>
          <a:bodyPr wrap="square" lIns="84542" tIns="59142" rIns="0" bIns="33742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"Honestly, every quarter we find out about a capital call a week before it's due."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1550" y="2703612"/>
            <a:ext cx="4381500" cy="589161"/>
          </a:xfrm>
          <a:prstGeom prst="roundRect">
            <a:avLst>
              <a:gd name="adj" fmla="val 17245"/>
            </a:avLst>
          </a:prstGeom>
          <a:solidFill>
            <a:srgbClr val="DDF1F2"/>
          </a:solidFill>
          <a:ln/>
        </p:spPr>
        <p:txBody>
          <a:bodyPr wrap="square" lIns="84542" tIns="59142" rIns="0" bIns="33742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North:</a:t>
            </a: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so the notice arrives late and you can't plan for it. Did I get that right?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1550" y="3368973"/>
            <a:ext cx="4381500" cy="383480"/>
          </a:xfrm>
          <a:prstGeom prst="roundRect">
            <a:avLst>
              <a:gd name="adj" fmla="val 26494"/>
            </a:avLst>
          </a:prstGeom>
          <a:solidFill>
            <a:srgbClr val="F2F4F6"/>
          </a:solidFill>
          <a:ln/>
        </p:spPr>
        <p:txBody>
          <a:bodyPr wrap="square" lIns="84542" tIns="59142" rIns="0" bIns="33742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"Yes. And nobody owns the list."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77900" y="3835003"/>
            <a:ext cx="4368800" cy="4038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E9AA7"/>
            </a:solidFill>
            <a:prstDash val="solid"/>
          </a:ln>
        </p:spPr>
      </p:sp>
      <p:pic>
        <p:nvPicPr>
          <p:cNvPr id="11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8550" y="3960713"/>
            <a:ext cx="152400" cy="152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7150" y="3930253"/>
            <a:ext cx="18221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A6F7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Listening… or type here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0050" y="2038251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A6F7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YOUR NOTES ·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0050" y="2327771"/>
            <a:ext cx="2159000" cy="573881"/>
          </a:xfrm>
          <a:prstGeom prst="roundRect">
            <a:avLst>
              <a:gd name="adj" fmla="val 6639"/>
            </a:avLst>
          </a:prstGeom>
          <a:solidFill>
            <a:srgbClr val="FBF4DC"/>
          </a:solidFill>
          <a:ln/>
        </p:spPr>
        <p:txBody>
          <a:bodyPr wrap="square" lIns="77741" tIns="77741" rIns="18305" bIns="52341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Capital calls reach us too late to plan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0050" y="2977852"/>
            <a:ext cx="2159000" cy="375841"/>
          </a:xfrm>
          <a:prstGeom prst="roundRect">
            <a:avLst>
              <a:gd name="adj" fmla="val 10137"/>
            </a:avLst>
          </a:prstGeom>
          <a:solidFill>
            <a:srgbClr val="FBF4DC"/>
          </a:solidFill>
          <a:ln/>
        </p:spPr>
        <p:txBody>
          <a:bodyPr wrap="square" lIns="77741" tIns="77741" rIns="18305" bIns="52341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Nobody owns the list of calls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9150" y="4400748"/>
            <a:ext cx="6972300" cy="0"/>
          </a:xfrm>
          <a:prstGeom prst="line">
            <a:avLst/>
          </a:prstGeom>
          <a:noFill/>
          <a:ln w="6350">
            <a:solidFill>
              <a:srgbClr val="D5DB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71550" y="4505523"/>
            <a:ext cx="1707257" cy="289520"/>
          </a:xfrm>
          <a:custGeom>
            <a:avLst/>
            <a:gdLst/>
            <a:ahLst/>
            <a:cxnLst/>
            <a:rect l="l" t="t" r="r" b="b"/>
            <a:pathLst>
              <a:path w="1707257" h="289520">
                <a:moveTo>
                  <a:pt x="144760" y="0"/>
                </a:moveTo>
                <a:lnTo>
                  <a:pt x="1562497" y="0"/>
                </a:lnTo>
                <a:arcTo hR="144760" wR="144760" stAng="16200000" swAng="5400000"/>
                <a:lnTo>
                  <a:pt x="1707257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E8EC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Ask Nira how this works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755007" y="4505523"/>
            <a:ext cx="1886645" cy="289520"/>
          </a:xfrm>
          <a:custGeom>
            <a:avLst/>
            <a:gdLst/>
            <a:ahLst/>
            <a:cxnLst/>
            <a:rect l="l" t="t" r="r" b="b"/>
            <a:pathLst>
              <a:path w="1886645" h="289520">
                <a:moveTo>
                  <a:pt x="144760" y="0"/>
                </a:moveTo>
                <a:lnTo>
                  <a:pt x="1741884" y="0"/>
                </a:lnTo>
                <a:arcTo hR="144760" wR="144760" stAng="16200000" swAng="5400000"/>
                <a:lnTo>
                  <a:pt x="1886645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E8EC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Ask North how others do it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102600" y="1462980"/>
            <a:ext cx="33748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A521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 MOCK-UP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102600" y="1803301"/>
            <a:ext cx="337489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Who:</a:t>
            </a:r>
            <a:r>
              <a:rPr lang="en-US" sz="14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one person and their own North.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02600" y="2179141"/>
            <a:ext cx="337489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person speaks freely. North takes the note in their words and reads it back.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102600" y="2803823"/>
            <a:ext cx="337489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Tap a note to correct it or add detail. Notes go to the board when time ends.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Signal Harbor · Module 1 Intent Centre, design for discussion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052A5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6 · The brainstorm 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466155"/>
            <a:ext cx="6978650" cy="3264694"/>
          </a:xfrm>
          <a:prstGeom prst="roundRect">
            <a:avLst>
              <a:gd name="adj" fmla="val 2237"/>
            </a:avLst>
          </a:prstGeom>
          <a:solidFill>
            <a:srgbClr val="FFFFFF"/>
          </a:solidFill>
          <a:ln w="6350">
            <a:solidFill>
              <a:srgbClr val="D5DB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9150" y="1469330"/>
            <a:ext cx="6972300" cy="416520"/>
          </a:xfrm>
          <a:custGeom>
            <a:avLst/>
            <a:gdLst/>
            <a:ahLst/>
            <a:cxnLst/>
            <a:rect l="l" t="t" r="r" b="b"/>
            <a:pathLst>
              <a:path w="6972300" h="416520">
                <a:moveTo>
                  <a:pt x="76200" y="0"/>
                </a:moveTo>
                <a:lnTo>
                  <a:pt x="6896100" y="0"/>
                </a:lnTo>
                <a:arcTo hR="76200" wR="76200" stAng="16200000" swAng="5400000"/>
                <a:lnTo>
                  <a:pt x="6972300" y="416520"/>
                </a:lnTo>
                <a:lnTo>
                  <a:pt x="0" y="416520"/>
                </a:lnTo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52A52"/>
          </a:solidFill>
          <a:ln/>
        </p:spPr>
        <p:txBody>
          <a:bodyPr wrap="square" lIns="152400" tIns="101600" rIns="0" bIns="762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Brainstorm board</a:t>
            </a:r>
            <a:r>
              <a:rPr lang="en-US" sz="1200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14 notes · 3 clusters · 1 on its own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77900" y="2044601"/>
            <a:ext cx="2218234" cy="2107803"/>
          </a:xfrm>
          <a:prstGeom prst="roundRect">
            <a:avLst>
              <a:gd name="adj" fmla="val 3314"/>
            </a:avLst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5850" y="2152551"/>
            <a:ext cx="20624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A6F7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Calls arrive too late · 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5850" y="2429371"/>
            <a:ext cx="2002334" cy="325041"/>
          </a:xfrm>
          <a:prstGeom prst="roundRect">
            <a:avLst>
              <a:gd name="adj" fmla="val 11722"/>
            </a:avLst>
          </a:prstGeom>
          <a:solidFill>
            <a:srgbClr val="FBF4DC"/>
          </a:solidFill>
          <a:ln/>
        </p:spPr>
        <p:txBody>
          <a:bodyPr wrap="square" lIns="52341" tIns="52341" rIns="0" bIns="26941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Capital calls reach us too late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5850" y="2817912"/>
            <a:ext cx="2002334" cy="325041"/>
          </a:xfrm>
          <a:prstGeom prst="roundRect">
            <a:avLst>
              <a:gd name="adj" fmla="val 11722"/>
            </a:avLst>
          </a:prstGeom>
          <a:solidFill>
            <a:srgbClr val="FBF4DC"/>
          </a:solidFill>
          <a:ln/>
        </p:spPr>
        <p:txBody>
          <a:bodyPr wrap="square" lIns="52341" tIns="52341" rIns="0" bIns="26941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 learn of calls by email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85850" y="3206452"/>
            <a:ext cx="20624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+ 4 more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0434" y="2044601"/>
            <a:ext cx="2218333" cy="2107803"/>
          </a:xfrm>
          <a:prstGeom prst="roundRect">
            <a:avLst>
              <a:gd name="adj" fmla="val 3314"/>
            </a:avLst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8384" y="2152551"/>
            <a:ext cx="20625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A6F7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single exposure view · 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18384" y="2429371"/>
            <a:ext cx="2002433" cy="523081"/>
          </a:xfrm>
          <a:prstGeom prst="roundRect">
            <a:avLst>
              <a:gd name="adj" fmla="val 7284"/>
            </a:avLst>
          </a:prstGeom>
          <a:solidFill>
            <a:srgbClr val="FBF4DC"/>
          </a:solidFill>
          <a:ln/>
        </p:spPr>
        <p:txBody>
          <a:bodyPr wrap="square" lIns="52341" tIns="52341" rIns="0" bIns="26941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Exposure by name takes a week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18384" y="3015952"/>
            <a:ext cx="2002433" cy="325041"/>
          </a:xfrm>
          <a:prstGeom prst="roundRect">
            <a:avLst>
              <a:gd name="adj" fmla="val 11722"/>
            </a:avLst>
          </a:prstGeom>
          <a:solidFill>
            <a:srgbClr val="FBF4DC"/>
          </a:solidFill>
          <a:ln/>
        </p:spPr>
        <p:txBody>
          <a:bodyPr wrap="square" lIns="52341" tIns="52341" rIns="0" bIns="26941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Private funds are not in 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8384" y="3404493"/>
            <a:ext cx="20625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+ 3 more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43066" y="2044601"/>
            <a:ext cx="1989634" cy="1015802"/>
          </a:xfrm>
          <a:prstGeom prst="roundRect">
            <a:avLst>
              <a:gd name="adj" fmla="val 6876"/>
            </a:avLst>
          </a:prstGeom>
          <a:noFill/>
          <a:ln w="12700">
            <a:solidFill>
              <a:srgbClr val="0E9A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51016" y="2152551"/>
            <a:ext cx="18269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A6F7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Nobody owns the list ·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51016" y="2429371"/>
            <a:ext cx="1773734" cy="523081"/>
          </a:xfrm>
          <a:prstGeom prst="roundRect">
            <a:avLst>
              <a:gd name="adj" fmla="val 7284"/>
            </a:avLst>
          </a:prstGeom>
          <a:solidFill>
            <a:srgbClr val="FBF4DC"/>
          </a:solidFill>
          <a:ln/>
        </p:spPr>
        <p:txBody>
          <a:bodyPr wrap="square" lIns="52341" tIns="52341" rIns="1541" bIns="26941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Nobody owns the list of calls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43066" y="3136602"/>
            <a:ext cx="1989634" cy="1015802"/>
          </a:xfrm>
          <a:prstGeom prst="roundRect">
            <a:avLst>
              <a:gd name="adj" fmla="val 6876"/>
            </a:avLst>
          </a:prstGeom>
          <a:noFill/>
          <a:ln w="12700">
            <a:solidFill>
              <a:srgbClr val="B4642A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751016" y="3244552"/>
            <a:ext cx="18269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A521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 its own · 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51016" y="3521373"/>
            <a:ext cx="1773734" cy="523081"/>
          </a:xfrm>
          <a:prstGeom prst="roundRect">
            <a:avLst>
              <a:gd name="adj" fmla="val 7284"/>
            </a:avLst>
          </a:prstGeom>
          <a:solidFill>
            <a:srgbClr val="FBF4DC"/>
          </a:solidFill>
          <a:ln/>
        </p:spPr>
        <p:txBody>
          <a:bodyPr wrap="square" lIns="52341" tIns="52341" rIns="1541" bIns="26941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Fee reports differ by manager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9150" y="4311154"/>
            <a:ext cx="6972300" cy="416520"/>
          </a:xfrm>
          <a:custGeom>
            <a:avLst/>
            <a:gdLst/>
            <a:ahLst/>
            <a:cxnLst/>
            <a:rect l="l" t="t" r="r" b="b"/>
            <a:pathLst>
              <a:path w="6972300" h="416520">
                <a:moveTo>
                  <a:pt x="0" y="0"/>
                </a:moveTo>
                <a:lnTo>
                  <a:pt x="6972300" y="0"/>
                </a:lnTo>
                <a:lnTo>
                  <a:pt x="6972300" y="340320"/>
                </a:lnTo>
                <a:arcTo hR="76200" wR="76200" stAng="0" swAng="5400000"/>
                <a:lnTo>
                  <a:pt x="76200" y="416520"/>
                </a:lnTo>
                <a:arcTo hR="76200" w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DF1F2"/>
          </a:solidFill>
          <a:ln/>
        </p:spPr>
        <p:txBody>
          <a:bodyPr wrap="square" lIns="152400" tIns="101600" rIns="0" bIns="762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North:</a:t>
            </a: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 grouped 13 notes into 3 clusters and left 1 alone. Drag any note if I got it wrong.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02600" y="1462980"/>
            <a:ext cx="33748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A521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 MOCK-UP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02600" y="1803301"/>
            <a:ext cx="337489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Who:</a:t>
            </a:r>
            <a:r>
              <a:rPr lang="en-US" sz="14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organiser sees it fill live; everyone sees it when the rooms close.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02600" y="2427982"/>
            <a:ext cx="337489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North names each cluster and never drops a note.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02600" y="3052663"/>
            <a:ext cx="337489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person can move a note, rename a cluster or split one.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Signal Harbor · Module 1 Intent Centre, design for discussion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052A5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7 · Back in the room: tick and prioritise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466155"/>
            <a:ext cx="6978650" cy="3191272"/>
          </a:xfrm>
          <a:prstGeom prst="roundRect">
            <a:avLst>
              <a:gd name="adj" fmla="val 2288"/>
            </a:avLst>
          </a:prstGeom>
          <a:solidFill>
            <a:srgbClr val="FFFFFF"/>
          </a:solidFill>
          <a:ln w="6350">
            <a:solidFill>
              <a:srgbClr val="D5DB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9150" y="1469330"/>
            <a:ext cx="6972300" cy="416520"/>
          </a:xfrm>
          <a:custGeom>
            <a:avLst/>
            <a:gdLst/>
            <a:ahLst/>
            <a:cxnLst/>
            <a:rect l="l" t="t" r="r" b="b"/>
            <a:pathLst>
              <a:path w="6972300" h="416520">
                <a:moveTo>
                  <a:pt x="76200" y="0"/>
                </a:moveTo>
                <a:lnTo>
                  <a:pt x="6896100" y="0"/>
                </a:lnTo>
                <a:arcTo hR="76200" wR="76200" stAng="16200000" swAng="5400000"/>
                <a:lnTo>
                  <a:pt x="6972300" y="416520"/>
                </a:lnTo>
                <a:lnTo>
                  <a:pt x="0" y="416520"/>
                </a:lnTo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52A52"/>
          </a:solidFill>
          <a:ln/>
        </p:spPr>
      </p:sp>
      <p:sp>
        <p:nvSpPr>
          <p:cNvPr id="5" name="Text 3"/>
          <p:cNvSpPr/>
          <p:nvPr/>
        </p:nvSpPr>
        <p:spPr>
          <a:xfrm>
            <a:off x="971550" y="1570930"/>
            <a:ext cx="28252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Together</a:t>
            </a:r>
            <a:r>
              <a:rPr lang="en-US" sz="1200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3 clusters · 2 in the charter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74368" y="1570930"/>
            <a:ext cx="1264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D6D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08:15 left · Pause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74725" y="2041426"/>
            <a:ext cx="6661150" cy="448270"/>
          </a:xfrm>
          <a:prstGeom prst="roundRect">
            <a:avLst>
              <a:gd name="adj" fmla="val 10624"/>
            </a:avLst>
          </a:prstGeom>
          <a:noFill/>
          <a:ln w="6350">
            <a:solidFill>
              <a:srgbClr val="D5DB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9500" y="2141141"/>
            <a:ext cx="20399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A6F7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34294" y="2158901"/>
            <a:ext cx="57796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Calls arrive too late</a:t>
            </a: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6 notes · 7 agree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47210" y="2133501"/>
            <a:ext cx="483890" cy="264120"/>
          </a:xfrm>
          <a:custGeom>
            <a:avLst/>
            <a:gdLst/>
            <a:ahLst/>
            <a:cxnLst/>
            <a:rect l="l" t="t" r="r" b="b"/>
            <a:pathLst>
              <a:path w="483890" h="264120">
                <a:moveTo>
                  <a:pt x="132060" y="0"/>
                </a:moveTo>
                <a:lnTo>
                  <a:pt x="351830" y="0"/>
                </a:lnTo>
                <a:arcTo hR="132060" wR="132060" stAng="16200000" swAng="5400000"/>
                <a:lnTo>
                  <a:pt x="483890" y="132060"/>
                </a:lnTo>
                <a:arcTo hR="132060" wR="132060" stAng="0" swAng="5400000"/>
                <a:lnTo>
                  <a:pt x="132060" y="264120"/>
                </a:lnTo>
                <a:arcTo hR="132060" wR="132060" stAng="5400000" swAng="5400000"/>
                <a:lnTo>
                  <a:pt x="0" y="132060"/>
                </a:lnTo>
                <a:arcTo hR="132060" wR="132060" stAng="10800000" swAng="5400000"/>
                <a:close/>
              </a:path>
            </a:pathLst>
          </a:custGeom>
          <a:solidFill>
            <a:srgbClr val="F6E7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21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74725" y="2572246"/>
            <a:ext cx="6661150" cy="448270"/>
          </a:xfrm>
          <a:prstGeom prst="roundRect">
            <a:avLst>
              <a:gd name="adj" fmla="val 10624"/>
            </a:avLst>
          </a:prstGeom>
          <a:noFill/>
          <a:ln w="6350">
            <a:solidFill>
              <a:srgbClr val="D5DB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9500" y="2671961"/>
            <a:ext cx="20399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A6F7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34294" y="2689721"/>
            <a:ext cx="57796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single exposure view</a:t>
            </a: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5 notes · 6 agree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7210" y="2664321"/>
            <a:ext cx="483890" cy="264120"/>
          </a:xfrm>
          <a:custGeom>
            <a:avLst/>
            <a:gdLst/>
            <a:ahLst/>
            <a:cxnLst/>
            <a:rect l="l" t="t" r="r" b="b"/>
            <a:pathLst>
              <a:path w="483890" h="264120">
                <a:moveTo>
                  <a:pt x="132060" y="0"/>
                </a:moveTo>
                <a:lnTo>
                  <a:pt x="351830" y="0"/>
                </a:lnTo>
                <a:arcTo hR="132060" wR="132060" stAng="16200000" swAng="5400000"/>
                <a:lnTo>
                  <a:pt x="483890" y="132060"/>
                </a:lnTo>
                <a:arcTo hR="132060" wR="132060" stAng="0" swAng="5400000"/>
                <a:lnTo>
                  <a:pt x="132060" y="264120"/>
                </a:lnTo>
                <a:arcTo hR="132060" wR="132060" stAng="5400000" swAng="5400000"/>
                <a:lnTo>
                  <a:pt x="0" y="132060"/>
                </a:lnTo>
                <a:arcTo hR="132060" wR="132060" stAng="10800000" swAng="5400000"/>
                <a:close/>
              </a:path>
            </a:pathLst>
          </a:custGeom>
          <a:solidFill>
            <a:srgbClr val="F6E7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21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74725" y="3103066"/>
            <a:ext cx="6661150" cy="448270"/>
          </a:xfrm>
          <a:prstGeom prst="roundRect">
            <a:avLst>
              <a:gd name="adj" fmla="val 10624"/>
            </a:avLst>
          </a:prstGeom>
          <a:noFill/>
          <a:ln w="6350">
            <a:solidFill>
              <a:srgbClr val="D5DB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9500" y="3202781"/>
            <a:ext cx="20399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34294" y="3220541"/>
            <a:ext cx="53652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Nobody owns the list</a:t>
            </a: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2 notes · 3 comments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44878" y="3195141"/>
            <a:ext cx="886222" cy="264120"/>
          </a:xfrm>
          <a:custGeom>
            <a:avLst/>
            <a:gdLst/>
            <a:ahLst/>
            <a:cxnLst/>
            <a:rect l="l" t="t" r="r" b="b"/>
            <a:pathLst>
              <a:path w="886222" h="264120">
                <a:moveTo>
                  <a:pt x="132060" y="0"/>
                </a:moveTo>
                <a:lnTo>
                  <a:pt x="754162" y="0"/>
                </a:lnTo>
                <a:arcTo hR="132060" wR="132060" stAng="16200000" swAng="5400000"/>
                <a:lnTo>
                  <a:pt x="886222" y="132060"/>
                </a:lnTo>
                <a:arcTo hR="132060" wR="132060" stAng="0" swAng="5400000"/>
                <a:lnTo>
                  <a:pt x="132060" y="264120"/>
                </a:lnTo>
                <a:arcTo hR="132060" wR="132060" stAng="5400000" swAng="5400000"/>
                <a:lnTo>
                  <a:pt x="0" y="132060"/>
                </a:lnTo>
                <a:arcTo hR="132060" wR="132060" stAng="10800000" swAng="5400000"/>
                <a:close/>
              </a:path>
            </a:pathLst>
          </a:custGeom>
          <a:solidFill>
            <a:srgbClr val="E8EC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Set priority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74725" y="3633887"/>
            <a:ext cx="6661150" cy="448270"/>
          </a:xfrm>
          <a:prstGeom prst="roundRect">
            <a:avLst>
              <a:gd name="adj" fmla="val 10624"/>
            </a:avLst>
          </a:prstGeom>
          <a:noFill/>
          <a:ln w="6350">
            <a:solidFill>
              <a:srgbClr val="C9D3DE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079500" y="3733602"/>
            <a:ext cx="20399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34294" y="3751362"/>
            <a:ext cx="5252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Fee reports differ by manager</a:t>
            </a: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1 note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5241" y="3725962"/>
            <a:ext cx="995859" cy="264120"/>
          </a:xfrm>
          <a:custGeom>
            <a:avLst/>
            <a:gdLst/>
            <a:ahLst/>
            <a:cxnLst/>
            <a:rect l="l" t="t" r="r" b="b"/>
            <a:pathLst>
              <a:path w="995859" h="264120">
                <a:moveTo>
                  <a:pt x="132060" y="0"/>
                </a:moveTo>
                <a:lnTo>
                  <a:pt x="863798" y="0"/>
                </a:lnTo>
                <a:arcTo hR="132060" wR="132060" stAng="16200000" swAng="5400000"/>
                <a:lnTo>
                  <a:pt x="995859" y="132060"/>
                </a:lnTo>
                <a:arcTo hR="132060" wR="132060" stAng="0" swAng="5400000"/>
                <a:lnTo>
                  <a:pt x="132060" y="264120"/>
                </a:lnTo>
                <a:arcTo hR="132060" wR="132060" stAng="5400000" swAng="5400000"/>
                <a:lnTo>
                  <a:pt x="0" y="132060"/>
                </a:lnTo>
                <a:arcTo hR="132060" wR="132060" stAng="10800000" swAng="5400000"/>
                <a:close/>
              </a:path>
            </a:pathLst>
          </a:custGeom>
          <a:solidFill>
            <a:srgbClr val="E8EC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 this time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9150" y="4237732"/>
            <a:ext cx="6972300" cy="416520"/>
          </a:xfrm>
          <a:custGeom>
            <a:avLst/>
            <a:gdLst/>
            <a:ahLst/>
            <a:cxnLst/>
            <a:rect l="l" t="t" r="r" b="b"/>
            <a:pathLst>
              <a:path w="6972300" h="416520">
                <a:moveTo>
                  <a:pt x="0" y="0"/>
                </a:moveTo>
                <a:lnTo>
                  <a:pt x="6972300" y="0"/>
                </a:lnTo>
                <a:lnTo>
                  <a:pt x="6972300" y="340320"/>
                </a:lnTo>
                <a:arcTo hR="76200" wR="76200" stAng="0" swAng="5400000"/>
                <a:lnTo>
                  <a:pt x="76200" y="416520"/>
                </a:lnTo>
                <a:arcTo hR="76200" w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DF1F2"/>
          </a:solidFill>
          <a:ln/>
        </p:spPr>
        <p:txBody>
          <a:bodyPr wrap="square" lIns="152400" tIns="101600" rIns="0" bIns="762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Nira:</a:t>
            </a: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two problems are in the charter. One is still open. Shall I hold the room while you discuss?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02600" y="1462980"/>
            <a:ext cx="33748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A521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 MOCK-UP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02600" y="1803301"/>
            <a:ext cx="337489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Who:</a:t>
            </a:r>
            <a:r>
              <a:rPr lang="en-US" sz="14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everyone, in the common room.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02600" y="2179141"/>
            <a:ext cx="3374898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tick sends a cluster to the charter. Each ticked cluster gets a priority: must, should, could, not this time.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02600" y="3052663"/>
            <a:ext cx="337489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discussion is the people's own; the agents stay quiet unless asked.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Signal Harbor · Module 1 Intent Centre, design for discussion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052A5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8 · The charter: sign, or send it 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466155"/>
            <a:ext cx="6978650" cy="3291483"/>
          </a:xfrm>
          <a:prstGeom prst="roundRect">
            <a:avLst>
              <a:gd name="adj" fmla="val 2219"/>
            </a:avLst>
          </a:prstGeom>
          <a:solidFill>
            <a:srgbClr val="FFFFFF"/>
          </a:solidFill>
          <a:ln w="6350">
            <a:solidFill>
              <a:srgbClr val="D5DB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9150" y="1469330"/>
            <a:ext cx="6972300" cy="416520"/>
          </a:xfrm>
          <a:custGeom>
            <a:avLst/>
            <a:gdLst/>
            <a:ahLst/>
            <a:cxnLst/>
            <a:rect l="l" t="t" r="r" b="b"/>
            <a:pathLst>
              <a:path w="6972300" h="416520">
                <a:moveTo>
                  <a:pt x="76200" y="0"/>
                </a:moveTo>
                <a:lnTo>
                  <a:pt x="6896100" y="0"/>
                </a:lnTo>
                <a:arcTo hR="76200" wR="76200" stAng="16200000" swAng="5400000"/>
                <a:lnTo>
                  <a:pt x="6972300" y="416520"/>
                </a:lnTo>
                <a:lnTo>
                  <a:pt x="0" y="416520"/>
                </a:lnTo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52A52"/>
          </a:solidFill>
          <a:ln/>
        </p:spPr>
        <p:txBody>
          <a:bodyPr wrap="square" lIns="152400" tIns="101600" rIns="0" bIns="762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Charter</a:t>
            </a:r>
            <a:r>
              <a:rPr lang="en-US" sz="1200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draft · template: Problem charter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96950" y="2063651"/>
            <a:ext cx="6815201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52A5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What we want to track, and why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6950" y="2472531"/>
            <a:ext cx="6616700" cy="358080"/>
          </a:xfrm>
          <a:prstGeom prst="rect">
            <a:avLst/>
          </a:prstGeom>
          <a:solidFill>
            <a:srgbClr val="F2F4F6"/>
          </a:solidFill>
          <a:ln/>
        </p:spPr>
        <p:txBody>
          <a:bodyPr wrap="square" lIns="139700" tIns="76200" rIns="0" bIns="5080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Must · Calls arrive too late.</a:t>
            </a: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So that funding is planned, not found. Raised in 6 notes.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16000" y="2472531"/>
            <a:ext cx="0" cy="358080"/>
          </a:xfrm>
          <a:prstGeom prst="line">
            <a:avLst/>
          </a:prstGeom>
          <a:noFill/>
          <a:ln w="38100">
            <a:solidFill>
              <a:srgbClr val="B464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950" y="2919512"/>
            <a:ext cx="6616700" cy="358080"/>
          </a:xfrm>
          <a:prstGeom prst="rect">
            <a:avLst/>
          </a:prstGeom>
          <a:solidFill>
            <a:srgbClr val="F2F4F6"/>
          </a:solidFill>
          <a:ln/>
        </p:spPr>
        <p:txBody>
          <a:bodyPr wrap="square" lIns="139700" tIns="76200" rIns="0" bIns="5080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Must · No single exposure view.</a:t>
            </a: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So that concentration is seen before it matters. Raised in 5 notes.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16000" y="2919512"/>
            <a:ext cx="0" cy="358080"/>
          </a:xfrm>
          <a:prstGeom prst="line">
            <a:avLst/>
          </a:prstGeom>
          <a:noFill/>
          <a:ln w="38100">
            <a:solidFill>
              <a:srgbClr val="B464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950" y="3366492"/>
            <a:ext cx="6616700" cy="358080"/>
          </a:xfrm>
          <a:prstGeom prst="rect">
            <a:avLst/>
          </a:prstGeom>
          <a:solidFill>
            <a:srgbClr val="F2F4F6"/>
          </a:solidFill>
          <a:ln/>
        </p:spPr>
        <p:txBody>
          <a:bodyPr wrap="square" lIns="139700" tIns="76200" rIns="0" bIns="5080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Should · Nobody owns the list.</a:t>
            </a: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So that one person answers for it. Raised in 2 notes.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16000" y="3366492"/>
            <a:ext cx="0" cy="358080"/>
          </a:xfrm>
          <a:prstGeom prst="line">
            <a:avLst/>
          </a:prstGeom>
          <a:noFill/>
          <a:ln w="381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950" y="3813473"/>
            <a:ext cx="68152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Session of 3 October · 8 participants · 14 notes · 1 problem left for later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9150" y="4207768"/>
            <a:ext cx="6972300" cy="0"/>
          </a:xfrm>
          <a:prstGeom prst="line">
            <a:avLst/>
          </a:prstGeom>
          <a:noFill/>
          <a:ln w="6350">
            <a:solidFill>
              <a:srgbClr val="D5DB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1550" y="4376043"/>
            <a:ext cx="1054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Signers: 0 of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64038" y="4318893"/>
            <a:ext cx="1553766" cy="327620"/>
          </a:xfrm>
          <a:prstGeom prst="roundRect">
            <a:avLst>
              <a:gd name="adj" fmla="val 13568"/>
            </a:avLst>
          </a:prstGeom>
          <a:noFill/>
          <a:ln w="12700">
            <a:solidFill>
              <a:srgbClr val="052A5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Send to an approver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00354" y="4312543"/>
            <a:ext cx="838696" cy="340320"/>
          </a:xfrm>
          <a:prstGeom prst="roundRect">
            <a:avLst>
              <a:gd name="adj" fmla="val 14927"/>
            </a:avLst>
          </a:prstGeom>
          <a:solidFill>
            <a:srgbClr val="052A52"/>
          </a:solidFill>
          <a:ln/>
        </p:spPr>
        <p:txBody>
          <a:bodyPr wrap="none" lIns="0" tIns="35921" rIns="0" bIns="10521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 now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02600" y="1462980"/>
            <a:ext cx="33748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A521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 MOCK-UP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02600" y="1803301"/>
            <a:ext cx="337489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If the seniors are in the room:</a:t>
            </a:r>
            <a:r>
              <a:rPr lang="en-US" sz="14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they sign there and then.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02600" y="2427982"/>
            <a:ext cx="3374898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If not:</a:t>
            </a:r>
            <a:r>
              <a:rPr lang="en-US" sz="14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draft goes to their boss with one question: do you agree, and may we proceed?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02600" y="3301504"/>
            <a:ext cx="337489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Output:</a:t>
            </a:r>
            <a:r>
              <a:rPr lang="en-US" sz="1400" dirty="0">
                <a:solidFill>
                  <a:srgbClr val="052A5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signed charter, and what goes to module 2.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Signal Harbor · Module 1 Intent Centre, design for discussion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052A5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The properties of a session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75680"/>
          <a:ext cx="10553700" cy="4144169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  <a:gridCol w="3517900"/>
              </a:tblGrid>
              <a:tr h="35044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4A5B6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Property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B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B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2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4A5B6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Choices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B3B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B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B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2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4A5B6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Rule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B3B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B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B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2E4"/>
                    </a:solidFill>
                  </a:tcPr>
                </a:tc>
              </a:tr>
              <a:tr h="35044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Seats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B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 to 10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B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One private room per seat; one seat is a solo session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B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4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Time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5, 10, 20, 30 minutes, or custom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Split across briefing, rooms and together; organiser can extend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4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Names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By name, or anonymous on the board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Set before the session; cannot change once rooms open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44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Templates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Note form; industry problem library on or off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Library is shown only if the organiser turned it on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4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Agent stance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Listen and check, or also suggest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Listen and check unless the organiser chose otherwise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44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Voice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Spoken and text, or text only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Each person can mute; text is always shown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4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Notes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Added in the individual rooms only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Private until submitted; never deleted, only left for later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4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Approval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Sign in the room, or send to an approver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 signed charter changes only through a new sign-off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Signal Harbor · Module 1 Intent Centre, design for discussion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052A52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What the sketch leaves open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75680"/>
          <a:ext cx="10553700" cy="3748087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</a:tblGrid>
              <a:tr h="35044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4A5B6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Situation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B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B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2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4A5B6E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What I propose happens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B3B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B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B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2E4"/>
                    </a:solidFill>
                  </a:tcPr>
                </a:tc>
              </a:tr>
              <a:tr h="35044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Someone joins late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B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They take a free seat, see the briefing, and get the time that is left in their room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B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4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Someone drops out or loses connection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Their seat and notes are kept; the same link brings them back to where they were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4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Time runs out mid-sentence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 one-minute warning, then notes taken so far are submitted; the organiser can extend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44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 person does not want to speak aloud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They type; nothing else changes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44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Two people write the same thing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Both notes are kept in one cluster; the count shows how widely it is felt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44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The room cannot agree on a cluster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It stays unticked and is carried to a later session; the charter says so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44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The approver says no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Their comment reopens the together stage; the earlier draft is kept as a version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4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Anonymous session, private transcripts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52A5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The room never sees who wrote a note; who can read a transcript is a decision for you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B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Signal Harbor · Module 1 Intent Centre, design for discussion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F2F4F6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Decisions for you on module 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23925" y="1513780"/>
            <a:ext cx="10763885" cy="2345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275" indent="-168275">
              <a:lnSpc>
                <a:spcPts val="2030"/>
              </a:lnSpc>
              <a:buSzPct val="100000"/>
              <a:buFontTx/>
              <a:buAutoNum type="arabicPeriod" startAt="1"/>
            </a:pPr>
            <a:r>
              <a:rPr lang="en-US" sz="1400" b="1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Anonymous means what?</a:t>
            </a:r>
            <a:r>
              <a:rPr lang="en-US" sz="1400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Hidden from the room only, or hidden from the organiser too. I recommend hidden from both, with transcripts readable by nobody but their author.</a:t>
            </a:r>
            <a:endParaRPr lang="en-US" sz="1400" dirty="0"/>
          </a:p>
          <a:p>
            <a:pPr algn="l" marL="168275" indent="-168275">
              <a:lnSpc>
                <a:spcPts val="2030"/>
              </a:lnSpc>
              <a:buSzPct val="100000"/>
              <a:buFontTx/>
              <a:buAutoNum type="arabicPeriod" startAt="1"/>
            </a:pPr>
            <a:r>
              <a:rPr lang="en-US" sz="1400" b="1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Does North ever suggest?</a:t>
            </a:r>
            <a:r>
              <a:rPr lang="en-US" sz="1400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 recommend listen-and-check by default, with the problem library as a switch the organiser turns on.</a:t>
            </a:r>
            <a:endParaRPr lang="en-US" sz="1400" dirty="0"/>
          </a:p>
          <a:p>
            <a:pPr algn="l" marL="168275" indent="-168275">
              <a:lnSpc>
                <a:spcPts val="2030"/>
              </a:lnSpc>
              <a:buSzPct val="100000"/>
              <a:buFontTx/>
              <a:buAutoNum type="arabicPeriod" startAt="1"/>
            </a:pPr>
            <a:r>
              <a:rPr lang="en-US" sz="1400" b="1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Spoken voice.</a:t>
            </a:r>
            <a:r>
              <a:rPr lang="en-US" sz="1400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It needs an outside speech service, so audio leaves the client's machine. I recommend offering it, with text-only for clients who refuse.</a:t>
            </a:r>
            <a:endParaRPr lang="en-US" sz="1400" dirty="0"/>
          </a:p>
          <a:p>
            <a:pPr algn="l" marL="168275" indent="-168275">
              <a:lnSpc>
                <a:spcPts val="2030"/>
              </a:lnSpc>
              <a:buSzPct val="100000"/>
              <a:buFontTx/>
              <a:buAutoNum type="arabicPeriod" startAt="1"/>
            </a:pPr>
            <a:r>
              <a:rPr lang="en-US" sz="1400" b="1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Who may be the approver?</a:t>
            </a:r>
            <a:r>
              <a:rPr lang="en-US" sz="1400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 recommend a named person set in preparation, who opens the draft by link and need not have an account.</a:t>
            </a:r>
            <a:endParaRPr lang="en-US" sz="1400" dirty="0"/>
          </a:p>
          <a:p>
            <a:pPr algn="l" marL="168275" indent="-168275">
              <a:lnSpc>
                <a:spcPts val="2030"/>
              </a:lnSpc>
              <a:buSzPct val="100000"/>
              <a:buFontTx/>
              <a:buAutoNum type="arabicPeriod" startAt="1"/>
            </a:pPr>
            <a:r>
              <a:rPr lang="en-US" sz="1400" b="1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Does the board fill live for the organiser,</a:t>
            </a:r>
            <a:r>
              <a:rPr lang="en-US" sz="1400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or only when the rooms close? Live is more engaging; closed is fairer to anonymity. I recommend counts live, content when the rooms close.</a:t>
            </a:r>
            <a:endParaRPr lang="en-US" sz="1400" dirty="0"/>
          </a:p>
          <a:p>
            <a:pPr algn="l" marL="168275" indent="-168275">
              <a:lnSpc>
                <a:spcPts val="2030"/>
              </a:lnSpc>
              <a:buSzPct val="100000"/>
              <a:buFontTx/>
              <a:buAutoNum type="arabicPeriod" startAt="1"/>
            </a:pPr>
            <a:r>
              <a:rPr lang="en-US" sz="1400" b="1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briefing video.</a:t>
            </a:r>
            <a:r>
              <a:rPr lang="en-US" sz="1400" dirty="0">
                <a:solidFill>
                  <a:srgbClr val="F2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standard one from us, or must each client make their own? I recommend a standard one, replaceable.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ule 1 Intent Centre: workflow and screens">
  <a:themeElements>
    <a:clrScheme name="Module 1 Intent Centre: workflow and screens">
      <a:dk1>
        <a:srgbClr val="052A52"/>
      </a:dk1>
      <a:lt1>
        <a:srgbClr val="F2F4F6"/>
      </a:lt1>
      <a:dk2>
        <a:srgbClr val="405D7B"/>
      </a:dk2>
      <a:lt2>
        <a:srgbClr val="DAE0E6"/>
      </a:lt2>
      <a:accent1>
        <a:srgbClr val="0A6F78"/>
      </a:accent1>
      <a:accent2>
        <a:srgbClr val="9A521F"/>
      </a:accent2>
      <a:accent3>
        <a:srgbClr val="7FD6DD"/>
      </a:accent3>
      <a:accent4>
        <a:srgbClr val="4A5B6E"/>
      </a:accent4>
      <a:accent5>
        <a:srgbClr val="FBF4DC"/>
      </a:accent5>
      <a:accent6>
        <a:srgbClr val="C9D3DE"/>
      </a:accent6>
      <a:hlink>
        <a:srgbClr val="0563C1"/>
      </a:hlink>
      <a:folHlink>
        <a:srgbClr val="954F72"/>
      </a:folHlink>
    </a:clrScheme>
    <a:fontScheme name="Module 1 Intent Centre: workflow and screens">
      <a:majorFont>
        <a:latin typeface="Fraunce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Intent Centre: workflow and screens</dc:title>
  <dc:subject/>
  <dc:creator/>
  <cp:lastModifiedBy/>
  <cp:revision>1</cp:revision>
  <dcterms:created xsi:type="dcterms:W3CDTF">2026-10-02T23:18:07Z</dcterms:created>
  <dcterms:modified xsi:type="dcterms:W3CDTF">2026-10-02T23:18:07Z</dcterms:modified>
</cp:coreProperties>
</file>