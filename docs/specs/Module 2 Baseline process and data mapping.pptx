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follows your sketch: the signed charter says what matters and what to track; the business does not yet know the definition, the owner, the producer of the data or how it is gathered. This module finds that out and ends in a process map and a data catalogue, which module 3 then assesses.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Stages 2 to 4 are quick and can be done in a meeting or by email. Stages 5 and 6 are where the owners do the real work. Stages 7 and 8 are mostly the agents assembling what people said, and people confirming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stance matters most here. A catalogue that looks full but contains guesses is worse than one that shows what is unknown. Each value in the catalogue carries a mark: stated by a named person, guessed, or unknown.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"starts with signed charter" box in your sketch, with the three things the charter already gives (what is a priority, what to track) and the four it does not (definition, owner, producer of the data, process of gathering it). Each charter problem becomes one or more KPIs. The KPI names and states shown are invented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nomination step: business owner, data owner and process owner for each KPI, and the governance question of whether a field holds personal data and who may see it. The people and states shown are invented examples. A nominated person is told what they are being asked and can decline, which sends the question back to the organiser.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step where the agent sends the request, as in your sketch. The link opens only that person's questions, so it needs no account. Sending an email is new for the product and needs an outbound email service; it is one of the decisions on the last slide. The names and states shown are invented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follows your list: is it tracked, can we track it, dependencies, source, type of data (structured or unstructured), SLA, when it comes today, and a sample file if possible. A sample file is described but not uploaded to any outside service: it stays on the client's machine. The answers shown are invented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traceability in your sketch: upstream, downstream, who processes the data in between, and who consumes it. The aim is that every number can be followed from its source to the person who reads it. A spreadsheet in the middle is recorded as a manual step because it is where figures most often change. The names and steps shown are invented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process map from your sketch, produced by the agents from the answers in stages 5 and 6. Built today: a process map drafted from the industry pack, with validate, edit and remove. New: drawing it from the owners' own answers instead. The steps shown are invented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shape you described: from the source systems to the tables, from the tables to the fields, and for each, the SLAs and operations. Rows are invented examples. I could not find your earlier catalogue template in the repository, so the columns here follow what you said today; please compare with the earlier one and tell me what differs.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specification module 3 depends on. The catalogue holds descriptions only, never client data. The provenance row is what keeps it honest: a value nobody confirmed is shown as a guess or as unknown, never as fact. The levels are my structuring of what you described; adjust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your governance point: whether a source contains personal data, and who may be given it. The product already carries personal-data levels in its data model contracts; what is new is asking for them per field at baseline time and restricting who sees the catalogue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said you may have missed things; these nine are what I found. The first two matter most, because this module depends on other people answering. A KPI that cannot be answered does not block the whole baseline, but it cannot be signed until it has an owner or is marked blocked.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foundation exists: definitions, process map, landscape, conflicts and a protected sign-off. What is new is the human side: who owns what, asking them, and assembling their answers into the catalogue. The "Built" rows describe the main branch as of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here is built or planned yet. Once these are settled I can turn modules 1 and 2 into one build plan, sequenced after the family-office merge. Module 3, assess and gap evaluation, comes next, and it depends on the catalogue defined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2F4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052A52"/>
                </a:solidFill>
                <a:latin typeface="Fraunces" pitchFamily="34" charset="0"/>
                <a:ea typeface="Fraunces" pitchFamily="34" charset="-122"/>
                <a:cs typeface="Fraunce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580"/>
            <a:ext cx="10566400" cy="4480620"/>
          </a:xfrm>
          <a:prstGeom prst="rect">
            <a:avLst/>
          </a:prstGeom>
          <a:noFill/>
          <a:ln/>
        </p:spPr>
        <p:txBody>
          <a:bodyPr wrap="square" lIns="0" tIns="0" rIns="0" bIns="0" rtlCol="0" anchor="t"/>
          <a:lstStyle>
            <a:lvl1pPr algn="l" indent="0" marL="0">
              <a:lnSpc>
                <a:spcPct val="140000"/>
              </a:lnSpc>
              <a:buNone/>
              <a:defRPr lang="en-US" sz="1600" dirty="0">
                <a:solidFill>
                  <a:srgbClr val="052A52"/>
                </a:solidFill>
                <a:latin typeface="Source Sans 3" pitchFamily="34" charset="0"/>
                <a:ea typeface="Source Sans 3" pitchFamily="34" charset="-122"/>
                <a:cs typeface="Source Sans 3"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4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052A52"/>
                </a:solidFill>
                <a:latin typeface="Fraunces" pitchFamily="34" charset="0"/>
                <a:ea typeface="Fraunces" pitchFamily="34" charset="-122"/>
                <a:cs typeface="Fraunce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580"/>
            <a:ext cx="10566400" cy="4480620"/>
          </a:xfrm>
          <a:prstGeom prst="rect">
            <a:avLst/>
          </a:prstGeom>
          <a:noFill/>
          <a:ln/>
        </p:spPr>
        <p:txBody>
          <a:bodyPr wrap="square" lIns="0" tIns="0" rIns="0" bIns="0" rtlCol="0" anchor="t"/>
          <a:lstStyle>
            <a:lvl1pPr algn="l" indent="0" marL="0">
              <a:lnSpc>
                <a:spcPct val="140000"/>
              </a:lnSpc>
              <a:buNone/>
              <a:defRPr lang="en-US" sz="1600" dirty="0">
                <a:solidFill>
                  <a:srgbClr val="052A52"/>
                </a:solidFill>
                <a:latin typeface="Source Sans 3" pitchFamily="34" charset="0"/>
                <a:ea typeface="Source Sans 3" pitchFamily="34" charset="-122"/>
                <a:cs typeface="Source Sans 3"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2A5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FD6DD"/>
                </a:solidFill>
                <a:latin typeface="Source Sans 3" pitchFamily="34" charset="0"/>
                <a:ea typeface="Source Sans 3" pitchFamily="34" charset="-122"/>
                <a:cs typeface="Source Sans 3" pitchFamily="34" charset="-120"/>
              </a:rPr>
              <a:t>MODULE 2 · DESIGN FOR DISCUSSION</a:t>
            </a:r>
            <a:endParaRPr lang="en-US" sz="1400" dirty="0"/>
          </a:p>
        </p:txBody>
      </p:sp>
      <p:sp>
        <p:nvSpPr>
          <p:cNvPr id="3" name="Text 1"/>
          <p:cNvSpPr/>
          <p:nvPr>
            <p:ph type="title"/>
          </p:nvPr>
        </p:nvSpPr>
        <p:spPr>
          <a:xfrm>
            <a:off x="812800" y="2731790"/>
            <a:ext cx="11379200" cy="825500"/>
          </a:xfrm>
          <a:prstGeom prst="rect">
            <a:avLst/>
          </a:prstGeom>
          <a:noFill/>
          <a:ln/>
        </p:spPr>
        <p:txBody>
          <a:bodyPr wrap="square" lIns="0" tIns="0" rIns="0" bIns="0" rtlCol="0" anchor="t">
            <a:normAutofit/>
          </a:bodyPr>
          <a:lstStyle/>
          <a:p>
            <a:pPr algn="l" indent="0" marL="0">
              <a:lnSpc>
                <a:spcPts val="6300"/>
              </a:lnSpc>
              <a:buNone/>
            </a:pPr>
            <a:r>
              <a:rPr lang="en-US" sz="6000" b="0" i="0" dirty="0">
                <a:solidFill>
                  <a:srgbClr val="F2F4F6"/>
                </a:solidFill>
                <a:latin typeface="Fraunces" pitchFamily="18" charset="0"/>
                <a:ea typeface="Fraunces" pitchFamily="18" charset="-122"/>
                <a:cs typeface="Fraunces" pitchFamily="18" charset="-120"/>
              </a:rPr>
              <a:t>Baseline: process and data mapping</a:t>
            </a:r>
            <a:endParaRPr lang="en-US" sz="6000" dirty="0"/>
          </a:p>
        </p:txBody>
      </p:sp>
      <p:sp>
        <p:nvSpPr>
          <p:cNvPr id="4" name="Text 2"/>
          <p:cNvSpPr/>
          <p:nvPr/>
        </p:nvSpPr>
        <p:spPr>
          <a:xfrm>
            <a:off x="812800" y="3735090"/>
            <a:ext cx="1088339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7FD6DD"/>
                </a:solidFill>
                <a:latin typeface="Source Sans 3" pitchFamily="34" charset="0"/>
                <a:ea typeface="Source Sans 3" pitchFamily="34" charset="-122"/>
                <a:cs typeface="Source Sans 3" pitchFamily="34" charset="-120"/>
              </a:rPr>
              <a:t>From a signed charter to a data catalogue</a:t>
            </a:r>
            <a:endParaRPr lang="en-US" sz="2200" dirty="0"/>
          </a:p>
        </p:txBody>
      </p:sp>
      <p:sp>
        <p:nvSpPr>
          <p:cNvPr id="5" name="Text 3"/>
          <p:cNvSpPr/>
          <p:nvPr/>
        </p:nvSpPr>
        <p:spPr>
          <a:xfrm>
            <a:off x="812800" y="57963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DE"/>
                </a:solidFill>
                <a:latin typeface="Source Sans 3" pitchFamily="34" charset="0"/>
                <a:ea typeface="Source Sans 3" pitchFamily="34" charset="-122"/>
                <a:cs typeface="Source Sans 3" pitchFamily="34" charset="-120"/>
              </a:rPr>
              <a:t>3 October 2026 · Drawn from your sketch · Every screen is a design mock-up with example content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4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052A52"/>
                </a:solidFill>
                <a:latin typeface="Fraunces" pitchFamily="18" charset="0"/>
                <a:ea typeface="Fraunces" pitchFamily="18" charset="-122"/>
                <a:cs typeface="Fraunces" pitchFamily="18" charset="-120"/>
              </a:rPr>
              <a:t>The workflow, end to end</a:t>
            </a:r>
            <a:endParaRPr lang="en-US" sz="3200" dirty="0"/>
          </a:p>
        </p:txBody>
      </p:sp>
      <p:sp>
        <p:nvSpPr>
          <p:cNvPr id="3" name="Shape 1"/>
          <p:cNvSpPr/>
          <p:nvPr/>
        </p:nvSpPr>
        <p:spPr>
          <a:xfrm>
            <a:off x="815975" y="1466155"/>
            <a:ext cx="2311400" cy="1215132"/>
          </a:xfrm>
          <a:prstGeom prst="roundRect">
            <a:avLst>
              <a:gd name="adj" fmla="val 6010"/>
            </a:avLst>
          </a:prstGeom>
          <a:solidFill>
            <a:srgbClr val="FFFFFF"/>
          </a:solidFill>
          <a:ln w="6350">
            <a:solidFill>
              <a:srgbClr val="D5DBE1"/>
            </a:solidFill>
            <a:prstDash val="solid"/>
          </a:ln>
        </p:spPr>
      </p:sp>
      <p:sp>
        <p:nvSpPr>
          <p:cNvPr id="4" name="Text 2"/>
          <p:cNvSpPr/>
          <p:nvPr/>
        </p:nvSpPr>
        <p:spPr>
          <a:xfrm>
            <a:off x="958850" y="1609030"/>
            <a:ext cx="208641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A6F78"/>
                </a:solidFill>
                <a:latin typeface="Fraunces" pitchFamily="18" charset="0"/>
                <a:ea typeface="Fraunces" pitchFamily="18" charset="-122"/>
                <a:cs typeface="Fraunces" pitchFamily="18" charset="-120"/>
              </a:rPr>
              <a:t>1 Charter in</a:t>
            </a:r>
            <a:endParaRPr lang="en-US" sz="1600" dirty="0"/>
          </a:p>
        </p:txBody>
      </p:sp>
      <p:sp>
        <p:nvSpPr>
          <p:cNvPr id="5" name="Text 3"/>
          <p:cNvSpPr/>
          <p:nvPr/>
        </p:nvSpPr>
        <p:spPr>
          <a:xfrm>
            <a:off x="958850" y="1944291"/>
            <a:ext cx="2086419" cy="61952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B6E"/>
                </a:solidFill>
                <a:latin typeface="Source Sans 3" pitchFamily="34" charset="0"/>
                <a:ea typeface="Source Sans 3" pitchFamily="34" charset="-122"/>
                <a:cs typeface="Source Sans 3" pitchFamily="34" charset="-120"/>
              </a:rPr>
              <a:t>The signed charter opens the module; each problem becomes KPIs to baseline</a:t>
            </a:r>
            <a:endParaRPr lang="en-US" sz="1200" dirty="0"/>
          </a:p>
        </p:txBody>
      </p:sp>
      <p:pic>
        <p:nvPicPr>
          <p:cNvPr id="6" name="Image 0" descr="arrow-right">    </p:cNvPr>
          <p:cNvPicPr>
            <a:picLocks noChangeAspect="1"/>
          </p:cNvPicPr>
          <p:nvPr/>
        </p:nvPicPr>
        <p:blipFill>
          <a:blip r:embed="rId1"/>
          <a:srcRect l="0" r="0" t="0" b="0"/>
          <a:stretch/>
        </p:blipFill>
        <p:spPr>
          <a:xfrm>
            <a:off x="3232150" y="1978422"/>
            <a:ext cx="228600" cy="190500"/>
          </a:xfrm>
          <a:prstGeom prst="rect">
            <a:avLst/>
          </a:prstGeom>
        </p:spPr>
      </p:pic>
      <p:sp>
        <p:nvSpPr>
          <p:cNvPr id="7" name="Shape 4"/>
          <p:cNvSpPr/>
          <p:nvPr/>
        </p:nvSpPr>
        <p:spPr>
          <a:xfrm>
            <a:off x="3565525" y="1565176"/>
            <a:ext cx="2311400" cy="1017091"/>
          </a:xfrm>
          <a:prstGeom prst="roundRect">
            <a:avLst>
              <a:gd name="adj" fmla="val 7180"/>
            </a:avLst>
          </a:prstGeom>
          <a:solidFill>
            <a:srgbClr val="FFFFFF"/>
          </a:solidFill>
          <a:ln w="6350">
            <a:solidFill>
              <a:srgbClr val="D5DBE1"/>
            </a:solidFill>
            <a:prstDash val="solid"/>
          </a:ln>
        </p:spPr>
      </p:sp>
      <p:sp>
        <p:nvSpPr>
          <p:cNvPr id="8" name="Text 5"/>
          <p:cNvSpPr/>
          <p:nvPr/>
        </p:nvSpPr>
        <p:spPr>
          <a:xfrm>
            <a:off x="3708400" y="1708051"/>
            <a:ext cx="208641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A6F78"/>
                </a:solidFill>
                <a:latin typeface="Fraunces" pitchFamily="18" charset="0"/>
                <a:ea typeface="Fraunces" pitchFamily="18" charset="-122"/>
                <a:cs typeface="Fraunces" pitchFamily="18" charset="-120"/>
              </a:rPr>
              <a:t>2 Triage</a:t>
            </a:r>
            <a:endParaRPr lang="en-US" sz="1600" dirty="0"/>
          </a:p>
        </p:txBody>
      </p:sp>
      <p:sp>
        <p:nvSpPr>
          <p:cNvPr id="9" name="Text 6"/>
          <p:cNvSpPr/>
          <p:nvPr/>
        </p:nvSpPr>
        <p:spPr>
          <a:xfrm>
            <a:off x="3708400" y="2043311"/>
            <a:ext cx="2086419"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B6E"/>
                </a:solidFill>
                <a:latin typeface="Source Sans 3" pitchFamily="34" charset="0"/>
                <a:ea typeface="Source Sans 3" pitchFamily="34" charset="-122"/>
                <a:cs typeface="Source Sans 3" pitchFamily="34" charset="-120"/>
              </a:rPr>
              <a:t>Per KPI: what is known and what is not</a:t>
            </a:r>
            <a:endParaRPr lang="en-US" sz="1200" dirty="0"/>
          </a:p>
        </p:txBody>
      </p:sp>
      <p:pic>
        <p:nvPicPr>
          <p:cNvPr id="10" name="Image 1" descr="arrow-right">    </p:cNvPr>
          <p:cNvPicPr>
            <a:picLocks noChangeAspect="1"/>
          </p:cNvPicPr>
          <p:nvPr/>
        </p:nvPicPr>
        <p:blipFill>
          <a:blip r:embed="rId2"/>
          <a:srcRect l="0" r="0" t="0" b="0"/>
          <a:stretch/>
        </p:blipFill>
        <p:spPr>
          <a:xfrm>
            <a:off x="5981700" y="1978422"/>
            <a:ext cx="228600" cy="190500"/>
          </a:xfrm>
          <a:prstGeom prst="rect">
            <a:avLst/>
          </a:prstGeom>
        </p:spPr>
      </p:pic>
      <p:sp>
        <p:nvSpPr>
          <p:cNvPr id="11" name="Shape 7"/>
          <p:cNvSpPr/>
          <p:nvPr/>
        </p:nvSpPr>
        <p:spPr>
          <a:xfrm>
            <a:off x="6315075" y="1466155"/>
            <a:ext cx="2311400" cy="1215132"/>
          </a:xfrm>
          <a:prstGeom prst="roundRect">
            <a:avLst>
              <a:gd name="adj" fmla="val 6010"/>
            </a:avLst>
          </a:prstGeom>
          <a:solidFill>
            <a:srgbClr val="FFFFFF"/>
          </a:solidFill>
          <a:ln w="6350">
            <a:solidFill>
              <a:srgbClr val="D5DBE1"/>
            </a:solidFill>
            <a:prstDash val="solid"/>
          </a:ln>
        </p:spPr>
      </p:sp>
      <p:sp>
        <p:nvSpPr>
          <p:cNvPr id="12" name="Text 8"/>
          <p:cNvSpPr/>
          <p:nvPr/>
        </p:nvSpPr>
        <p:spPr>
          <a:xfrm>
            <a:off x="6457950" y="1609030"/>
            <a:ext cx="208641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A6F78"/>
                </a:solidFill>
                <a:latin typeface="Fraunces" pitchFamily="18" charset="0"/>
                <a:ea typeface="Fraunces" pitchFamily="18" charset="-122"/>
                <a:cs typeface="Fraunces" pitchFamily="18" charset="-120"/>
              </a:rPr>
              <a:t>3 Nominate</a:t>
            </a:r>
            <a:endParaRPr lang="en-US" sz="1600" dirty="0"/>
          </a:p>
        </p:txBody>
      </p:sp>
      <p:sp>
        <p:nvSpPr>
          <p:cNvPr id="13" name="Text 9"/>
          <p:cNvSpPr/>
          <p:nvPr/>
        </p:nvSpPr>
        <p:spPr>
          <a:xfrm>
            <a:off x="6457950" y="1944291"/>
            <a:ext cx="2086419" cy="61952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B6E"/>
                </a:solidFill>
                <a:latin typeface="Source Sans 3" pitchFamily="34" charset="0"/>
                <a:ea typeface="Source Sans 3" pitchFamily="34" charset="-122"/>
                <a:cs typeface="Source Sans 3" pitchFamily="34" charset="-120"/>
              </a:rPr>
              <a:t>Business owner, data owner, process owner; who may see the data</a:t>
            </a:r>
            <a:endParaRPr lang="en-US" sz="1200" dirty="0"/>
          </a:p>
        </p:txBody>
      </p:sp>
      <p:pic>
        <p:nvPicPr>
          <p:cNvPr id="14" name="Image 2" descr="arrow-right">    </p:cNvPr>
          <p:cNvPicPr>
            <a:picLocks noChangeAspect="1"/>
          </p:cNvPicPr>
          <p:nvPr/>
        </p:nvPicPr>
        <p:blipFill>
          <a:blip r:embed="rId3"/>
          <a:srcRect l="0" r="0" t="0" b="0"/>
          <a:stretch/>
        </p:blipFill>
        <p:spPr>
          <a:xfrm>
            <a:off x="8731250" y="1978422"/>
            <a:ext cx="228600" cy="190500"/>
          </a:xfrm>
          <a:prstGeom prst="rect">
            <a:avLst/>
          </a:prstGeom>
        </p:spPr>
      </p:pic>
      <p:sp>
        <p:nvSpPr>
          <p:cNvPr id="15" name="Shape 10"/>
          <p:cNvSpPr/>
          <p:nvPr/>
        </p:nvSpPr>
        <p:spPr>
          <a:xfrm>
            <a:off x="9064625" y="1565176"/>
            <a:ext cx="2311400" cy="1017091"/>
          </a:xfrm>
          <a:prstGeom prst="roundRect">
            <a:avLst>
              <a:gd name="adj" fmla="val 7180"/>
            </a:avLst>
          </a:prstGeom>
          <a:solidFill>
            <a:srgbClr val="FFFFFF"/>
          </a:solidFill>
          <a:ln w="6350">
            <a:solidFill>
              <a:srgbClr val="D5DBE1"/>
            </a:solidFill>
            <a:prstDash val="solid"/>
          </a:ln>
        </p:spPr>
      </p:sp>
      <p:sp>
        <p:nvSpPr>
          <p:cNvPr id="16" name="Text 11"/>
          <p:cNvSpPr/>
          <p:nvPr/>
        </p:nvSpPr>
        <p:spPr>
          <a:xfrm>
            <a:off x="9207500" y="1708051"/>
            <a:ext cx="208641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A6F78"/>
                </a:solidFill>
                <a:latin typeface="Fraunces" pitchFamily="18" charset="0"/>
                <a:ea typeface="Fraunces" pitchFamily="18" charset="-122"/>
                <a:cs typeface="Fraunces" pitchFamily="18" charset="-120"/>
              </a:rPr>
              <a:t>4 Request</a:t>
            </a:r>
            <a:endParaRPr lang="en-US" sz="1600" dirty="0"/>
          </a:p>
        </p:txBody>
      </p:sp>
      <p:sp>
        <p:nvSpPr>
          <p:cNvPr id="17" name="Text 12"/>
          <p:cNvSpPr/>
          <p:nvPr/>
        </p:nvSpPr>
        <p:spPr>
          <a:xfrm>
            <a:off x="9207500" y="2043311"/>
            <a:ext cx="2086419"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B6E"/>
                </a:solidFill>
                <a:latin typeface="Source Sans 3" pitchFamily="34" charset="0"/>
                <a:ea typeface="Source Sans 3" pitchFamily="34" charset="-122"/>
                <a:cs typeface="Source Sans 3" pitchFamily="34" charset="-120"/>
              </a:rPr>
              <a:t>Nira asks each owner, or they answer in the meeting</a:t>
            </a:r>
            <a:endParaRPr lang="en-US" sz="1200" dirty="0"/>
          </a:p>
        </p:txBody>
      </p:sp>
      <p:sp>
        <p:nvSpPr>
          <p:cNvPr id="18" name="Shape 13"/>
          <p:cNvSpPr/>
          <p:nvPr/>
        </p:nvSpPr>
        <p:spPr>
          <a:xfrm>
            <a:off x="815975" y="2890838"/>
            <a:ext cx="2311400" cy="1017091"/>
          </a:xfrm>
          <a:prstGeom prst="roundRect">
            <a:avLst>
              <a:gd name="adj" fmla="val 7180"/>
            </a:avLst>
          </a:prstGeom>
          <a:solidFill>
            <a:srgbClr val="FFFFFF"/>
          </a:solidFill>
          <a:ln w="6350">
            <a:solidFill>
              <a:srgbClr val="D5DBE1"/>
            </a:solidFill>
            <a:prstDash val="solid"/>
          </a:ln>
        </p:spPr>
      </p:sp>
      <p:sp>
        <p:nvSpPr>
          <p:cNvPr id="19" name="Text 14"/>
          <p:cNvSpPr/>
          <p:nvPr/>
        </p:nvSpPr>
        <p:spPr>
          <a:xfrm>
            <a:off x="958850" y="3033713"/>
            <a:ext cx="208641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A521F"/>
                </a:solidFill>
                <a:latin typeface="Fraunces" pitchFamily="18" charset="0"/>
                <a:ea typeface="Fraunces" pitchFamily="18" charset="-122"/>
                <a:cs typeface="Fraunces" pitchFamily="18" charset="-120"/>
              </a:rPr>
              <a:t>5 Sense</a:t>
            </a:r>
            <a:endParaRPr lang="en-US" sz="1600" dirty="0"/>
          </a:p>
        </p:txBody>
      </p:sp>
      <p:sp>
        <p:nvSpPr>
          <p:cNvPr id="20" name="Text 15"/>
          <p:cNvSpPr/>
          <p:nvPr/>
        </p:nvSpPr>
        <p:spPr>
          <a:xfrm>
            <a:off x="958850" y="3368973"/>
            <a:ext cx="2086419"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B6E"/>
                </a:solidFill>
                <a:latin typeface="Source Sans 3" pitchFamily="34" charset="0"/>
                <a:ea typeface="Source Sans 3" pitchFamily="34" charset="-122"/>
                <a:cs typeface="Source Sans 3" pitchFamily="34" charset="-120"/>
              </a:rPr>
              <a:t>The known process today: tracked, source, type, timing</a:t>
            </a:r>
            <a:endParaRPr lang="en-US" sz="1200" dirty="0"/>
          </a:p>
        </p:txBody>
      </p:sp>
      <p:pic>
        <p:nvPicPr>
          <p:cNvPr id="21" name="Image 3" descr="arrow-right">    </p:cNvPr>
          <p:cNvPicPr>
            <a:picLocks noChangeAspect="1"/>
          </p:cNvPicPr>
          <p:nvPr/>
        </p:nvPicPr>
        <p:blipFill>
          <a:blip r:embed="rId4"/>
          <a:srcRect l="0" r="0" t="0" b="0"/>
          <a:stretch/>
        </p:blipFill>
        <p:spPr>
          <a:xfrm>
            <a:off x="3232150" y="3304084"/>
            <a:ext cx="228600" cy="190500"/>
          </a:xfrm>
          <a:prstGeom prst="rect">
            <a:avLst/>
          </a:prstGeom>
        </p:spPr>
      </p:pic>
      <p:sp>
        <p:nvSpPr>
          <p:cNvPr id="22" name="Shape 16"/>
          <p:cNvSpPr/>
          <p:nvPr/>
        </p:nvSpPr>
        <p:spPr>
          <a:xfrm>
            <a:off x="3565525" y="2890838"/>
            <a:ext cx="2311400" cy="1017091"/>
          </a:xfrm>
          <a:prstGeom prst="roundRect">
            <a:avLst>
              <a:gd name="adj" fmla="val 7180"/>
            </a:avLst>
          </a:prstGeom>
          <a:solidFill>
            <a:srgbClr val="FFFFFF"/>
          </a:solidFill>
          <a:ln w="6350">
            <a:solidFill>
              <a:srgbClr val="D5DBE1"/>
            </a:solidFill>
            <a:prstDash val="solid"/>
          </a:ln>
        </p:spPr>
      </p:sp>
      <p:sp>
        <p:nvSpPr>
          <p:cNvPr id="23" name="Text 17"/>
          <p:cNvSpPr/>
          <p:nvPr/>
        </p:nvSpPr>
        <p:spPr>
          <a:xfrm>
            <a:off x="3708400" y="3033713"/>
            <a:ext cx="208641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A521F"/>
                </a:solidFill>
                <a:latin typeface="Fraunces" pitchFamily="18" charset="0"/>
                <a:ea typeface="Fraunces" pitchFamily="18" charset="-122"/>
                <a:cs typeface="Fraunces" pitchFamily="18" charset="-120"/>
              </a:rPr>
              <a:t>6 Trace</a:t>
            </a:r>
            <a:endParaRPr lang="en-US" sz="1600" dirty="0"/>
          </a:p>
        </p:txBody>
      </p:sp>
      <p:sp>
        <p:nvSpPr>
          <p:cNvPr id="24" name="Text 18"/>
          <p:cNvSpPr/>
          <p:nvPr/>
        </p:nvSpPr>
        <p:spPr>
          <a:xfrm>
            <a:off x="3708400" y="3368973"/>
            <a:ext cx="2086419"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B6E"/>
                </a:solidFill>
                <a:latin typeface="Source Sans 3" pitchFamily="34" charset="0"/>
                <a:ea typeface="Source Sans 3" pitchFamily="34" charset="-122"/>
                <a:cs typeface="Source Sans 3" pitchFamily="34" charset="-120"/>
              </a:rPr>
              <a:t>Who supplies it, who reshapes it, who consumes it</a:t>
            </a:r>
            <a:endParaRPr lang="en-US" sz="1200" dirty="0"/>
          </a:p>
        </p:txBody>
      </p:sp>
      <p:pic>
        <p:nvPicPr>
          <p:cNvPr id="25" name="Image 4" descr="arrow-right">    </p:cNvPr>
          <p:cNvPicPr>
            <a:picLocks noChangeAspect="1"/>
          </p:cNvPicPr>
          <p:nvPr/>
        </p:nvPicPr>
        <p:blipFill>
          <a:blip r:embed="rId5"/>
          <a:srcRect l="0" r="0" t="0" b="0"/>
          <a:stretch/>
        </p:blipFill>
        <p:spPr>
          <a:xfrm>
            <a:off x="5981700" y="3304084"/>
            <a:ext cx="228600" cy="190500"/>
          </a:xfrm>
          <a:prstGeom prst="rect">
            <a:avLst/>
          </a:prstGeom>
        </p:spPr>
      </p:pic>
      <p:sp>
        <p:nvSpPr>
          <p:cNvPr id="26" name="Shape 19"/>
          <p:cNvSpPr/>
          <p:nvPr/>
        </p:nvSpPr>
        <p:spPr>
          <a:xfrm>
            <a:off x="6315075" y="2890838"/>
            <a:ext cx="2311400" cy="1017091"/>
          </a:xfrm>
          <a:prstGeom prst="roundRect">
            <a:avLst>
              <a:gd name="adj" fmla="val 7180"/>
            </a:avLst>
          </a:prstGeom>
          <a:solidFill>
            <a:srgbClr val="FFFFFF"/>
          </a:solidFill>
          <a:ln w="6350">
            <a:solidFill>
              <a:srgbClr val="D5DBE1"/>
            </a:solidFill>
            <a:prstDash val="solid"/>
          </a:ln>
        </p:spPr>
      </p:sp>
      <p:sp>
        <p:nvSpPr>
          <p:cNvPr id="27" name="Text 20"/>
          <p:cNvSpPr/>
          <p:nvPr/>
        </p:nvSpPr>
        <p:spPr>
          <a:xfrm>
            <a:off x="6457950" y="3033713"/>
            <a:ext cx="208641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A521F"/>
                </a:solidFill>
                <a:latin typeface="Fraunces" pitchFamily="18" charset="0"/>
                <a:ea typeface="Fraunces" pitchFamily="18" charset="-122"/>
                <a:cs typeface="Fraunces" pitchFamily="18" charset="-120"/>
              </a:rPr>
              <a:t>7 Map</a:t>
            </a:r>
            <a:endParaRPr lang="en-US" sz="1600" dirty="0"/>
          </a:p>
        </p:txBody>
      </p:sp>
      <p:sp>
        <p:nvSpPr>
          <p:cNvPr id="28" name="Text 21"/>
          <p:cNvSpPr/>
          <p:nvPr/>
        </p:nvSpPr>
        <p:spPr>
          <a:xfrm>
            <a:off x="6457950" y="3368973"/>
            <a:ext cx="2086419"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B6E"/>
                </a:solidFill>
                <a:latin typeface="Source Sans 3" pitchFamily="34" charset="0"/>
                <a:ea typeface="Source Sans 3" pitchFamily="34" charset="-122"/>
                <a:cs typeface="Source Sans 3" pitchFamily="34" charset="-120"/>
              </a:rPr>
              <a:t>Agents draw the process map and build the catalogue</a:t>
            </a:r>
            <a:endParaRPr lang="en-US" sz="1200" dirty="0"/>
          </a:p>
        </p:txBody>
      </p:sp>
      <p:pic>
        <p:nvPicPr>
          <p:cNvPr id="29" name="Image 5" descr="arrow-right">    </p:cNvPr>
          <p:cNvPicPr>
            <a:picLocks noChangeAspect="1"/>
          </p:cNvPicPr>
          <p:nvPr/>
        </p:nvPicPr>
        <p:blipFill>
          <a:blip r:embed="rId6"/>
          <a:srcRect l="0" r="0" t="0" b="0"/>
          <a:stretch/>
        </p:blipFill>
        <p:spPr>
          <a:xfrm>
            <a:off x="8731250" y="3304084"/>
            <a:ext cx="228600" cy="190500"/>
          </a:xfrm>
          <a:prstGeom prst="rect">
            <a:avLst/>
          </a:prstGeom>
        </p:spPr>
      </p:pic>
      <p:sp>
        <p:nvSpPr>
          <p:cNvPr id="30" name="Shape 22"/>
          <p:cNvSpPr/>
          <p:nvPr/>
        </p:nvSpPr>
        <p:spPr>
          <a:xfrm>
            <a:off x="9064625" y="2890838"/>
            <a:ext cx="2311400" cy="1017091"/>
          </a:xfrm>
          <a:prstGeom prst="roundRect">
            <a:avLst>
              <a:gd name="adj" fmla="val 7180"/>
            </a:avLst>
          </a:prstGeom>
          <a:solidFill>
            <a:srgbClr val="052A52"/>
          </a:solidFill>
          <a:ln w="6350">
            <a:solidFill>
              <a:srgbClr val="052A52"/>
            </a:solidFill>
            <a:prstDash val="solid"/>
          </a:ln>
        </p:spPr>
      </p:sp>
      <p:sp>
        <p:nvSpPr>
          <p:cNvPr id="31" name="Text 23"/>
          <p:cNvSpPr/>
          <p:nvPr/>
        </p:nvSpPr>
        <p:spPr>
          <a:xfrm>
            <a:off x="9207500" y="3033713"/>
            <a:ext cx="208641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7FD6DD"/>
                </a:solidFill>
                <a:latin typeface="Fraunces" pitchFamily="18" charset="0"/>
                <a:ea typeface="Fraunces" pitchFamily="18" charset="-122"/>
                <a:cs typeface="Fraunces" pitchFamily="18" charset="-120"/>
              </a:rPr>
              <a:t>8 Review and sign</a:t>
            </a:r>
            <a:endParaRPr lang="en-US" sz="1600" dirty="0"/>
          </a:p>
        </p:txBody>
      </p:sp>
      <p:sp>
        <p:nvSpPr>
          <p:cNvPr id="32" name="Text 24"/>
          <p:cNvSpPr/>
          <p:nvPr/>
        </p:nvSpPr>
        <p:spPr>
          <a:xfrm>
            <a:off x="9207500" y="3368973"/>
            <a:ext cx="2086419"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3DE"/>
                </a:solidFill>
                <a:latin typeface="Source Sans 3" pitchFamily="34" charset="0"/>
                <a:ea typeface="Source Sans 3" pitchFamily="34" charset="-122"/>
                <a:cs typeface="Source Sans 3" pitchFamily="34" charset="-120"/>
              </a:rPr>
              <a:t>Conflicts settled, owners confirm, baseline signed</a:t>
            </a:r>
            <a:endParaRPr lang="en-US" sz="1200" dirty="0"/>
          </a:p>
        </p:txBody>
      </p:sp>
      <p:sp>
        <p:nvSpPr>
          <p:cNvPr id="33" name="Text 25"/>
          <p:cNvSpPr/>
          <p:nvPr/>
        </p:nvSpPr>
        <p:spPr>
          <a:xfrm>
            <a:off x="812800" y="4114304"/>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B6E"/>
                </a:solidFill>
                <a:latin typeface="Source Sans 3" pitchFamily="34" charset="0"/>
                <a:ea typeface="Source Sans 3" pitchFamily="34" charset="-122"/>
                <a:cs typeface="Source Sans 3" pitchFamily="34" charset="-120"/>
              </a:rPr>
              <a:t>Output:</a:t>
            </a:r>
            <a:r>
              <a:rPr lang="en-US" sz="1400" dirty="0">
                <a:solidFill>
                  <a:srgbClr val="4A5B6E"/>
                </a:solidFill>
                <a:latin typeface="Source Sans 3" pitchFamily="34" charset="0"/>
                <a:ea typeface="Source Sans 3" pitchFamily="34" charset="-122"/>
                <a:cs typeface="Source Sans 3" pitchFamily="34" charset="-120"/>
              </a:rPr>
              <a:t> the process map and the data catalogue. Module 3 assesses them and finds the gaps.</a:t>
            </a:r>
            <a:endParaRPr lang="en-US" sz="1400" dirty="0"/>
          </a:p>
        </p:txBody>
      </p:sp>
      <p:sp>
        <p:nvSpPr>
          <p:cNvPr id="34" name="Text 2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E"/>
                </a:solidFill>
                <a:latin typeface="Source Sans 3" pitchFamily="34" charset="0"/>
                <a:ea typeface="Source Sans 3" pitchFamily="34" charset="-122"/>
                <a:cs typeface="Source Sans 3" pitchFamily="34" charset="-120"/>
              </a:rPr>
              <a:t>Signal Harbor · Module 2 Baseline, design for discussion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2A52"/>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FD6DD"/>
                </a:solidFill>
                <a:latin typeface="Source Sans 3" pitchFamily="34" charset="0"/>
                <a:ea typeface="Source Sans 3" pitchFamily="34" charset="-122"/>
                <a:cs typeface="Source Sans 3" pitchFamily="34" charset="-120"/>
              </a:rPr>
              <a:t>THE STANCE</a:t>
            </a:r>
            <a:endParaRPr lang="en-US" sz="1400" dirty="0"/>
          </a:p>
        </p:txBody>
      </p:sp>
      <p:sp>
        <p:nvSpPr>
          <p:cNvPr id="3" name="Text 1"/>
          <p:cNvSpPr/>
          <p:nvPr>
            <p:ph type="title"/>
          </p:nvPr>
        </p:nvSpPr>
        <p:spPr>
          <a:xfrm>
            <a:off x="812800" y="1366441"/>
            <a:ext cx="10883392" cy="640060"/>
          </a:xfrm>
          <a:prstGeom prst="rect">
            <a:avLst/>
          </a:prstGeom>
          <a:noFill/>
          <a:ln/>
        </p:spPr>
        <p:txBody>
          <a:bodyPr wrap="square" lIns="0" tIns="0" rIns="0" bIns="0" rtlCol="0" anchor="t">
            <a:normAutofit/>
          </a:bodyPr>
          <a:lstStyle/>
          <a:p>
            <a:pPr algn="l" indent="0" marL="0">
              <a:lnSpc>
                <a:spcPts val="4840"/>
              </a:lnSpc>
              <a:buNone/>
            </a:pPr>
            <a:r>
              <a:rPr lang="en-US" sz="4400" b="0" i="0" dirty="0">
                <a:solidFill>
                  <a:srgbClr val="F2F4F6"/>
                </a:solidFill>
                <a:latin typeface="Fraunces" pitchFamily="18" charset="0"/>
                <a:ea typeface="Fraunces" pitchFamily="18" charset="-122"/>
                <a:cs typeface="Fraunces" pitchFamily="18" charset="-120"/>
              </a:rPr>
              <a:t>"I don't know" is a valid answer.</a:t>
            </a:r>
            <a:endParaRPr lang="en-US" sz="4400" dirty="0"/>
          </a:p>
        </p:txBody>
      </p:sp>
      <p:sp>
        <p:nvSpPr>
          <p:cNvPr id="4" name="Shape 2"/>
          <p:cNvSpPr/>
          <p:nvPr/>
        </p:nvSpPr>
        <p:spPr>
          <a:xfrm>
            <a:off x="815975" y="2289076"/>
            <a:ext cx="3380284" cy="1758553"/>
          </a:xfrm>
          <a:prstGeom prst="roundRect">
            <a:avLst>
              <a:gd name="adj" fmla="val 4153"/>
            </a:avLst>
          </a:prstGeom>
          <a:noFill/>
          <a:ln w="6350">
            <a:solidFill>
              <a:srgbClr val="3A5A80"/>
            </a:solidFill>
            <a:prstDash val="solid"/>
          </a:ln>
        </p:spPr>
      </p:sp>
      <p:sp>
        <p:nvSpPr>
          <p:cNvPr id="5" name="Text 3"/>
          <p:cNvSpPr/>
          <p:nvPr/>
        </p:nvSpPr>
        <p:spPr>
          <a:xfrm>
            <a:off x="1022350" y="2495451"/>
            <a:ext cx="3056560" cy="299641"/>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7FD6DD"/>
                </a:solidFill>
                <a:latin typeface="Fraunces" pitchFamily="18" charset="0"/>
                <a:ea typeface="Fraunces" pitchFamily="18" charset="-122"/>
                <a:cs typeface="Fraunces" pitchFamily="18" charset="-120"/>
              </a:rPr>
              <a:t>Lens, the business analyst</a:t>
            </a:r>
            <a:endParaRPr lang="en-US" sz="1800" dirty="0"/>
          </a:p>
        </p:txBody>
      </p:sp>
      <p:sp>
        <p:nvSpPr>
          <p:cNvPr id="6" name="Text 4"/>
          <p:cNvSpPr/>
          <p:nvPr/>
        </p:nvSpPr>
        <p:spPr>
          <a:xfrm>
            <a:off x="1022350" y="2845891"/>
            <a:ext cx="3056560"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DE"/>
                </a:solidFill>
                <a:latin typeface="Source Sans 3" pitchFamily="34" charset="0"/>
                <a:ea typeface="Source Sans 3" pitchFamily="34" charset="-122"/>
                <a:cs typeface="Source Sans 3" pitchFamily="34" charset="-120"/>
              </a:rPr>
              <a:t>Asks, listens and writes up what each owner says. Proposes from industry practice, always marked as a draft.</a:t>
            </a:r>
            <a:endParaRPr lang="en-US" sz="1400" dirty="0"/>
          </a:p>
        </p:txBody>
      </p:sp>
      <p:sp>
        <p:nvSpPr>
          <p:cNvPr id="7" name="Shape 5"/>
          <p:cNvSpPr/>
          <p:nvPr/>
        </p:nvSpPr>
        <p:spPr>
          <a:xfrm>
            <a:off x="4405809" y="2289076"/>
            <a:ext cx="3380383" cy="1758553"/>
          </a:xfrm>
          <a:prstGeom prst="roundRect">
            <a:avLst>
              <a:gd name="adj" fmla="val 4153"/>
            </a:avLst>
          </a:prstGeom>
          <a:noFill/>
          <a:ln w="6350">
            <a:solidFill>
              <a:srgbClr val="3A5A80"/>
            </a:solidFill>
            <a:prstDash val="solid"/>
          </a:ln>
        </p:spPr>
      </p:sp>
      <p:sp>
        <p:nvSpPr>
          <p:cNvPr id="8" name="Text 6"/>
          <p:cNvSpPr/>
          <p:nvPr/>
        </p:nvSpPr>
        <p:spPr>
          <a:xfrm>
            <a:off x="4612184" y="2495451"/>
            <a:ext cx="3056662" cy="299641"/>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7FD6DD"/>
                </a:solidFill>
                <a:latin typeface="Fraunces" pitchFamily="18" charset="0"/>
                <a:ea typeface="Fraunces" pitchFamily="18" charset="-122"/>
                <a:cs typeface="Fraunces" pitchFamily="18" charset="-120"/>
              </a:rPr>
              <a:t>Nira, the coordinator</a:t>
            </a:r>
            <a:endParaRPr lang="en-US" sz="1800" dirty="0"/>
          </a:p>
        </p:txBody>
      </p:sp>
      <p:sp>
        <p:nvSpPr>
          <p:cNvPr id="9" name="Text 7"/>
          <p:cNvSpPr/>
          <p:nvPr/>
        </p:nvSpPr>
        <p:spPr>
          <a:xfrm>
            <a:off x="4612184" y="2845891"/>
            <a:ext cx="3056662"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DE"/>
                </a:solidFill>
                <a:latin typeface="Source Sans 3" pitchFamily="34" charset="0"/>
                <a:ea typeface="Source Sans 3" pitchFamily="34" charset="-122"/>
                <a:cs typeface="Source Sans 3" pitchFamily="34" charset="-120"/>
              </a:rPr>
              <a:t>Sends the requests, chases the replies, and tells the organiser who is still outstanding.</a:t>
            </a:r>
            <a:endParaRPr lang="en-US" sz="1400" dirty="0"/>
          </a:p>
        </p:txBody>
      </p:sp>
      <p:sp>
        <p:nvSpPr>
          <p:cNvPr id="10" name="Shape 8"/>
          <p:cNvSpPr/>
          <p:nvPr/>
        </p:nvSpPr>
        <p:spPr>
          <a:xfrm>
            <a:off x="7995741" y="2289076"/>
            <a:ext cx="3380284" cy="1758553"/>
          </a:xfrm>
          <a:prstGeom prst="roundRect">
            <a:avLst>
              <a:gd name="adj" fmla="val 4153"/>
            </a:avLst>
          </a:prstGeom>
          <a:noFill/>
          <a:ln w="6350">
            <a:solidFill>
              <a:srgbClr val="3A5A80"/>
            </a:solidFill>
            <a:prstDash val="solid"/>
          </a:ln>
        </p:spPr>
      </p:sp>
      <p:sp>
        <p:nvSpPr>
          <p:cNvPr id="11" name="Text 9"/>
          <p:cNvSpPr/>
          <p:nvPr/>
        </p:nvSpPr>
        <p:spPr>
          <a:xfrm>
            <a:off x="8202116" y="2495451"/>
            <a:ext cx="3056560" cy="299641"/>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7FD6DD"/>
                </a:solidFill>
                <a:latin typeface="Fraunces" pitchFamily="18" charset="0"/>
                <a:ea typeface="Fraunces" pitchFamily="18" charset="-122"/>
                <a:cs typeface="Fraunces" pitchFamily="18" charset="-120"/>
              </a:rPr>
              <a:t>The owners decide</a:t>
            </a:r>
            <a:endParaRPr lang="en-US" sz="1800" dirty="0"/>
          </a:p>
        </p:txBody>
      </p:sp>
      <p:sp>
        <p:nvSpPr>
          <p:cNvPr id="12" name="Text 10"/>
          <p:cNvSpPr/>
          <p:nvPr/>
        </p:nvSpPr>
        <p:spPr>
          <a:xfrm>
            <a:off x="8202116" y="2845891"/>
            <a:ext cx="3056560"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DE"/>
                </a:solidFill>
                <a:latin typeface="Source Sans 3" pitchFamily="34" charset="0"/>
                <a:ea typeface="Source Sans 3" pitchFamily="34" charset="-122"/>
                <a:cs typeface="Source Sans 3" pitchFamily="34" charset="-120"/>
              </a:rPr>
              <a:t>Every definition, source and process step is stated, guessed or unknown. Unknown becomes a gap for module 3, never a blank that looks complete.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4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052A52"/>
                </a:solidFill>
                <a:latin typeface="Fraunces" pitchFamily="18" charset="0"/>
                <a:ea typeface="Fraunces" pitchFamily="18" charset="-122"/>
                <a:cs typeface="Fraunces" pitchFamily="18" charset="-120"/>
              </a:rPr>
              <a:t>2 · Triage: what do we know?</a:t>
            </a:r>
            <a:endParaRPr lang="en-US" sz="3200" dirty="0"/>
          </a:p>
        </p:txBody>
      </p:sp>
      <p:sp>
        <p:nvSpPr>
          <p:cNvPr id="3" name="Shape 1"/>
          <p:cNvSpPr/>
          <p:nvPr/>
        </p:nvSpPr>
        <p:spPr>
          <a:xfrm>
            <a:off x="815975" y="1466155"/>
            <a:ext cx="6978650" cy="4140994"/>
          </a:xfrm>
          <a:prstGeom prst="roundRect">
            <a:avLst>
              <a:gd name="adj" fmla="val 1763"/>
            </a:avLst>
          </a:prstGeom>
          <a:solidFill>
            <a:srgbClr val="FFFFFF"/>
          </a:solidFill>
          <a:ln w="6350">
            <a:solidFill>
              <a:srgbClr val="D5DBE1"/>
            </a:solidFill>
            <a:prstDash val="solid"/>
          </a:ln>
        </p:spPr>
      </p:sp>
      <p:sp>
        <p:nvSpPr>
          <p:cNvPr id="4" name="Text 2"/>
          <p:cNvSpPr/>
          <p:nvPr/>
        </p:nvSpPr>
        <p:spPr>
          <a:xfrm>
            <a:off x="819150" y="1469330"/>
            <a:ext cx="6972300" cy="416520"/>
          </a:xfrm>
          <a:custGeom>
            <a:avLst/>
            <a:gdLst/>
            <a:ahLst/>
            <a:cxnLst/>
            <a:rect l="l" t="t" r="r" b="b"/>
            <a:pathLst>
              <a:path w="6972300" h="416520">
                <a:moveTo>
                  <a:pt x="76200" y="0"/>
                </a:moveTo>
                <a:lnTo>
                  <a:pt x="6896100" y="0"/>
                </a:lnTo>
                <a:arcTo hR="76200" wR="76200" stAng="16200000" swAng="5400000"/>
                <a:lnTo>
                  <a:pt x="6972300" y="416520"/>
                </a:lnTo>
                <a:lnTo>
                  <a:pt x="0" y="416520"/>
                </a:lnTo>
                <a:lnTo>
                  <a:pt x="0" y="76200"/>
                </a:lnTo>
                <a:arcTo hR="76200" wR="76200" stAng="10800000" swAng="5400000"/>
                <a:close/>
              </a:path>
            </a:pathLst>
          </a:custGeom>
          <a:solidFill>
            <a:srgbClr val="052A52"/>
          </a:solidFill>
          <a:ln/>
        </p:spPr>
        <p:txBody>
          <a:bodyPr wrap="square" lIns="152400" tIns="101600" rIns="0" bIns="76200" rtlCol="0" anchor="t">
            <a:normAutofit/>
          </a:bodyPr>
          <a:lstStyle/>
          <a:p>
            <a:pPr algn="l" indent="0" marL="0">
              <a:lnSpc>
                <a:spcPts val="1680"/>
              </a:lnSpc>
              <a:buNone/>
            </a:pPr>
            <a:r>
              <a:rPr lang="en-US" sz="1200" b="1" dirty="0">
                <a:solidFill>
                  <a:srgbClr val="F2F4F6"/>
                </a:solidFill>
                <a:latin typeface="Source Sans 3" pitchFamily="34" charset="0"/>
                <a:ea typeface="Source Sans 3" pitchFamily="34" charset="-122"/>
                <a:cs typeface="Source Sans 3" pitchFamily="34" charset="-120"/>
              </a:rPr>
              <a:t>Baseline</a:t>
            </a:r>
            <a:r>
              <a:rPr lang="en-US" sz="1200" dirty="0">
                <a:solidFill>
                  <a:srgbClr val="F2F4F6"/>
                </a:solidFill>
                <a:latin typeface="Source Sans 3" pitchFamily="34" charset="0"/>
                <a:ea typeface="Source Sans 3" pitchFamily="34" charset="-122"/>
                <a:cs typeface="Source Sans 3" pitchFamily="34" charset="-120"/>
              </a:rPr>
              <a:t> · from the signed charter · 3 problems · 5 KPIs</a:t>
            </a:r>
            <a:endParaRPr lang="en-US" sz="1200" dirty="0"/>
          </a:p>
        </p:txBody>
      </p:sp>
      <p:sp>
        <p:nvSpPr>
          <p:cNvPr id="5" name="Text 3"/>
          <p:cNvSpPr/>
          <p:nvPr/>
        </p:nvSpPr>
        <p:spPr>
          <a:xfrm>
            <a:off x="971550" y="2038251"/>
            <a:ext cx="686752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6F78"/>
                </a:solidFill>
                <a:latin typeface="Source Sans 3" pitchFamily="34" charset="0"/>
                <a:ea typeface="Source Sans 3" pitchFamily="34" charset="-122"/>
                <a:cs typeface="Source Sans 3" pitchFamily="34" charset="-120"/>
              </a:rPr>
              <a:t>PROBLEM: CALLS ARRIVE TOO LATE · MUST</a:t>
            </a:r>
            <a:endParaRPr lang="en-US" sz="1200" dirty="0"/>
          </a:p>
        </p:txBody>
      </p:sp>
      <p:sp>
        <p:nvSpPr>
          <p:cNvPr id="6" name="Shape 4"/>
          <p:cNvSpPr/>
          <p:nvPr/>
        </p:nvSpPr>
        <p:spPr>
          <a:xfrm>
            <a:off x="974725" y="2343646"/>
            <a:ext cx="6661150" cy="1189831"/>
          </a:xfrm>
          <a:prstGeom prst="roundRect">
            <a:avLst>
              <a:gd name="adj" fmla="val 4003"/>
            </a:avLst>
          </a:prstGeom>
          <a:noFill/>
          <a:ln w="6350">
            <a:solidFill>
              <a:srgbClr val="D5DBE1"/>
            </a:solidFill>
            <a:prstDash val="solid"/>
          </a:ln>
        </p:spPr>
      </p:sp>
      <p:sp>
        <p:nvSpPr>
          <p:cNvPr id="7" name="Text 5"/>
          <p:cNvSpPr/>
          <p:nvPr/>
        </p:nvSpPr>
        <p:spPr>
          <a:xfrm>
            <a:off x="1104900" y="2448421"/>
            <a:ext cx="659282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52A52"/>
                </a:solidFill>
                <a:latin typeface="Source Sans 3" pitchFamily="34" charset="0"/>
                <a:ea typeface="Source Sans 3" pitchFamily="34" charset="-122"/>
                <a:cs typeface="Source Sans 3" pitchFamily="34" charset="-120"/>
              </a:rPr>
              <a:t>KPI: Capital calls due, by date</a:t>
            </a:r>
            <a:endParaRPr lang="en-US" sz="1400" dirty="0"/>
          </a:p>
        </p:txBody>
      </p:sp>
      <p:sp>
        <p:nvSpPr>
          <p:cNvPr id="8" name="Text 6"/>
          <p:cNvSpPr/>
          <p:nvPr/>
        </p:nvSpPr>
        <p:spPr>
          <a:xfrm>
            <a:off x="1104900" y="2748062"/>
            <a:ext cx="3175000" cy="314920"/>
          </a:xfrm>
          <a:prstGeom prst="roundRect">
            <a:avLst>
              <a:gd name="adj" fmla="val 12098"/>
            </a:avLst>
          </a:prstGeom>
          <a:solidFill>
            <a:srgbClr val="F6E7D8"/>
          </a:solidFill>
          <a:ln/>
        </p:spPr>
        <p:txBody>
          <a:bodyPr wrap="square" lIns="65041" tIns="39641" rIns="0" bIns="14241" rtlCol="0" anchor="t">
            <a:normAutofit/>
          </a:bodyPr>
          <a:lstStyle/>
          <a:p>
            <a:pPr algn="l"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Definition: </a:t>
            </a:r>
            <a:r>
              <a:rPr lang="en-US" sz="1200" b="1" dirty="0">
                <a:solidFill>
                  <a:srgbClr val="052A52"/>
                </a:solidFill>
                <a:latin typeface="Source Sans 3" pitchFamily="34" charset="0"/>
                <a:ea typeface="Source Sans 3" pitchFamily="34" charset="-122"/>
                <a:cs typeface="Source Sans 3" pitchFamily="34" charset="-120"/>
              </a:rPr>
              <a:t>unknown</a:t>
            </a:r>
            <a:endParaRPr lang="en-US" sz="1200" dirty="0"/>
          </a:p>
        </p:txBody>
      </p:sp>
      <p:sp>
        <p:nvSpPr>
          <p:cNvPr id="9" name="Text 7"/>
          <p:cNvSpPr/>
          <p:nvPr/>
        </p:nvSpPr>
        <p:spPr>
          <a:xfrm>
            <a:off x="4330700" y="2748062"/>
            <a:ext cx="3175000" cy="314920"/>
          </a:xfrm>
          <a:prstGeom prst="roundRect">
            <a:avLst>
              <a:gd name="adj" fmla="val 12098"/>
            </a:avLst>
          </a:prstGeom>
          <a:solidFill>
            <a:srgbClr val="F6E7D8"/>
          </a:solidFill>
          <a:ln/>
        </p:spPr>
        <p:txBody>
          <a:bodyPr wrap="square" lIns="65041" tIns="39641" rIns="0" bIns="14241" rtlCol="0" anchor="t">
            <a:normAutofit/>
          </a:bodyPr>
          <a:lstStyle/>
          <a:p>
            <a:pPr algn="l"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Owner: </a:t>
            </a:r>
            <a:r>
              <a:rPr lang="en-US" sz="1200" b="1" dirty="0">
                <a:solidFill>
                  <a:srgbClr val="052A52"/>
                </a:solidFill>
                <a:latin typeface="Source Sans 3" pitchFamily="34" charset="0"/>
                <a:ea typeface="Source Sans 3" pitchFamily="34" charset="-122"/>
                <a:cs typeface="Source Sans 3" pitchFamily="34" charset="-120"/>
              </a:rPr>
              <a:t>unknown</a:t>
            </a:r>
            <a:endParaRPr lang="en-US" sz="1200" dirty="0"/>
          </a:p>
        </p:txBody>
      </p:sp>
      <p:sp>
        <p:nvSpPr>
          <p:cNvPr id="10" name="Text 8"/>
          <p:cNvSpPr/>
          <p:nvPr/>
        </p:nvSpPr>
        <p:spPr>
          <a:xfrm>
            <a:off x="1104900" y="3113782"/>
            <a:ext cx="3175000" cy="314920"/>
          </a:xfrm>
          <a:prstGeom prst="roundRect">
            <a:avLst>
              <a:gd name="adj" fmla="val 12098"/>
            </a:avLst>
          </a:prstGeom>
          <a:solidFill>
            <a:srgbClr val="F6E7D8"/>
          </a:solidFill>
          <a:ln/>
        </p:spPr>
        <p:txBody>
          <a:bodyPr wrap="square" lIns="65041" tIns="39641" rIns="0" bIns="14241" rtlCol="0" anchor="t">
            <a:normAutofit/>
          </a:bodyPr>
          <a:lstStyle/>
          <a:p>
            <a:pPr algn="l"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Producer of the data: </a:t>
            </a:r>
            <a:r>
              <a:rPr lang="en-US" sz="1200" b="1" dirty="0">
                <a:solidFill>
                  <a:srgbClr val="052A52"/>
                </a:solidFill>
                <a:latin typeface="Source Sans 3" pitchFamily="34" charset="0"/>
                <a:ea typeface="Source Sans 3" pitchFamily="34" charset="-122"/>
                <a:cs typeface="Source Sans 3" pitchFamily="34" charset="-120"/>
              </a:rPr>
              <a:t>unknown</a:t>
            </a:r>
            <a:endParaRPr lang="en-US" sz="1200" dirty="0"/>
          </a:p>
        </p:txBody>
      </p:sp>
      <p:sp>
        <p:nvSpPr>
          <p:cNvPr id="11" name="Text 9"/>
          <p:cNvSpPr/>
          <p:nvPr/>
        </p:nvSpPr>
        <p:spPr>
          <a:xfrm>
            <a:off x="4330700" y="3113782"/>
            <a:ext cx="3175000" cy="314920"/>
          </a:xfrm>
          <a:prstGeom prst="roundRect">
            <a:avLst>
              <a:gd name="adj" fmla="val 12098"/>
            </a:avLst>
          </a:prstGeom>
          <a:solidFill>
            <a:srgbClr val="DDF1F2"/>
          </a:solidFill>
          <a:ln/>
        </p:spPr>
        <p:txBody>
          <a:bodyPr wrap="square" lIns="65041" tIns="39641" rIns="0" bIns="14241" rtlCol="0" anchor="t">
            <a:normAutofit/>
          </a:bodyPr>
          <a:lstStyle/>
          <a:p>
            <a:pPr algn="l"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How it is gathered: </a:t>
            </a:r>
            <a:r>
              <a:rPr lang="en-US" sz="1200" b="1" dirty="0">
                <a:solidFill>
                  <a:srgbClr val="052A52"/>
                </a:solidFill>
                <a:latin typeface="Source Sans 3" pitchFamily="34" charset="0"/>
                <a:ea typeface="Source Sans 3" pitchFamily="34" charset="-122"/>
                <a:cs typeface="Source Sans 3" pitchFamily="34" charset="-120"/>
              </a:rPr>
              <a:t>emails (guess)</a:t>
            </a:r>
            <a:endParaRPr lang="en-US" sz="1200" dirty="0"/>
          </a:p>
        </p:txBody>
      </p:sp>
      <p:sp>
        <p:nvSpPr>
          <p:cNvPr id="12" name="Shape 10"/>
          <p:cNvSpPr/>
          <p:nvPr/>
        </p:nvSpPr>
        <p:spPr>
          <a:xfrm>
            <a:off x="974725" y="3628727"/>
            <a:ext cx="6661150" cy="1189831"/>
          </a:xfrm>
          <a:prstGeom prst="roundRect">
            <a:avLst>
              <a:gd name="adj" fmla="val 4003"/>
            </a:avLst>
          </a:prstGeom>
          <a:noFill/>
          <a:ln w="6350">
            <a:solidFill>
              <a:srgbClr val="D5DBE1"/>
            </a:solidFill>
            <a:prstDash val="solid"/>
          </a:ln>
        </p:spPr>
      </p:sp>
      <p:sp>
        <p:nvSpPr>
          <p:cNvPr id="13" name="Text 11"/>
          <p:cNvSpPr/>
          <p:nvPr/>
        </p:nvSpPr>
        <p:spPr>
          <a:xfrm>
            <a:off x="1104900" y="3733502"/>
            <a:ext cx="659282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52A52"/>
                </a:solidFill>
                <a:latin typeface="Source Sans 3" pitchFamily="34" charset="0"/>
                <a:ea typeface="Source Sans 3" pitchFamily="34" charset="-122"/>
                <a:cs typeface="Source Sans 3" pitchFamily="34" charset="-120"/>
              </a:rPr>
              <a:t>KPI: Funding capacity, six months</a:t>
            </a:r>
            <a:endParaRPr lang="en-US" sz="1400" dirty="0"/>
          </a:p>
        </p:txBody>
      </p:sp>
      <p:sp>
        <p:nvSpPr>
          <p:cNvPr id="14" name="Text 12"/>
          <p:cNvSpPr/>
          <p:nvPr/>
        </p:nvSpPr>
        <p:spPr>
          <a:xfrm>
            <a:off x="1104900" y="4033143"/>
            <a:ext cx="3175000" cy="314920"/>
          </a:xfrm>
          <a:prstGeom prst="roundRect">
            <a:avLst>
              <a:gd name="adj" fmla="val 12098"/>
            </a:avLst>
          </a:prstGeom>
          <a:solidFill>
            <a:srgbClr val="DDF1F2"/>
          </a:solidFill>
          <a:ln/>
        </p:spPr>
        <p:txBody>
          <a:bodyPr wrap="square" lIns="65041" tIns="39641" rIns="0" bIns="14241" rtlCol="0" anchor="t">
            <a:normAutofit/>
          </a:bodyPr>
          <a:lstStyle/>
          <a:p>
            <a:pPr algn="l"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Definition: </a:t>
            </a:r>
            <a:r>
              <a:rPr lang="en-US" sz="1200" b="1" dirty="0">
                <a:solidFill>
                  <a:srgbClr val="052A52"/>
                </a:solidFill>
                <a:latin typeface="Source Sans 3" pitchFamily="34" charset="0"/>
                <a:ea typeface="Source Sans 3" pitchFamily="34" charset="-122"/>
                <a:cs typeface="Source Sans 3" pitchFamily="34" charset="-120"/>
              </a:rPr>
              <a:t>drafted</a:t>
            </a:r>
            <a:endParaRPr lang="en-US" sz="1200" dirty="0"/>
          </a:p>
        </p:txBody>
      </p:sp>
      <p:sp>
        <p:nvSpPr>
          <p:cNvPr id="15" name="Text 13"/>
          <p:cNvSpPr/>
          <p:nvPr/>
        </p:nvSpPr>
        <p:spPr>
          <a:xfrm>
            <a:off x="4330700" y="4033143"/>
            <a:ext cx="3175000" cy="314920"/>
          </a:xfrm>
          <a:prstGeom prst="roundRect">
            <a:avLst>
              <a:gd name="adj" fmla="val 12098"/>
            </a:avLst>
          </a:prstGeom>
          <a:solidFill>
            <a:srgbClr val="F6E7D8"/>
          </a:solidFill>
          <a:ln/>
        </p:spPr>
        <p:txBody>
          <a:bodyPr wrap="square" lIns="65041" tIns="39641" rIns="0" bIns="14241" rtlCol="0" anchor="t">
            <a:normAutofit/>
          </a:bodyPr>
          <a:lstStyle/>
          <a:p>
            <a:pPr algn="l"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Owner: </a:t>
            </a:r>
            <a:r>
              <a:rPr lang="en-US" sz="1200" b="1" dirty="0">
                <a:solidFill>
                  <a:srgbClr val="052A52"/>
                </a:solidFill>
                <a:latin typeface="Source Sans 3" pitchFamily="34" charset="0"/>
                <a:ea typeface="Source Sans 3" pitchFamily="34" charset="-122"/>
                <a:cs typeface="Source Sans 3" pitchFamily="34" charset="-120"/>
              </a:rPr>
              <a:t>unknown</a:t>
            </a:r>
            <a:endParaRPr lang="en-US" sz="1200" dirty="0"/>
          </a:p>
        </p:txBody>
      </p:sp>
      <p:sp>
        <p:nvSpPr>
          <p:cNvPr id="16" name="Text 14"/>
          <p:cNvSpPr/>
          <p:nvPr/>
        </p:nvSpPr>
        <p:spPr>
          <a:xfrm>
            <a:off x="1104900" y="4398863"/>
            <a:ext cx="3175000" cy="314920"/>
          </a:xfrm>
          <a:prstGeom prst="roundRect">
            <a:avLst>
              <a:gd name="adj" fmla="val 12098"/>
            </a:avLst>
          </a:prstGeom>
          <a:solidFill>
            <a:srgbClr val="F6E7D8"/>
          </a:solidFill>
          <a:ln/>
        </p:spPr>
        <p:txBody>
          <a:bodyPr wrap="square" lIns="65041" tIns="39641" rIns="0" bIns="14241" rtlCol="0" anchor="t">
            <a:normAutofit/>
          </a:bodyPr>
          <a:lstStyle/>
          <a:p>
            <a:pPr algn="l"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Producer of the data: </a:t>
            </a:r>
            <a:r>
              <a:rPr lang="en-US" sz="1200" b="1" dirty="0">
                <a:solidFill>
                  <a:srgbClr val="052A52"/>
                </a:solidFill>
                <a:latin typeface="Source Sans 3" pitchFamily="34" charset="0"/>
                <a:ea typeface="Source Sans 3" pitchFamily="34" charset="-122"/>
                <a:cs typeface="Source Sans 3" pitchFamily="34" charset="-120"/>
              </a:rPr>
              <a:t>unknown</a:t>
            </a:r>
            <a:endParaRPr lang="en-US" sz="1200" dirty="0"/>
          </a:p>
        </p:txBody>
      </p:sp>
      <p:sp>
        <p:nvSpPr>
          <p:cNvPr id="17" name="Text 15"/>
          <p:cNvSpPr/>
          <p:nvPr/>
        </p:nvSpPr>
        <p:spPr>
          <a:xfrm>
            <a:off x="4330700" y="4398863"/>
            <a:ext cx="3175000" cy="314920"/>
          </a:xfrm>
          <a:prstGeom prst="roundRect">
            <a:avLst>
              <a:gd name="adj" fmla="val 12098"/>
            </a:avLst>
          </a:prstGeom>
          <a:solidFill>
            <a:srgbClr val="F6E7D8"/>
          </a:solidFill>
          <a:ln/>
        </p:spPr>
        <p:txBody>
          <a:bodyPr wrap="square" lIns="65041" tIns="39641" rIns="0" bIns="14241" rtlCol="0" anchor="t">
            <a:normAutofit/>
          </a:bodyPr>
          <a:lstStyle/>
          <a:p>
            <a:pPr algn="l"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How it is gathered: </a:t>
            </a:r>
            <a:r>
              <a:rPr lang="en-US" sz="1200" b="1" dirty="0">
                <a:solidFill>
                  <a:srgbClr val="052A52"/>
                </a:solidFill>
                <a:latin typeface="Source Sans 3" pitchFamily="34" charset="0"/>
                <a:ea typeface="Source Sans 3" pitchFamily="34" charset="-122"/>
                <a:cs typeface="Source Sans 3" pitchFamily="34" charset="-120"/>
              </a:rPr>
              <a:t>unknown</a:t>
            </a:r>
            <a:endParaRPr lang="en-US" sz="1200" dirty="0"/>
          </a:p>
        </p:txBody>
      </p:sp>
      <p:sp>
        <p:nvSpPr>
          <p:cNvPr id="18" name="Text 16"/>
          <p:cNvSpPr/>
          <p:nvPr/>
        </p:nvSpPr>
        <p:spPr>
          <a:xfrm>
            <a:off x="819150" y="4974134"/>
            <a:ext cx="6972300" cy="629841"/>
          </a:xfrm>
          <a:custGeom>
            <a:avLst/>
            <a:gdLst/>
            <a:ahLst/>
            <a:cxnLst/>
            <a:rect l="l" t="t" r="r" b="b"/>
            <a:pathLst>
              <a:path w="6972300" h="629841">
                <a:moveTo>
                  <a:pt x="0" y="0"/>
                </a:moveTo>
                <a:lnTo>
                  <a:pt x="6972300" y="0"/>
                </a:lnTo>
                <a:lnTo>
                  <a:pt x="6972300" y="553641"/>
                </a:lnTo>
                <a:arcTo hR="76200" wR="76200" stAng="0" swAng="5400000"/>
                <a:lnTo>
                  <a:pt x="76200" y="629841"/>
                </a:lnTo>
                <a:arcTo hR="76200" wR="76200" stAng="5400000" swAng="5400000"/>
                <a:lnTo>
                  <a:pt x="0" y="0"/>
                </a:lnTo>
                <a:close/>
              </a:path>
            </a:pathLst>
          </a:custGeom>
          <a:solidFill>
            <a:srgbClr val="DDF1F2"/>
          </a:solidFill>
          <a:ln/>
        </p:spPr>
        <p:txBody>
          <a:bodyPr wrap="square" lIns="152400" tIns="101600" rIns="0" bIns="76200" rtlCol="0" anchor="t">
            <a:normAutofit/>
          </a:bodyPr>
          <a:lstStyle/>
          <a:p>
            <a:pPr algn="l" indent="0" marL="0">
              <a:lnSpc>
                <a:spcPts val="1680"/>
              </a:lnSpc>
              <a:buNone/>
            </a:pPr>
            <a:r>
              <a:rPr lang="en-US" sz="1200" b="1" dirty="0">
                <a:solidFill>
                  <a:srgbClr val="052A52"/>
                </a:solidFill>
                <a:latin typeface="Source Sans 3" pitchFamily="34" charset="0"/>
                <a:ea typeface="Source Sans 3" pitchFamily="34" charset="-122"/>
                <a:cs typeface="Source Sans 3" pitchFamily="34" charset="-120"/>
              </a:rPr>
              <a:t>Lens:</a:t>
            </a:r>
            <a:r>
              <a:rPr lang="en-US" sz="1200" dirty="0">
                <a:solidFill>
                  <a:srgbClr val="052A52"/>
                </a:solidFill>
                <a:latin typeface="Source Sans 3" pitchFamily="34" charset="0"/>
                <a:ea typeface="Source Sans 3" pitchFamily="34" charset="-122"/>
                <a:cs typeface="Source Sans 3" pitchFamily="34" charset="-120"/>
              </a:rPr>
              <a:t> for every KPI I need four things: the definition, the owner, who produces the data, and how it is gathered. Shall we nominate the owners?</a:t>
            </a:r>
            <a:endParaRPr lang="en-US" sz="1200" dirty="0"/>
          </a:p>
        </p:txBody>
      </p:sp>
      <p:sp>
        <p:nvSpPr>
          <p:cNvPr id="19" name="Text 17"/>
          <p:cNvSpPr/>
          <p:nvPr/>
        </p:nvSpPr>
        <p:spPr>
          <a:xfrm>
            <a:off x="8102600" y="1462980"/>
            <a:ext cx="337489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521F"/>
                </a:solidFill>
                <a:latin typeface="Source Sans 3" pitchFamily="34" charset="0"/>
                <a:ea typeface="Source Sans 3" pitchFamily="34" charset="-122"/>
                <a:cs typeface="Source Sans 3" pitchFamily="34" charset="-120"/>
              </a:rPr>
              <a:t>DESIGN MOCK-UP</a:t>
            </a:r>
            <a:endParaRPr lang="en-US" sz="1200" dirty="0"/>
          </a:p>
        </p:txBody>
      </p:sp>
      <p:sp>
        <p:nvSpPr>
          <p:cNvPr id="20" name="Text 18"/>
          <p:cNvSpPr/>
          <p:nvPr/>
        </p:nvSpPr>
        <p:spPr>
          <a:xfrm>
            <a:off x="8102600" y="1803301"/>
            <a:ext cx="3374898"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52A52"/>
                </a:solidFill>
                <a:latin typeface="Source Sans 3" pitchFamily="34" charset="0"/>
                <a:ea typeface="Source Sans 3" pitchFamily="34" charset="-122"/>
                <a:cs typeface="Source Sans 3" pitchFamily="34" charset="-120"/>
              </a:rPr>
              <a:t>Starts from:</a:t>
            </a:r>
            <a:r>
              <a:rPr lang="en-US" sz="1400" dirty="0">
                <a:solidFill>
                  <a:srgbClr val="052A52"/>
                </a:solidFill>
                <a:latin typeface="Source Sans 3" pitchFamily="34" charset="0"/>
                <a:ea typeface="Source Sans 3" pitchFamily="34" charset="-122"/>
                <a:cs typeface="Source Sans 3" pitchFamily="34" charset="-120"/>
              </a:rPr>
              <a:t> the signed charter. Priority and what to track are already known.</a:t>
            </a:r>
            <a:endParaRPr lang="en-US" sz="1400" dirty="0"/>
          </a:p>
        </p:txBody>
      </p:sp>
      <p:sp>
        <p:nvSpPr>
          <p:cNvPr id="21" name="Text 19"/>
          <p:cNvSpPr/>
          <p:nvPr/>
        </p:nvSpPr>
        <p:spPr>
          <a:xfrm>
            <a:off x="8102600" y="2427982"/>
            <a:ext cx="3374898"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52A52"/>
                </a:solidFill>
                <a:latin typeface="Source Sans 3" pitchFamily="34" charset="0"/>
                <a:ea typeface="Source Sans 3" pitchFamily="34" charset="-122"/>
                <a:cs typeface="Source Sans 3" pitchFamily="34" charset="-120"/>
              </a:rPr>
              <a:t>This screen shows:</a:t>
            </a:r>
            <a:r>
              <a:rPr lang="en-US" sz="1400" dirty="0">
                <a:solidFill>
                  <a:srgbClr val="052A52"/>
                </a:solidFill>
                <a:latin typeface="Source Sans 3" pitchFamily="34" charset="0"/>
                <a:ea typeface="Source Sans 3" pitchFamily="34" charset="-122"/>
                <a:cs typeface="Source Sans 3" pitchFamily="34" charset="-120"/>
              </a:rPr>
              <a:t> the four things the business may not know about each KPI.</a:t>
            </a:r>
            <a:endParaRPr lang="en-US" sz="1400" dirty="0"/>
          </a:p>
        </p:txBody>
      </p:sp>
      <p:sp>
        <p:nvSpPr>
          <p:cNvPr id="22" name="Text 20"/>
          <p:cNvSpPr/>
          <p:nvPr/>
        </p:nvSpPr>
        <p:spPr>
          <a:xfrm>
            <a:off x="8102600" y="3052663"/>
            <a:ext cx="337489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52A52"/>
                </a:solidFill>
                <a:latin typeface="Source Sans 3" pitchFamily="34" charset="0"/>
                <a:ea typeface="Source Sans 3" pitchFamily="34" charset="-122"/>
                <a:cs typeface="Source Sans 3" pitchFamily="34" charset="-120"/>
              </a:rPr>
              <a:t>Lens drafts a definition from industry practice. Everything else starts as unknown.</a:t>
            </a:r>
            <a:endParaRPr lang="en-US" sz="1400" dirty="0"/>
          </a:p>
        </p:txBody>
      </p:sp>
      <p:sp>
        <p:nvSpPr>
          <p:cNvPr id="23" name="Text 2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E"/>
                </a:solidFill>
                <a:latin typeface="Source Sans 3" pitchFamily="34" charset="0"/>
                <a:ea typeface="Source Sans 3" pitchFamily="34" charset="-122"/>
                <a:cs typeface="Source Sans 3" pitchFamily="34" charset="-120"/>
              </a:rPr>
              <a:t>Signal Harbor · Module 2 Baseline, design for discussion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4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052A52"/>
                </a:solidFill>
                <a:latin typeface="Fraunces" pitchFamily="18" charset="0"/>
                <a:ea typeface="Fraunces" pitchFamily="18" charset="-122"/>
                <a:cs typeface="Fraunces" pitchFamily="18" charset="-120"/>
              </a:rPr>
              <a:t>3 · Nominate the owners</a:t>
            </a:r>
            <a:endParaRPr lang="en-US" sz="3200" dirty="0"/>
          </a:p>
        </p:txBody>
      </p:sp>
      <p:sp>
        <p:nvSpPr>
          <p:cNvPr id="3" name="Shape 1"/>
          <p:cNvSpPr/>
          <p:nvPr/>
        </p:nvSpPr>
        <p:spPr>
          <a:xfrm>
            <a:off x="815975" y="1466155"/>
            <a:ext cx="6978650" cy="3047504"/>
          </a:xfrm>
          <a:prstGeom prst="roundRect">
            <a:avLst>
              <a:gd name="adj" fmla="val 2396"/>
            </a:avLst>
          </a:prstGeom>
          <a:solidFill>
            <a:srgbClr val="FFFFFF"/>
          </a:solidFill>
          <a:ln w="6350">
            <a:solidFill>
              <a:srgbClr val="D5DBE1"/>
            </a:solidFill>
            <a:prstDash val="solid"/>
          </a:ln>
        </p:spPr>
      </p:sp>
      <p:sp>
        <p:nvSpPr>
          <p:cNvPr id="4" name="Text 2"/>
          <p:cNvSpPr/>
          <p:nvPr/>
        </p:nvSpPr>
        <p:spPr>
          <a:xfrm>
            <a:off x="819150" y="1469330"/>
            <a:ext cx="6972300" cy="416520"/>
          </a:xfrm>
          <a:custGeom>
            <a:avLst/>
            <a:gdLst/>
            <a:ahLst/>
            <a:cxnLst/>
            <a:rect l="l" t="t" r="r" b="b"/>
            <a:pathLst>
              <a:path w="6972300" h="416520">
                <a:moveTo>
                  <a:pt x="76200" y="0"/>
                </a:moveTo>
                <a:lnTo>
                  <a:pt x="6896100" y="0"/>
                </a:lnTo>
                <a:arcTo hR="76200" wR="76200" stAng="16200000" swAng="5400000"/>
                <a:lnTo>
                  <a:pt x="6972300" y="416520"/>
                </a:lnTo>
                <a:lnTo>
                  <a:pt x="0" y="416520"/>
                </a:lnTo>
                <a:lnTo>
                  <a:pt x="0" y="76200"/>
                </a:lnTo>
                <a:arcTo hR="76200" wR="76200" stAng="10800000" swAng="5400000"/>
                <a:close/>
              </a:path>
            </a:pathLst>
          </a:custGeom>
          <a:solidFill>
            <a:srgbClr val="052A52"/>
          </a:solidFill>
          <a:ln/>
        </p:spPr>
        <p:txBody>
          <a:bodyPr wrap="square" lIns="152400" tIns="101600" rIns="0" bIns="76200" rtlCol="0" anchor="t">
            <a:normAutofit/>
          </a:bodyPr>
          <a:lstStyle/>
          <a:p>
            <a:pPr algn="l" indent="0" marL="0">
              <a:lnSpc>
                <a:spcPts val="1680"/>
              </a:lnSpc>
              <a:buNone/>
            </a:pPr>
            <a:r>
              <a:rPr lang="en-US" sz="1200" b="1" dirty="0">
                <a:solidFill>
                  <a:srgbClr val="F2F4F6"/>
                </a:solidFill>
                <a:latin typeface="Source Sans 3" pitchFamily="34" charset="0"/>
                <a:ea typeface="Source Sans 3" pitchFamily="34" charset="-122"/>
                <a:cs typeface="Source Sans 3" pitchFamily="34" charset="-120"/>
              </a:rPr>
              <a:t>Owners</a:t>
            </a:r>
            <a:r>
              <a:rPr lang="en-US" sz="1200" dirty="0">
                <a:solidFill>
                  <a:srgbClr val="F2F4F6"/>
                </a:solidFill>
                <a:latin typeface="Source Sans 3" pitchFamily="34" charset="0"/>
                <a:ea typeface="Source Sans 3" pitchFamily="34" charset="-122"/>
                <a:cs typeface="Source Sans 3" pitchFamily="34" charset="-120"/>
              </a:rPr>
              <a:t> · one row per KPI · 3 of 5 complete</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31850" y="1898551"/>
          <a:ext cx="6667500" cy="1452563"/>
        </p:xfrm>
        <a:graphic>
          <a:graphicData uri="http://schemas.openxmlformats.org/drawingml/2006/table">
            <a:tbl>
              <a:tblPr/>
              <a:tblGrid>
                <a:gridCol w="1666875"/>
                <a:gridCol w="1666875"/>
                <a:gridCol w="1666875"/>
                <a:gridCol w="1666875"/>
              </a:tblGrid>
              <a:tr h="363141">
                <a:tc>
                  <a:txBody>
                    <a:bodyPr/>
                    <a:lstStyle/>
                    <a:p>
                      <a:pPr indent="0" marL="0">
                        <a:lnSpc>
                          <a:spcPts val="1680"/>
                        </a:lnSpc>
                        <a:buNone/>
                      </a:pPr>
                      <a:r>
                        <a:rPr lang="en-US" sz="1200" b="1" dirty="0">
                          <a:solidFill>
                            <a:srgbClr val="4A5B6E"/>
                          </a:solidFill>
                          <a:latin typeface="Source Sans 3" pitchFamily="34" charset="0"/>
                          <a:ea typeface="Source Sans 3" pitchFamily="34" charset="-122"/>
                          <a:cs typeface="Source Sans 3" pitchFamily="34" charset="-120"/>
                        </a:rPr>
                        <a:t>KPI</a:t>
                      </a:r>
                      <a:endParaRPr lang="en-US" sz="1200" dirty="0">
                        <a:latin typeface="Source Sans 3" charset="0"/>
                        <a:ea typeface="Source Sans 3" charset="0"/>
                        <a:cs typeface="Source Sans 3"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4A5B6E"/>
                          </a:solidFill>
                          <a:latin typeface="Source Sans 3" pitchFamily="34" charset="0"/>
                          <a:ea typeface="Source Sans 3" pitchFamily="34" charset="-122"/>
                          <a:cs typeface="Source Sans 3" pitchFamily="34" charset="-120"/>
                        </a:rPr>
                        <a:t>Business owner</a:t>
                      </a:r>
                      <a:endParaRPr lang="en-US" sz="1200" dirty="0">
                        <a:latin typeface="Source Sans 3" charset="0"/>
                        <a:ea typeface="Source Sans 3" charset="0"/>
                        <a:cs typeface="Source Sans 3" charset="0"/>
                      </a:endParaRPr>
                    </a:p>
                  </a:txBody>
                  <a:tcPr marL="101600" marR="101600" marT="76200" marB="762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4A5B6E"/>
                          </a:solidFill>
                          <a:latin typeface="Source Sans 3" pitchFamily="34" charset="0"/>
                          <a:ea typeface="Source Sans 3" pitchFamily="34" charset="-122"/>
                          <a:cs typeface="Source Sans 3" pitchFamily="34" charset="-120"/>
                        </a:rPr>
                        <a:t>Data owner</a:t>
                      </a:r>
                      <a:endParaRPr lang="en-US" sz="1200" dirty="0">
                        <a:latin typeface="Source Sans 3" charset="0"/>
                        <a:ea typeface="Source Sans 3" charset="0"/>
                        <a:cs typeface="Source Sans 3" charset="0"/>
                      </a:endParaRPr>
                    </a:p>
                  </a:txBody>
                  <a:tcPr marL="101600" marR="101600" marT="76200" marB="762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4A5B6E"/>
                          </a:solidFill>
                          <a:latin typeface="Source Sans 3" pitchFamily="34" charset="0"/>
                          <a:ea typeface="Source Sans 3" pitchFamily="34" charset="-122"/>
                          <a:cs typeface="Source Sans 3" pitchFamily="34" charset="-120"/>
                        </a:rPr>
                        <a:t>Process owner</a:t>
                      </a:r>
                      <a:endParaRPr lang="en-US" sz="1200" dirty="0">
                        <a:latin typeface="Source Sans 3" charset="0"/>
                        <a:ea typeface="Source Sans 3" charset="0"/>
                        <a:cs typeface="Source Sans 3" charset="0"/>
                      </a:endParaRPr>
                    </a:p>
                  </a:txBody>
                  <a:tcPr marL="101600" marR="101600" marT="76200" marB="762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63141">
                <a:tc>
                  <a:txBody>
                    <a:bodyPr/>
                    <a:lstStyle/>
                    <a:p>
                      <a:pPr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Capital calls due</a:t>
                      </a:r>
                      <a:endParaRPr lang="en-US" sz="1200" dirty="0">
                        <a:latin typeface="Source Sans 3" charset="0"/>
                        <a:ea typeface="Source Sans 3" charset="0"/>
                        <a:cs typeface="Source Sans 3"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Mei</a:t>
                      </a:r>
                      <a:endParaRPr lang="en-US" sz="1200" dirty="0">
                        <a:latin typeface="Source Sans 3" charset="0"/>
                        <a:ea typeface="Source Sans 3" charset="0"/>
                        <a:cs typeface="Source Sans 3"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Arjun</a:t>
                      </a:r>
                      <a:endParaRPr lang="en-US" sz="1200" dirty="0">
                        <a:latin typeface="Source Sans 3" charset="0"/>
                        <a:ea typeface="Source Sans 3" charset="0"/>
                        <a:cs typeface="Source Sans 3"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Sara</a:t>
                      </a:r>
                      <a:endParaRPr lang="en-US" sz="1200" dirty="0">
                        <a:latin typeface="Source Sans 3" charset="0"/>
                        <a:ea typeface="Source Sans 3" charset="0"/>
                        <a:cs typeface="Source Sans 3"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63141">
                <a:tc>
                  <a:txBody>
                    <a:bodyPr/>
                    <a:lstStyle/>
                    <a:p>
                      <a:pPr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Funding capacity</a:t>
                      </a:r>
                      <a:endParaRPr lang="en-US" sz="1200" dirty="0">
                        <a:latin typeface="Source Sans 3" charset="0"/>
                        <a:ea typeface="Source Sans 3" charset="0"/>
                        <a:cs typeface="Source Sans 3"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Tom</a:t>
                      </a:r>
                      <a:endParaRPr lang="en-US" sz="1200" dirty="0">
                        <a:latin typeface="Source Sans 3" charset="0"/>
                        <a:ea typeface="Source Sans 3" charset="0"/>
                        <a:cs typeface="Source Sans 3"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Arjun</a:t>
                      </a:r>
                      <a:endParaRPr lang="en-US" sz="1200" dirty="0">
                        <a:latin typeface="Source Sans 3" charset="0"/>
                        <a:ea typeface="Source Sans 3" charset="0"/>
                        <a:cs typeface="Source Sans 3"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9A521F"/>
                          </a:solidFill>
                          <a:latin typeface="Source Sans 3" pitchFamily="34" charset="0"/>
                          <a:ea typeface="Source Sans 3" pitchFamily="34" charset="-122"/>
                          <a:cs typeface="Source Sans 3" pitchFamily="34" charset="-120"/>
                        </a:rPr>
                        <a:t>+ Nominate</a:t>
                      </a:r>
                      <a:endParaRPr lang="en-US" sz="1200" dirty="0">
                        <a:latin typeface="Source Sans 3" charset="0"/>
                        <a:ea typeface="Source Sans 3" charset="0"/>
                        <a:cs typeface="Source Sans 3"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63141">
                <a:tc>
                  <a:txBody>
                    <a:bodyPr/>
                    <a:lstStyle/>
                    <a:p>
                      <a:pPr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Exposure to one name</a:t>
                      </a:r>
                      <a:endParaRPr lang="en-US" sz="1200" dirty="0">
                        <a:latin typeface="Source Sans 3" charset="0"/>
                        <a:ea typeface="Source Sans 3" charset="0"/>
                        <a:cs typeface="Source Sans 3"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Mei</a:t>
                      </a:r>
                      <a:endParaRPr lang="en-US" sz="1200" dirty="0">
                        <a:latin typeface="Source Sans 3" charset="0"/>
                        <a:ea typeface="Source Sans 3" charset="0"/>
                        <a:cs typeface="Source Sans 3"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9A521F"/>
                          </a:solidFill>
                          <a:latin typeface="Source Sans 3" pitchFamily="34" charset="0"/>
                          <a:ea typeface="Source Sans 3" pitchFamily="34" charset="-122"/>
                          <a:cs typeface="Source Sans 3" pitchFamily="34" charset="-120"/>
                        </a:rPr>
                        <a:t>+ Nominate</a:t>
                      </a:r>
                      <a:endParaRPr lang="en-US" sz="1200" dirty="0">
                        <a:latin typeface="Source Sans 3" charset="0"/>
                        <a:ea typeface="Source Sans 3" charset="0"/>
                        <a:cs typeface="Source Sans 3"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9A521F"/>
                          </a:solidFill>
                          <a:latin typeface="Source Sans 3" pitchFamily="34" charset="0"/>
                          <a:ea typeface="Source Sans 3" pitchFamily="34" charset="-122"/>
                          <a:cs typeface="Source Sans 3" pitchFamily="34" charset="-120"/>
                        </a:rPr>
                        <a:t>+ Nominate</a:t>
                      </a:r>
                      <a:endParaRPr lang="en-US" sz="1200" dirty="0">
                        <a:latin typeface="Source Sans 3" charset="0"/>
                        <a:ea typeface="Source Sans 3" charset="0"/>
                        <a:cs typeface="Source Sans 3" charset="0"/>
                      </a:endParaRPr>
                    </a:p>
                  </a:txBody>
                  <a:tcPr marL="101600" marR="1016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Shape 3"/>
          <p:cNvSpPr/>
          <p:nvPr/>
        </p:nvSpPr>
        <p:spPr>
          <a:xfrm>
            <a:off x="819150" y="3354288"/>
            <a:ext cx="6972300" cy="0"/>
          </a:xfrm>
          <a:prstGeom prst="line">
            <a:avLst/>
          </a:prstGeom>
          <a:noFill/>
          <a:ln w="6350">
            <a:solidFill>
              <a:srgbClr val="D5DBE1"/>
            </a:solidFill>
            <a:prstDash val="solid"/>
          </a:ln>
        </p:spPr>
      </p:sp>
      <p:sp>
        <p:nvSpPr>
          <p:cNvPr id="7" name="Text 4"/>
          <p:cNvSpPr/>
          <p:nvPr/>
        </p:nvSpPr>
        <p:spPr>
          <a:xfrm>
            <a:off x="971550" y="3484463"/>
            <a:ext cx="686752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6F78"/>
                </a:solidFill>
                <a:latin typeface="Source Sans 3" pitchFamily="34" charset="0"/>
                <a:ea typeface="Source Sans 3" pitchFamily="34" charset="-122"/>
                <a:cs typeface="Source Sans 3" pitchFamily="34" charset="-120"/>
              </a:rPr>
              <a:t>GOVERNANCE · Exposure to one name</a:t>
            </a:r>
            <a:endParaRPr lang="en-US" sz="1200" dirty="0"/>
          </a:p>
        </p:txBody>
      </p:sp>
      <p:sp>
        <p:nvSpPr>
          <p:cNvPr id="8" name="Text 5"/>
          <p:cNvSpPr/>
          <p:nvPr/>
        </p:nvSpPr>
        <p:spPr>
          <a:xfrm>
            <a:off x="971550" y="3761284"/>
            <a:ext cx="6867525"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052A52"/>
                </a:solidFill>
                <a:latin typeface="Source Sans 3" pitchFamily="34" charset="0"/>
                <a:ea typeface="Source Sans 3" pitchFamily="34" charset="-122"/>
                <a:cs typeface="Source Sans 3" pitchFamily="34" charset="-120"/>
              </a:rPr>
              <a:t>Contains personal data? </a:t>
            </a:r>
            <a:r>
              <a:rPr lang="en-US" sz="1200" b="1" dirty="0">
                <a:solidFill>
                  <a:srgbClr val="052A52"/>
                </a:solidFill>
                <a:latin typeface="Source Sans 3" pitchFamily="34" charset="0"/>
                <a:ea typeface="Source Sans 3" pitchFamily="34" charset="-122"/>
                <a:cs typeface="Source Sans 3" pitchFamily="34" charset="-120"/>
              </a:rPr>
              <a:t>Not sure</a:t>
            </a:r>
            <a:r>
              <a:rPr lang="en-US" sz="1200" dirty="0">
                <a:solidFill>
                  <a:srgbClr val="052A52"/>
                </a:solidFill>
                <a:latin typeface="Source Sans 3" pitchFamily="34" charset="0"/>
                <a:ea typeface="Source Sans 3" pitchFamily="34" charset="-122"/>
                <a:cs typeface="Source Sans 3" pitchFamily="34" charset="-120"/>
              </a:rPr>
              <a:t> · Sensitive to the business? </a:t>
            </a:r>
            <a:r>
              <a:rPr lang="en-US" sz="1200" b="1" dirty="0">
                <a:solidFill>
                  <a:srgbClr val="052A52"/>
                </a:solidFill>
                <a:latin typeface="Source Sans 3" pitchFamily="34" charset="0"/>
                <a:ea typeface="Source Sans 3" pitchFamily="34" charset="-122"/>
                <a:cs typeface="Source Sans 3" pitchFamily="34" charset="-120"/>
              </a:rPr>
              <a:t>Yes</a:t>
            </a:r>
            <a:r>
              <a:rPr lang="en-US" sz="1200" dirty="0">
                <a:solidFill>
                  <a:srgbClr val="052A52"/>
                </a:solidFill>
                <a:latin typeface="Source Sans 3" pitchFamily="34" charset="0"/>
                <a:ea typeface="Source Sans 3" pitchFamily="34" charset="-122"/>
                <a:cs typeface="Source Sans 3" pitchFamily="34" charset="-120"/>
              </a:rPr>
              <a:t> · May see it: </a:t>
            </a:r>
            <a:r>
              <a:rPr lang="en-US" sz="1200" b="1" dirty="0">
                <a:solidFill>
                  <a:srgbClr val="052A52"/>
                </a:solidFill>
                <a:latin typeface="Source Sans 3" pitchFamily="34" charset="0"/>
                <a:ea typeface="Source Sans 3" pitchFamily="34" charset="-122"/>
                <a:cs typeface="Source Sans 3" pitchFamily="34" charset="-120"/>
              </a:rPr>
              <a:t>Mei, Wei, Tom</a:t>
            </a:r>
            <a:endParaRPr lang="en-US" sz="1200" dirty="0"/>
          </a:p>
        </p:txBody>
      </p:sp>
      <p:sp>
        <p:nvSpPr>
          <p:cNvPr id="9" name="Text 6"/>
          <p:cNvSpPr/>
          <p:nvPr/>
        </p:nvSpPr>
        <p:spPr>
          <a:xfrm>
            <a:off x="819150" y="4093964"/>
            <a:ext cx="6972300" cy="416520"/>
          </a:xfrm>
          <a:custGeom>
            <a:avLst/>
            <a:gdLst/>
            <a:ahLst/>
            <a:cxnLst/>
            <a:rect l="l" t="t" r="r" b="b"/>
            <a:pathLst>
              <a:path w="6972300" h="416520">
                <a:moveTo>
                  <a:pt x="0" y="0"/>
                </a:moveTo>
                <a:lnTo>
                  <a:pt x="6972300" y="0"/>
                </a:lnTo>
                <a:lnTo>
                  <a:pt x="6972300" y="340320"/>
                </a:lnTo>
                <a:arcTo hR="76200" wR="76200" stAng="0" swAng="5400000"/>
                <a:lnTo>
                  <a:pt x="76200" y="416520"/>
                </a:lnTo>
                <a:arcTo hR="76200" wR="76200" stAng="5400000" swAng="5400000"/>
                <a:lnTo>
                  <a:pt x="0" y="0"/>
                </a:lnTo>
                <a:close/>
              </a:path>
            </a:pathLst>
          </a:custGeom>
          <a:solidFill>
            <a:srgbClr val="DDF1F2"/>
          </a:solidFill>
          <a:ln/>
        </p:spPr>
        <p:txBody>
          <a:bodyPr wrap="square" lIns="152400" tIns="101600" rIns="0" bIns="76200" rtlCol="0" anchor="t">
            <a:normAutofit/>
          </a:bodyPr>
          <a:lstStyle/>
          <a:p>
            <a:pPr algn="l" indent="0" marL="0">
              <a:lnSpc>
                <a:spcPts val="1680"/>
              </a:lnSpc>
              <a:buNone/>
            </a:pPr>
            <a:r>
              <a:rPr lang="en-US" sz="1200" b="1" dirty="0">
                <a:solidFill>
                  <a:srgbClr val="052A52"/>
                </a:solidFill>
                <a:latin typeface="Source Sans 3" pitchFamily="34" charset="0"/>
                <a:ea typeface="Source Sans 3" pitchFamily="34" charset="-122"/>
                <a:cs typeface="Source Sans 3" pitchFamily="34" charset="-120"/>
              </a:rPr>
              <a:t>Lens:</a:t>
            </a:r>
            <a:r>
              <a:rPr lang="en-US" sz="1200" dirty="0">
                <a:solidFill>
                  <a:srgbClr val="052A52"/>
                </a:solidFill>
                <a:latin typeface="Source Sans 3" pitchFamily="34" charset="0"/>
                <a:ea typeface="Source Sans 3" pitchFamily="34" charset="-122"/>
                <a:cs typeface="Source Sans 3" pitchFamily="34" charset="-120"/>
              </a:rPr>
              <a:t> if it does hold personal data, I will only show it to the three of you. Shall I ask Arjun to confirm?</a:t>
            </a:r>
            <a:endParaRPr lang="en-US" sz="1200" dirty="0"/>
          </a:p>
        </p:txBody>
      </p:sp>
      <p:sp>
        <p:nvSpPr>
          <p:cNvPr id="10" name="Text 7"/>
          <p:cNvSpPr/>
          <p:nvPr/>
        </p:nvSpPr>
        <p:spPr>
          <a:xfrm>
            <a:off x="8102600" y="1462980"/>
            <a:ext cx="337489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521F"/>
                </a:solidFill>
                <a:latin typeface="Source Sans 3" pitchFamily="34" charset="0"/>
                <a:ea typeface="Source Sans 3" pitchFamily="34" charset="-122"/>
                <a:cs typeface="Source Sans 3" pitchFamily="34" charset="-120"/>
              </a:rPr>
              <a:t>DESIGN MOCK-UP</a:t>
            </a:r>
            <a:endParaRPr lang="en-US" sz="1200" dirty="0"/>
          </a:p>
        </p:txBody>
      </p:sp>
      <p:sp>
        <p:nvSpPr>
          <p:cNvPr id="11" name="Text 8"/>
          <p:cNvSpPr/>
          <p:nvPr/>
        </p:nvSpPr>
        <p:spPr>
          <a:xfrm>
            <a:off x="8102600" y="1803301"/>
            <a:ext cx="3374898"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52A52"/>
                </a:solidFill>
                <a:latin typeface="Source Sans 3" pitchFamily="34" charset="0"/>
                <a:ea typeface="Source Sans 3" pitchFamily="34" charset="-122"/>
                <a:cs typeface="Source Sans 3" pitchFamily="34" charset="-120"/>
              </a:rPr>
              <a:t>Three roles per KPI: the person who owns the meaning, the person who owns the data, the person who owns the process.</a:t>
            </a:r>
            <a:endParaRPr lang="en-US" sz="1400" dirty="0"/>
          </a:p>
        </p:txBody>
      </p:sp>
      <p:sp>
        <p:nvSpPr>
          <p:cNvPr id="12" name="Text 9"/>
          <p:cNvSpPr/>
          <p:nvPr/>
        </p:nvSpPr>
        <p:spPr>
          <a:xfrm>
            <a:off x="8102600" y="2676823"/>
            <a:ext cx="337489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52A52"/>
                </a:solidFill>
                <a:latin typeface="Source Sans 3" pitchFamily="34" charset="0"/>
                <a:ea typeface="Source Sans 3" pitchFamily="34" charset="-122"/>
                <a:cs typeface="Source Sans 3" pitchFamily="34" charset="-120"/>
              </a:rPr>
              <a:t>Governance is set here too: personal data or not, and exactly who may see it.</a:t>
            </a:r>
            <a:endParaRPr lang="en-US" sz="1400" dirty="0"/>
          </a:p>
        </p:txBody>
      </p:sp>
      <p:sp>
        <p:nvSpPr>
          <p:cNvPr id="13" name="Text 10"/>
          <p:cNvSpPr/>
          <p:nvPr/>
        </p:nvSpPr>
        <p:spPr>
          <a:xfrm>
            <a:off x="8102600" y="3301504"/>
            <a:ext cx="337489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52A52"/>
                </a:solidFill>
                <a:latin typeface="Source Sans 3" pitchFamily="34" charset="0"/>
                <a:ea typeface="Source Sans 3" pitchFamily="34" charset="-122"/>
                <a:cs typeface="Source Sans 3" pitchFamily="34" charset="-120"/>
              </a:rPr>
              <a:t>Anyone can be nominated by name, with or without an account.</a:t>
            </a:r>
            <a:endParaRPr lang="en-US" sz="1400" dirty="0"/>
          </a:p>
        </p:txBody>
      </p:sp>
      <p:sp>
        <p:nvSpPr>
          <p:cNvPr id="14"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E"/>
                </a:solidFill>
                <a:latin typeface="Source Sans 3" pitchFamily="34" charset="0"/>
                <a:ea typeface="Source Sans 3" pitchFamily="34" charset="-122"/>
                <a:cs typeface="Source Sans 3" pitchFamily="34" charset="-120"/>
              </a:rPr>
              <a:t>Signal Harbor · Module 2 Baseline, design for discussion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4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052A52"/>
                </a:solidFill>
                <a:latin typeface="Fraunces" pitchFamily="18" charset="0"/>
                <a:ea typeface="Fraunces" pitchFamily="18" charset="-122"/>
                <a:cs typeface="Fraunces" pitchFamily="18" charset="-120"/>
              </a:rPr>
              <a:t>4 · Request: Nira asks each owner</a:t>
            </a:r>
            <a:endParaRPr lang="en-US" sz="3200" dirty="0"/>
          </a:p>
        </p:txBody>
      </p:sp>
      <p:sp>
        <p:nvSpPr>
          <p:cNvPr id="3" name="Shape 1"/>
          <p:cNvSpPr/>
          <p:nvPr/>
        </p:nvSpPr>
        <p:spPr>
          <a:xfrm>
            <a:off x="815975" y="1466155"/>
            <a:ext cx="6978650" cy="3252192"/>
          </a:xfrm>
          <a:prstGeom prst="roundRect">
            <a:avLst>
              <a:gd name="adj" fmla="val 2245"/>
            </a:avLst>
          </a:prstGeom>
          <a:solidFill>
            <a:srgbClr val="FFFFFF"/>
          </a:solidFill>
          <a:ln w="6350">
            <a:solidFill>
              <a:srgbClr val="D5DBE1"/>
            </a:solidFill>
            <a:prstDash val="solid"/>
          </a:ln>
        </p:spPr>
      </p:sp>
      <p:sp>
        <p:nvSpPr>
          <p:cNvPr id="4" name="Text 2"/>
          <p:cNvSpPr/>
          <p:nvPr/>
        </p:nvSpPr>
        <p:spPr>
          <a:xfrm>
            <a:off x="819150" y="1469330"/>
            <a:ext cx="6972300" cy="416520"/>
          </a:xfrm>
          <a:custGeom>
            <a:avLst/>
            <a:gdLst/>
            <a:ahLst/>
            <a:cxnLst/>
            <a:rect l="l" t="t" r="r" b="b"/>
            <a:pathLst>
              <a:path w="6972300" h="416520">
                <a:moveTo>
                  <a:pt x="76200" y="0"/>
                </a:moveTo>
                <a:lnTo>
                  <a:pt x="6896100" y="0"/>
                </a:lnTo>
                <a:arcTo hR="76200" wR="76200" stAng="16200000" swAng="5400000"/>
                <a:lnTo>
                  <a:pt x="6972300" y="416520"/>
                </a:lnTo>
                <a:lnTo>
                  <a:pt x="0" y="416520"/>
                </a:lnTo>
                <a:lnTo>
                  <a:pt x="0" y="76200"/>
                </a:lnTo>
                <a:arcTo hR="76200" wR="76200" stAng="10800000" swAng="5400000"/>
                <a:close/>
              </a:path>
            </a:pathLst>
          </a:custGeom>
          <a:solidFill>
            <a:srgbClr val="052A52"/>
          </a:solidFill>
          <a:ln/>
        </p:spPr>
        <p:txBody>
          <a:bodyPr wrap="square" lIns="152400" tIns="101600" rIns="0" bIns="76200" rtlCol="0" anchor="t">
            <a:normAutofit/>
          </a:bodyPr>
          <a:lstStyle/>
          <a:p>
            <a:pPr algn="l" indent="0" marL="0">
              <a:lnSpc>
                <a:spcPts val="1680"/>
              </a:lnSpc>
              <a:buNone/>
            </a:pPr>
            <a:r>
              <a:rPr lang="en-US" sz="1200" b="1" dirty="0">
                <a:solidFill>
                  <a:srgbClr val="F2F4F6"/>
                </a:solidFill>
                <a:latin typeface="Source Sans 3" pitchFamily="34" charset="0"/>
                <a:ea typeface="Source Sans 3" pitchFamily="34" charset="-122"/>
                <a:cs typeface="Source Sans 3" pitchFamily="34" charset="-120"/>
              </a:rPr>
              <a:t>Requests</a:t>
            </a:r>
            <a:r>
              <a:rPr lang="en-US" sz="1200" dirty="0">
                <a:solidFill>
                  <a:srgbClr val="F2F4F6"/>
                </a:solidFill>
                <a:latin typeface="Source Sans 3" pitchFamily="34" charset="0"/>
                <a:ea typeface="Source Sans 3" pitchFamily="34" charset="-122"/>
                <a:cs typeface="Source Sans 3" pitchFamily="34" charset="-120"/>
              </a:rPr>
              <a:t> · 4 sent · 2 answered</a:t>
            </a:r>
            <a:endParaRPr lang="en-US" sz="1200" dirty="0"/>
          </a:p>
        </p:txBody>
      </p:sp>
      <p:sp>
        <p:nvSpPr>
          <p:cNvPr id="5" name="Shape 3"/>
          <p:cNvSpPr/>
          <p:nvPr/>
        </p:nvSpPr>
        <p:spPr>
          <a:xfrm>
            <a:off x="974725" y="2041426"/>
            <a:ext cx="3803650" cy="372070"/>
          </a:xfrm>
          <a:prstGeom prst="roundRect">
            <a:avLst>
              <a:gd name="adj" fmla="val 12800"/>
            </a:avLst>
          </a:prstGeom>
          <a:noFill/>
          <a:ln w="6350">
            <a:solidFill>
              <a:srgbClr val="D5DBE1"/>
            </a:solidFill>
            <a:prstDash val="solid"/>
          </a:ln>
        </p:spPr>
      </p:sp>
      <p:sp>
        <p:nvSpPr>
          <p:cNvPr id="6" name="Text 4"/>
          <p:cNvSpPr/>
          <p:nvPr/>
        </p:nvSpPr>
        <p:spPr>
          <a:xfrm>
            <a:off x="1079500" y="2120801"/>
            <a:ext cx="199798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52A52"/>
                </a:solidFill>
                <a:latin typeface="Source Sans 3" pitchFamily="34" charset="0"/>
                <a:ea typeface="Source Sans 3" pitchFamily="34" charset="-122"/>
                <a:cs typeface="Source Sans 3" pitchFamily="34" charset="-120"/>
              </a:rPr>
              <a:t>Arjun</a:t>
            </a:r>
            <a:r>
              <a:rPr lang="en-US" sz="1200" dirty="0">
                <a:solidFill>
                  <a:srgbClr val="052A52"/>
                </a:solidFill>
                <a:latin typeface="Source Sans 3" pitchFamily="34" charset="0"/>
                <a:ea typeface="Source Sans 3" pitchFamily="34" charset="-122"/>
                <a:cs typeface="Source Sans 3" pitchFamily="34" charset="-120"/>
              </a:rPr>
              <a:t> · data owner · 2 KPIs</a:t>
            </a:r>
            <a:endParaRPr lang="en-US" sz="1200" dirty="0"/>
          </a:p>
        </p:txBody>
      </p:sp>
      <p:sp>
        <p:nvSpPr>
          <p:cNvPr id="7" name="Text 5"/>
          <p:cNvSpPr/>
          <p:nvPr/>
        </p:nvSpPr>
        <p:spPr>
          <a:xfrm>
            <a:off x="3922197" y="2120801"/>
            <a:ext cx="75140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A6F78"/>
                </a:solidFill>
                <a:latin typeface="Source Sans 3" pitchFamily="34" charset="0"/>
                <a:ea typeface="Source Sans 3" pitchFamily="34" charset="-122"/>
                <a:cs typeface="Source Sans 3" pitchFamily="34" charset="-120"/>
              </a:rPr>
              <a:t>Answered</a:t>
            </a:r>
            <a:endParaRPr lang="en-US" sz="1200" dirty="0"/>
          </a:p>
        </p:txBody>
      </p:sp>
      <p:sp>
        <p:nvSpPr>
          <p:cNvPr id="8" name="Shape 6"/>
          <p:cNvSpPr/>
          <p:nvPr/>
        </p:nvSpPr>
        <p:spPr>
          <a:xfrm>
            <a:off x="974725" y="2483346"/>
            <a:ext cx="3803650" cy="372070"/>
          </a:xfrm>
          <a:prstGeom prst="roundRect">
            <a:avLst>
              <a:gd name="adj" fmla="val 12800"/>
            </a:avLst>
          </a:prstGeom>
          <a:noFill/>
          <a:ln w="6350">
            <a:solidFill>
              <a:srgbClr val="D5DBE1"/>
            </a:solidFill>
            <a:prstDash val="solid"/>
          </a:ln>
        </p:spPr>
      </p:sp>
      <p:sp>
        <p:nvSpPr>
          <p:cNvPr id="9" name="Text 7"/>
          <p:cNvSpPr/>
          <p:nvPr/>
        </p:nvSpPr>
        <p:spPr>
          <a:xfrm>
            <a:off x="1079500" y="2562721"/>
            <a:ext cx="158722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52A52"/>
                </a:solidFill>
                <a:latin typeface="Source Sans 3" pitchFamily="34" charset="0"/>
                <a:ea typeface="Source Sans 3" pitchFamily="34" charset="-122"/>
                <a:cs typeface="Source Sans 3" pitchFamily="34" charset="-120"/>
              </a:rPr>
              <a:t>Sara</a:t>
            </a:r>
            <a:r>
              <a:rPr lang="en-US" sz="1200" dirty="0">
                <a:solidFill>
                  <a:srgbClr val="052A52"/>
                </a:solidFill>
                <a:latin typeface="Source Sans 3" pitchFamily="34" charset="0"/>
                <a:ea typeface="Source Sans 3" pitchFamily="34" charset="-122"/>
                <a:cs typeface="Source Sans 3" pitchFamily="34" charset="-120"/>
              </a:rPr>
              <a:t> · process owner</a:t>
            </a:r>
            <a:endParaRPr lang="en-US" sz="1200" dirty="0"/>
          </a:p>
        </p:txBody>
      </p:sp>
      <p:sp>
        <p:nvSpPr>
          <p:cNvPr id="10" name="Text 8"/>
          <p:cNvSpPr/>
          <p:nvPr/>
        </p:nvSpPr>
        <p:spPr>
          <a:xfrm>
            <a:off x="3922197" y="2562721"/>
            <a:ext cx="75140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A6F78"/>
                </a:solidFill>
                <a:latin typeface="Source Sans 3" pitchFamily="34" charset="0"/>
                <a:ea typeface="Source Sans 3" pitchFamily="34" charset="-122"/>
                <a:cs typeface="Source Sans 3" pitchFamily="34" charset="-120"/>
              </a:rPr>
              <a:t>Answered</a:t>
            </a:r>
            <a:endParaRPr lang="en-US" sz="1200" dirty="0"/>
          </a:p>
        </p:txBody>
      </p:sp>
      <p:sp>
        <p:nvSpPr>
          <p:cNvPr id="11" name="Shape 9"/>
          <p:cNvSpPr/>
          <p:nvPr/>
        </p:nvSpPr>
        <p:spPr>
          <a:xfrm>
            <a:off x="974725" y="2925266"/>
            <a:ext cx="3803650" cy="372070"/>
          </a:xfrm>
          <a:prstGeom prst="roundRect">
            <a:avLst>
              <a:gd name="adj" fmla="val 12800"/>
            </a:avLst>
          </a:prstGeom>
          <a:noFill/>
          <a:ln w="6350">
            <a:solidFill>
              <a:srgbClr val="D5DBE1"/>
            </a:solidFill>
            <a:prstDash val="solid"/>
          </a:ln>
        </p:spPr>
      </p:sp>
      <p:sp>
        <p:nvSpPr>
          <p:cNvPr id="12" name="Text 10"/>
          <p:cNvSpPr/>
          <p:nvPr/>
        </p:nvSpPr>
        <p:spPr>
          <a:xfrm>
            <a:off x="1079500" y="3004641"/>
            <a:ext cx="16518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52A52"/>
                </a:solidFill>
                <a:latin typeface="Source Sans 3" pitchFamily="34" charset="0"/>
                <a:ea typeface="Source Sans 3" pitchFamily="34" charset="-122"/>
                <a:cs typeface="Source Sans 3" pitchFamily="34" charset="-120"/>
              </a:rPr>
              <a:t>Tom</a:t>
            </a:r>
            <a:r>
              <a:rPr lang="en-US" sz="1200" dirty="0">
                <a:solidFill>
                  <a:srgbClr val="052A52"/>
                </a:solidFill>
                <a:latin typeface="Source Sans 3" pitchFamily="34" charset="0"/>
                <a:ea typeface="Source Sans 3" pitchFamily="34" charset="-122"/>
                <a:cs typeface="Source Sans 3" pitchFamily="34" charset="-120"/>
              </a:rPr>
              <a:t> · business owner</a:t>
            </a:r>
            <a:endParaRPr lang="en-US" sz="1200" dirty="0"/>
          </a:p>
        </p:txBody>
      </p:sp>
      <p:sp>
        <p:nvSpPr>
          <p:cNvPr id="13" name="Text 11"/>
          <p:cNvSpPr/>
          <p:nvPr/>
        </p:nvSpPr>
        <p:spPr>
          <a:xfrm>
            <a:off x="2946956" y="3004641"/>
            <a:ext cx="172664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521F"/>
                </a:solidFill>
                <a:latin typeface="Source Sans 3" pitchFamily="34" charset="0"/>
                <a:ea typeface="Source Sans 3" pitchFamily="34" charset="-122"/>
                <a:cs typeface="Source Sans 3" pitchFamily="34" charset="-120"/>
              </a:rPr>
              <a:t>Opened, not answered</a:t>
            </a:r>
            <a:endParaRPr lang="en-US" sz="1200" dirty="0"/>
          </a:p>
        </p:txBody>
      </p:sp>
      <p:sp>
        <p:nvSpPr>
          <p:cNvPr id="14" name="Shape 12"/>
          <p:cNvSpPr/>
          <p:nvPr/>
        </p:nvSpPr>
        <p:spPr>
          <a:xfrm>
            <a:off x="974725" y="3367187"/>
            <a:ext cx="3803650" cy="372070"/>
          </a:xfrm>
          <a:prstGeom prst="roundRect">
            <a:avLst>
              <a:gd name="adj" fmla="val 12800"/>
            </a:avLst>
          </a:prstGeom>
          <a:noFill/>
          <a:ln w="6350">
            <a:solidFill>
              <a:srgbClr val="D5DBE1"/>
            </a:solidFill>
            <a:prstDash val="solid"/>
          </a:ln>
        </p:spPr>
      </p:sp>
      <p:sp>
        <p:nvSpPr>
          <p:cNvPr id="15" name="Text 13"/>
          <p:cNvSpPr/>
          <p:nvPr/>
        </p:nvSpPr>
        <p:spPr>
          <a:xfrm>
            <a:off x="1079500" y="3446562"/>
            <a:ext cx="127480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52A52"/>
                </a:solidFill>
                <a:latin typeface="Source Sans 3" pitchFamily="34" charset="0"/>
                <a:ea typeface="Source Sans 3" pitchFamily="34" charset="-122"/>
                <a:cs typeface="Source Sans 3" pitchFamily="34" charset="-120"/>
              </a:rPr>
              <a:t>Wei</a:t>
            </a:r>
            <a:r>
              <a:rPr lang="en-US" sz="1200" dirty="0">
                <a:solidFill>
                  <a:srgbClr val="052A52"/>
                </a:solidFill>
                <a:latin typeface="Source Sans 3" pitchFamily="34" charset="0"/>
                <a:ea typeface="Source Sans 3" pitchFamily="34" charset="-122"/>
                <a:cs typeface="Source Sans 3" pitchFamily="34" charset="-120"/>
              </a:rPr>
              <a:t> · data owner</a:t>
            </a:r>
            <a:endParaRPr lang="en-US" sz="1200" dirty="0"/>
          </a:p>
        </p:txBody>
      </p:sp>
      <p:sp>
        <p:nvSpPr>
          <p:cNvPr id="16" name="Text 14"/>
          <p:cNvSpPr/>
          <p:nvPr/>
        </p:nvSpPr>
        <p:spPr>
          <a:xfrm>
            <a:off x="3474641" y="3446562"/>
            <a:ext cx="11989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521F"/>
                </a:solidFill>
                <a:latin typeface="Source Sans 3" pitchFamily="34" charset="0"/>
                <a:ea typeface="Source Sans 3" pitchFamily="34" charset="-122"/>
                <a:cs typeface="Source Sans 3" pitchFamily="34" charset="-120"/>
              </a:rPr>
              <a:t>No reply, 3 days</a:t>
            </a:r>
            <a:endParaRPr lang="en-US" sz="1200" dirty="0"/>
          </a:p>
        </p:txBody>
      </p:sp>
      <p:sp>
        <p:nvSpPr>
          <p:cNvPr id="17" name="Text 15"/>
          <p:cNvSpPr/>
          <p:nvPr/>
        </p:nvSpPr>
        <p:spPr>
          <a:xfrm>
            <a:off x="977900" y="3812282"/>
            <a:ext cx="3797300" cy="327620"/>
          </a:xfrm>
          <a:prstGeom prst="roundRect">
            <a:avLst>
              <a:gd name="adj" fmla="val 13568"/>
            </a:avLst>
          </a:prstGeom>
          <a:noFill/>
          <a:ln w="12700">
            <a:solidFill>
              <a:srgbClr val="052A52"/>
            </a:solidFill>
            <a:prstDash val="solid"/>
          </a:ln>
        </p:spPr>
        <p:txBody>
          <a:bodyPr wrap="square" lIns="67372" tIns="44131" rIns="67372" bIns="18731" rtlCol="0" anchor="t">
            <a:normAutofit/>
          </a:bodyPr>
          <a:lstStyle/>
          <a:p>
            <a:pPr algn="ctr"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Answer in a meeting instead</a:t>
            </a:r>
            <a:endParaRPr lang="en-US" sz="1200" dirty="0"/>
          </a:p>
        </p:txBody>
      </p:sp>
      <p:sp>
        <p:nvSpPr>
          <p:cNvPr id="18" name="Shape 16"/>
          <p:cNvSpPr/>
          <p:nvPr/>
        </p:nvSpPr>
        <p:spPr>
          <a:xfrm>
            <a:off x="4908550" y="2038251"/>
            <a:ext cx="2730500" cy="2108002"/>
          </a:xfrm>
          <a:prstGeom prst="roundRect">
            <a:avLst>
              <a:gd name="adj" fmla="val 2410"/>
            </a:avLst>
          </a:prstGeom>
          <a:solidFill>
            <a:srgbClr val="F2F4F6"/>
          </a:solidFill>
          <a:ln/>
        </p:spPr>
      </p:sp>
      <p:sp>
        <p:nvSpPr>
          <p:cNvPr id="19" name="Text 17"/>
          <p:cNvSpPr/>
          <p:nvPr/>
        </p:nvSpPr>
        <p:spPr>
          <a:xfrm>
            <a:off x="5035550" y="2152551"/>
            <a:ext cx="255079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6F78"/>
                </a:solidFill>
                <a:latin typeface="Source Sans 3" pitchFamily="34" charset="0"/>
                <a:ea typeface="Source Sans 3" pitchFamily="34" charset="-122"/>
                <a:cs typeface="Source Sans 3" pitchFamily="34" charset="-120"/>
              </a:rPr>
              <a:t>WHAT TOM RECEIVES</a:t>
            </a:r>
            <a:endParaRPr lang="en-US" sz="1200" dirty="0"/>
          </a:p>
        </p:txBody>
      </p:sp>
      <p:sp>
        <p:nvSpPr>
          <p:cNvPr id="20" name="Text 18"/>
          <p:cNvSpPr/>
          <p:nvPr/>
        </p:nvSpPr>
        <p:spPr>
          <a:xfrm>
            <a:off x="5035550" y="2429371"/>
            <a:ext cx="2550795" cy="43676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52A52"/>
                </a:solidFill>
                <a:latin typeface="Source Sans 3" pitchFamily="34" charset="0"/>
                <a:ea typeface="Source Sans 3" pitchFamily="34" charset="-122"/>
                <a:cs typeface="Source Sans 3" pitchFamily="34" charset="-120"/>
              </a:rPr>
              <a:t>Subject:</a:t>
            </a:r>
            <a:r>
              <a:rPr lang="en-US" sz="1200" dirty="0">
                <a:solidFill>
                  <a:srgbClr val="052A52"/>
                </a:solidFill>
                <a:latin typeface="Source Sans 3" pitchFamily="34" charset="0"/>
                <a:ea typeface="Source Sans 3" pitchFamily="34" charset="-122"/>
                <a:cs typeface="Source Sans 3" pitchFamily="34" charset="-120"/>
              </a:rPr>
              <a:t> A few questions about "Funding capacity"</a:t>
            </a:r>
            <a:endParaRPr lang="en-US" sz="1200" dirty="0"/>
          </a:p>
        </p:txBody>
      </p:sp>
      <p:sp>
        <p:nvSpPr>
          <p:cNvPr id="21" name="Text 19"/>
          <p:cNvSpPr/>
          <p:nvPr/>
        </p:nvSpPr>
        <p:spPr>
          <a:xfrm>
            <a:off x="5035550" y="2904232"/>
            <a:ext cx="2550795"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052A52"/>
                </a:solidFill>
                <a:latin typeface="Source Sans 3" pitchFamily="34" charset="0"/>
                <a:ea typeface="Source Sans 3" pitchFamily="34" charset="-122"/>
                <a:cs typeface="Source Sans 3" pitchFamily="34" charset="-120"/>
              </a:rPr>
              <a:t>Mei named you as its business owner. It takes about ten minutes.</a:t>
            </a:r>
            <a:endParaRPr lang="en-US" sz="1200" dirty="0"/>
          </a:p>
        </p:txBody>
      </p:sp>
      <p:sp>
        <p:nvSpPr>
          <p:cNvPr id="22" name="Text 20"/>
          <p:cNvSpPr/>
          <p:nvPr/>
        </p:nvSpPr>
        <p:spPr>
          <a:xfrm>
            <a:off x="5035550" y="3379093"/>
            <a:ext cx="2476500" cy="314920"/>
          </a:xfrm>
          <a:prstGeom prst="roundRect">
            <a:avLst>
              <a:gd name="adj" fmla="val 16131"/>
            </a:avLst>
          </a:prstGeom>
          <a:solidFill>
            <a:srgbClr val="052A52"/>
          </a:solidFill>
          <a:ln/>
        </p:spPr>
        <p:txBody>
          <a:bodyPr wrap="square" lIns="52622" tIns="35921" rIns="52622" bIns="10521" rtlCol="0" anchor="t">
            <a:normAutofit/>
          </a:bodyPr>
          <a:lstStyle/>
          <a:p>
            <a:pPr algn="ctr" indent="0" marL="0">
              <a:lnSpc>
                <a:spcPts val="1680"/>
              </a:lnSpc>
              <a:buNone/>
            </a:pPr>
            <a:r>
              <a:rPr lang="en-US" sz="1200" dirty="0">
                <a:solidFill>
                  <a:srgbClr val="F2F4F6"/>
                </a:solidFill>
                <a:latin typeface="Source Sans 3" pitchFamily="34" charset="0"/>
                <a:ea typeface="Source Sans 3" pitchFamily="34" charset="-122"/>
                <a:cs typeface="Source Sans 3" pitchFamily="34" charset="-120"/>
              </a:rPr>
              <a:t>Answer here</a:t>
            </a:r>
            <a:endParaRPr lang="en-US" sz="1200" dirty="0"/>
          </a:p>
        </p:txBody>
      </p:sp>
      <p:sp>
        <p:nvSpPr>
          <p:cNvPr id="23" name="Text 21"/>
          <p:cNvSpPr/>
          <p:nvPr/>
        </p:nvSpPr>
        <p:spPr>
          <a:xfrm>
            <a:off x="5035550" y="3757513"/>
            <a:ext cx="2550795"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B6E"/>
                </a:solidFill>
                <a:latin typeface="Source Sans 3" pitchFamily="34" charset="0"/>
                <a:ea typeface="Source Sans 3" pitchFamily="34" charset="-122"/>
                <a:cs typeface="Source Sans 3" pitchFamily="34" charset="-120"/>
              </a:rPr>
              <a:t>No account needed. No data is sent.</a:t>
            </a:r>
            <a:endParaRPr lang="en-US" sz="1200" dirty="0"/>
          </a:p>
        </p:txBody>
      </p:sp>
      <p:sp>
        <p:nvSpPr>
          <p:cNvPr id="24" name="Text 22"/>
          <p:cNvSpPr/>
          <p:nvPr/>
        </p:nvSpPr>
        <p:spPr>
          <a:xfrm>
            <a:off x="819150" y="4298652"/>
            <a:ext cx="6972300" cy="416520"/>
          </a:xfrm>
          <a:custGeom>
            <a:avLst/>
            <a:gdLst/>
            <a:ahLst/>
            <a:cxnLst/>
            <a:rect l="l" t="t" r="r" b="b"/>
            <a:pathLst>
              <a:path w="6972300" h="416520">
                <a:moveTo>
                  <a:pt x="0" y="0"/>
                </a:moveTo>
                <a:lnTo>
                  <a:pt x="6972300" y="0"/>
                </a:lnTo>
                <a:lnTo>
                  <a:pt x="6972300" y="340320"/>
                </a:lnTo>
                <a:arcTo hR="76200" wR="76200" stAng="0" swAng="5400000"/>
                <a:lnTo>
                  <a:pt x="76200" y="416520"/>
                </a:lnTo>
                <a:arcTo hR="76200" wR="76200" stAng="5400000" swAng="5400000"/>
                <a:lnTo>
                  <a:pt x="0" y="0"/>
                </a:lnTo>
                <a:close/>
              </a:path>
            </a:pathLst>
          </a:custGeom>
          <a:solidFill>
            <a:srgbClr val="DDF1F2"/>
          </a:solidFill>
          <a:ln/>
        </p:spPr>
        <p:txBody>
          <a:bodyPr wrap="square" lIns="152400" tIns="101600" rIns="0" bIns="76200" rtlCol="0" anchor="t">
            <a:normAutofit/>
          </a:bodyPr>
          <a:lstStyle/>
          <a:p>
            <a:pPr algn="l" indent="0" marL="0">
              <a:lnSpc>
                <a:spcPts val="1680"/>
              </a:lnSpc>
              <a:buNone/>
            </a:pPr>
            <a:r>
              <a:rPr lang="en-US" sz="1200" b="1" dirty="0">
                <a:solidFill>
                  <a:srgbClr val="052A52"/>
                </a:solidFill>
                <a:latin typeface="Source Sans 3" pitchFamily="34" charset="0"/>
                <a:ea typeface="Source Sans 3" pitchFamily="34" charset="-122"/>
                <a:cs typeface="Source Sans 3" pitchFamily="34" charset="-120"/>
              </a:rPr>
              <a:t>Nira:</a:t>
            </a:r>
            <a:r>
              <a:rPr lang="en-US" sz="1200" dirty="0">
                <a:solidFill>
                  <a:srgbClr val="052A52"/>
                </a:solidFill>
                <a:latin typeface="Source Sans 3" pitchFamily="34" charset="0"/>
                <a:ea typeface="Source Sans 3" pitchFamily="34" charset="-122"/>
                <a:cs typeface="Source Sans 3" pitchFamily="34" charset="-120"/>
              </a:rPr>
              <a:t> Wei has not replied in three days. I will remind them tomorrow and tell Mei.</a:t>
            </a:r>
            <a:endParaRPr lang="en-US" sz="1200" dirty="0"/>
          </a:p>
        </p:txBody>
      </p:sp>
      <p:sp>
        <p:nvSpPr>
          <p:cNvPr id="25" name="Text 23"/>
          <p:cNvSpPr/>
          <p:nvPr/>
        </p:nvSpPr>
        <p:spPr>
          <a:xfrm>
            <a:off x="8102600" y="1462980"/>
            <a:ext cx="337489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521F"/>
                </a:solidFill>
                <a:latin typeface="Source Sans 3" pitchFamily="34" charset="0"/>
                <a:ea typeface="Source Sans 3" pitchFamily="34" charset="-122"/>
                <a:cs typeface="Source Sans 3" pitchFamily="34" charset="-120"/>
              </a:rPr>
              <a:t>DESIGN MOCK-UP</a:t>
            </a:r>
            <a:endParaRPr lang="en-US" sz="1200" dirty="0"/>
          </a:p>
        </p:txBody>
      </p:sp>
      <p:sp>
        <p:nvSpPr>
          <p:cNvPr id="26" name="Text 24"/>
          <p:cNvSpPr/>
          <p:nvPr/>
        </p:nvSpPr>
        <p:spPr>
          <a:xfrm>
            <a:off x="8102600" y="1803301"/>
            <a:ext cx="3374898" cy="77192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52A52"/>
                </a:solidFill>
                <a:latin typeface="Source Sans 3" pitchFamily="34" charset="0"/>
                <a:ea typeface="Source Sans 3" pitchFamily="34" charset="-122"/>
                <a:cs typeface="Source Sans 3" pitchFamily="34" charset="-120"/>
              </a:rPr>
              <a:t>Two ways:</a:t>
            </a:r>
            <a:r>
              <a:rPr lang="en-US" sz="1400" dirty="0">
                <a:solidFill>
                  <a:srgbClr val="052A52"/>
                </a:solidFill>
                <a:latin typeface="Source Sans 3" pitchFamily="34" charset="0"/>
                <a:ea typeface="Source Sans 3" pitchFamily="34" charset="-122"/>
                <a:cs typeface="Source Sans 3" pitchFamily="34" charset="-120"/>
              </a:rPr>
              <a:t> Nira sends a request to each owner, or the owners answer together in a meeting, opening this module themselves.</a:t>
            </a:r>
            <a:endParaRPr lang="en-US" sz="1400" dirty="0"/>
          </a:p>
        </p:txBody>
      </p:sp>
      <p:sp>
        <p:nvSpPr>
          <p:cNvPr id="27" name="Text 25"/>
          <p:cNvSpPr/>
          <p:nvPr/>
        </p:nvSpPr>
        <p:spPr>
          <a:xfrm>
            <a:off x="8102600" y="2676823"/>
            <a:ext cx="337489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52A52"/>
                </a:solidFill>
                <a:latin typeface="Source Sans 3" pitchFamily="34" charset="0"/>
                <a:ea typeface="Source Sans 3" pitchFamily="34" charset="-122"/>
                <a:cs typeface="Source Sans 3" pitchFamily="34" charset="-120"/>
              </a:rPr>
              <a:t>The request names the KPI and asks the questions. It never contains client data.</a:t>
            </a:r>
            <a:endParaRPr lang="en-US" sz="1400" dirty="0"/>
          </a:p>
        </p:txBody>
      </p:sp>
      <p:sp>
        <p:nvSpPr>
          <p:cNvPr id="28" name="Text 26"/>
          <p:cNvSpPr/>
          <p:nvPr/>
        </p:nvSpPr>
        <p:spPr>
          <a:xfrm>
            <a:off x="8102600" y="3301504"/>
            <a:ext cx="337489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52A52"/>
                </a:solidFill>
                <a:latin typeface="Source Sans 3" pitchFamily="34" charset="0"/>
                <a:ea typeface="Source Sans 3" pitchFamily="34" charset="-122"/>
                <a:cs typeface="Source Sans 3" pitchFamily="34" charset="-120"/>
              </a:rPr>
              <a:t>Nira chases, and tells the organiser who is outstanding.</a:t>
            </a:r>
            <a:endParaRPr lang="en-US" sz="1400" dirty="0"/>
          </a:p>
        </p:txBody>
      </p:sp>
      <p:sp>
        <p:nvSpPr>
          <p:cNvPr id="29" name="Text 2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E"/>
                </a:solidFill>
                <a:latin typeface="Source Sans 3" pitchFamily="34" charset="0"/>
                <a:ea typeface="Source Sans 3" pitchFamily="34" charset="-122"/>
                <a:cs typeface="Source Sans 3" pitchFamily="34" charset="-120"/>
              </a:rPr>
              <a:t>Signal Harbor · Module 2 Baseline, design for discussion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4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052A52"/>
                </a:solidFill>
                <a:latin typeface="Fraunces" pitchFamily="18" charset="0"/>
                <a:ea typeface="Fraunces" pitchFamily="18" charset="-122"/>
                <a:cs typeface="Fraunces" pitchFamily="18" charset="-120"/>
              </a:rPr>
              <a:t>5 · Sense: how it works today</a:t>
            </a:r>
            <a:endParaRPr lang="en-US" sz="3200" dirty="0"/>
          </a:p>
        </p:txBody>
      </p:sp>
      <p:sp>
        <p:nvSpPr>
          <p:cNvPr id="3" name="Shape 1"/>
          <p:cNvSpPr/>
          <p:nvPr/>
        </p:nvSpPr>
        <p:spPr>
          <a:xfrm>
            <a:off x="815975" y="1466155"/>
            <a:ext cx="6978650" cy="3996333"/>
          </a:xfrm>
          <a:prstGeom prst="roundRect">
            <a:avLst>
              <a:gd name="adj" fmla="val 1827"/>
            </a:avLst>
          </a:prstGeom>
          <a:solidFill>
            <a:srgbClr val="FFFFFF"/>
          </a:solidFill>
          <a:ln w="6350">
            <a:solidFill>
              <a:srgbClr val="D5DBE1"/>
            </a:solidFill>
            <a:prstDash val="solid"/>
          </a:ln>
        </p:spPr>
      </p:sp>
      <p:sp>
        <p:nvSpPr>
          <p:cNvPr id="4" name="Text 2"/>
          <p:cNvSpPr/>
          <p:nvPr/>
        </p:nvSpPr>
        <p:spPr>
          <a:xfrm>
            <a:off x="819150" y="1469330"/>
            <a:ext cx="6972300" cy="416520"/>
          </a:xfrm>
          <a:custGeom>
            <a:avLst/>
            <a:gdLst/>
            <a:ahLst/>
            <a:cxnLst/>
            <a:rect l="l" t="t" r="r" b="b"/>
            <a:pathLst>
              <a:path w="6972300" h="416520">
                <a:moveTo>
                  <a:pt x="76200" y="0"/>
                </a:moveTo>
                <a:lnTo>
                  <a:pt x="6896100" y="0"/>
                </a:lnTo>
                <a:arcTo hR="76200" wR="76200" stAng="16200000" swAng="5400000"/>
                <a:lnTo>
                  <a:pt x="6972300" y="416520"/>
                </a:lnTo>
                <a:lnTo>
                  <a:pt x="0" y="416520"/>
                </a:lnTo>
                <a:lnTo>
                  <a:pt x="0" y="76200"/>
                </a:lnTo>
                <a:arcTo hR="76200" wR="76200" stAng="10800000" swAng="5400000"/>
                <a:close/>
              </a:path>
            </a:pathLst>
          </a:custGeom>
          <a:solidFill>
            <a:srgbClr val="052A52"/>
          </a:solidFill>
          <a:ln/>
        </p:spPr>
        <p:txBody>
          <a:bodyPr wrap="square" lIns="152400" tIns="101600" rIns="0" bIns="76200" rtlCol="0" anchor="t">
            <a:normAutofit/>
          </a:bodyPr>
          <a:lstStyle/>
          <a:p>
            <a:pPr algn="l" indent="0" marL="0">
              <a:lnSpc>
                <a:spcPts val="1680"/>
              </a:lnSpc>
              <a:buNone/>
            </a:pPr>
            <a:r>
              <a:rPr lang="en-US" sz="1200" b="1" dirty="0">
                <a:solidFill>
                  <a:srgbClr val="F2F4F6"/>
                </a:solidFill>
                <a:latin typeface="Source Sans 3" pitchFamily="34" charset="0"/>
                <a:ea typeface="Source Sans 3" pitchFamily="34" charset="-122"/>
                <a:cs typeface="Source Sans 3" pitchFamily="34" charset="-120"/>
              </a:rPr>
              <a:t>Funding capacity</a:t>
            </a:r>
            <a:r>
              <a:rPr lang="en-US" sz="1200" dirty="0">
                <a:solidFill>
                  <a:srgbClr val="F2F4F6"/>
                </a:solidFill>
                <a:latin typeface="Source Sans 3" pitchFamily="34" charset="0"/>
                <a:ea typeface="Source Sans 3" pitchFamily="34" charset="-122"/>
                <a:cs typeface="Source Sans 3" pitchFamily="34" charset="-120"/>
              </a:rPr>
              <a:t> · questions for Tom, business owner</a:t>
            </a:r>
            <a:endParaRPr lang="en-US" sz="1200" dirty="0"/>
          </a:p>
        </p:txBody>
      </p:sp>
      <p:sp>
        <p:nvSpPr>
          <p:cNvPr id="5" name="Shape 3"/>
          <p:cNvSpPr/>
          <p:nvPr/>
        </p:nvSpPr>
        <p:spPr>
          <a:xfrm>
            <a:off x="974725" y="2041426"/>
            <a:ext cx="6661150" cy="346670"/>
          </a:xfrm>
          <a:prstGeom prst="roundRect">
            <a:avLst>
              <a:gd name="adj" fmla="val 13738"/>
            </a:avLst>
          </a:prstGeom>
          <a:noFill/>
          <a:ln w="6350">
            <a:solidFill>
              <a:srgbClr val="D5DBE1"/>
            </a:solidFill>
            <a:prstDash val="solid"/>
          </a:ln>
        </p:spPr>
      </p:sp>
      <p:sp>
        <p:nvSpPr>
          <p:cNvPr id="6" name="Text 4"/>
          <p:cNvSpPr/>
          <p:nvPr/>
        </p:nvSpPr>
        <p:spPr>
          <a:xfrm>
            <a:off x="1079500" y="2108101"/>
            <a:ext cx="23545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52A52"/>
                </a:solidFill>
                <a:latin typeface="Source Sans 3" pitchFamily="34" charset="0"/>
                <a:ea typeface="Source Sans 3" pitchFamily="34" charset="-122"/>
                <a:cs typeface="Source Sans 3" pitchFamily="34" charset="-120"/>
              </a:rPr>
              <a:t>Tracked today?</a:t>
            </a:r>
            <a:endParaRPr lang="en-US" sz="1200" dirty="0"/>
          </a:p>
        </p:txBody>
      </p:sp>
      <p:sp>
        <p:nvSpPr>
          <p:cNvPr id="7" name="Text 5"/>
          <p:cNvSpPr/>
          <p:nvPr/>
        </p:nvSpPr>
        <p:spPr>
          <a:xfrm>
            <a:off x="3467100" y="2108101"/>
            <a:ext cx="4185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E"/>
                </a:solidFill>
                <a:latin typeface="Source Sans 3" pitchFamily="34" charset="0"/>
                <a:ea typeface="Source Sans 3" pitchFamily="34" charset="-122"/>
                <a:cs typeface="Source Sans 3" pitchFamily="34" charset="-120"/>
              </a:rPr>
              <a:t>Partly: monthly, by hand</a:t>
            </a:r>
            <a:endParaRPr lang="en-US" sz="1200" dirty="0"/>
          </a:p>
        </p:txBody>
      </p:sp>
      <p:sp>
        <p:nvSpPr>
          <p:cNvPr id="8" name="Shape 6"/>
          <p:cNvSpPr/>
          <p:nvPr/>
        </p:nvSpPr>
        <p:spPr>
          <a:xfrm>
            <a:off x="974725" y="2457946"/>
            <a:ext cx="6661150" cy="346670"/>
          </a:xfrm>
          <a:prstGeom prst="roundRect">
            <a:avLst>
              <a:gd name="adj" fmla="val 13738"/>
            </a:avLst>
          </a:prstGeom>
          <a:noFill/>
          <a:ln w="6350">
            <a:solidFill>
              <a:srgbClr val="D5DBE1"/>
            </a:solidFill>
            <a:prstDash val="solid"/>
          </a:ln>
        </p:spPr>
      </p:sp>
      <p:sp>
        <p:nvSpPr>
          <p:cNvPr id="9" name="Text 7"/>
          <p:cNvSpPr/>
          <p:nvPr/>
        </p:nvSpPr>
        <p:spPr>
          <a:xfrm>
            <a:off x="1079500" y="2524621"/>
            <a:ext cx="23545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52A52"/>
                </a:solidFill>
                <a:latin typeface="Source Sans 3" pitchFamily="34" charset="0"/>
                <a:ea typeface="Source Sans 3" pitchFamily="34" charset="-122"/>
                <a:cs typeface="Source Sans 3" pitchFamily="34" charset="-120"/>
              </a:rPr>
              <a:t>Could we track it?</a:t>
            </a:r>
            <a:endParaRPr lang="en-US" sz="1200" dirty="0"/>
          </a:p>
        </p:txBody>
      </p:sp>
      <p:sp>
        <p:nvSpPr>
          <p:cNvPr id="10" name="Text 8"/>
          <p:cNvSpPr/>
          <p:nvPr/>
        </p:nvSpPr>
        <p:spPr>
          <a:xfrm>
            <a:off x="3467100" y="2524621"/>
            <a:ext cx="4185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E"/>
                </a:solidFill>
                <a:latin typeface="Source Sans 3" pitchFamily="34" charset="0"/>
                <a:ea typeface="Source Sans 3" pitchFamily="34" charset="-122"/>
                <a:cs typeface="Source Sans 3" pitchFamily="34" charset="-120"/>
              </a:rPr>
              <a:t>Yes, if the bank file is available</a:t>
            </a:r>
            <a:endParaRPr lang="en-US" sz="1200" dirty="0"/>
          </a:p>
        </p:txBody>
      </p:sp>
      <p:sp>
        <p:nvSpPr>
          <p:cNvPr id="11" name="Shape 9"/>
          <p:cNvSpPr/>
          <p:nvPr/>
        </p:nvSpPr>
        <p:spPr>
          <a:xfrm>
            <a:off x="974725" y="2874466"/>
            <a:ext cx="6661150" cy="346670"/>
          </a:xfrm>
          <a:prstGeom prst="roundRect">
            <a:avLst>
              <a:gd name="adj" fmla="val 13738"/>
            </a:avLst>
          </a:prstGeom>
          <a:noFill/>
          <a:ln w="6350">
            <a:solidFill>
              <a:srgbClr val="D5DBE1"/>
            </a:solidFill>
            <a:prstDash val="solid"/>
          </a:ln>
        </p:spPr>
      </p:sp>
      <p:sp>
        <p:nvSpPr>
          <p:cNvPr id="12" name="Text 10"/>
          <p:cNvSpPr/>
          <p:nvPr/>
        </p:nvSpPr>
        <p:spPr>
          <a:xfrm>
            <a:off x="1079500" y="2941141"/>
            <a:ext cx="23545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52A52"/>
                </a:solidFill>
                <a:latin typeface="Source Sans 3" pitchFamily="34" charset="0"/>
                <a:ea typeface="Source Sans 3" pitchFamily="34" charset="-122"/>
                <a:cs typeface="Source Sans 3" pitchFamily="34" charset="-120"/>
              </a:rPr>
              <a:t>Where does it come from?</a:t>
            </a:r>
            <a:endParaRPr lang="en-US" sz="1200" dirty="0"/>
          </a:p>
        </p:txBody>
      </p:sp>
      <p:sp>
        <p:nvSpPr>
          <p:cNvPr id="13" name="Text 11"/>
          <p:cNvSpPr/>
          <p:nvPr/>
        </p:nvSpPr>
        <p:spPr>
          <a:xfrm>
            <a:off x="3467100" y="2941141"/>
            <a:ext cx="4185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E"/>
                </a:solidFill>
                <a:latin typeface="Source Sans 3" pitchFamily="34" charset="0"/>
                <a:ea typeface="Source Sans 3" pitchFamily="34" charset="-122"/>
                <a:cs typeface="Source Sans 3" pitchFamily="34" charset="-120"/>
              </a:rPr>
              <a:t>Bank statement, call notices by email</a:t>
            </a:r>
            <a:endParaRPr lang="en-US" sz="1200" dirty="0"/>
          </a:p>
        </p:txBody>
      </p:sp>
      <p:sp>
        <p:nvSpPr>
          <p:cNvPr id="14" name="Shape 12"/>
          <p:cNvSpPr/>
          <p:nvPr/>
        </p:nvSpPr>
        <p:spPr>
          <a:xfrm>
            <a:off x="974725" y="3290987"/>
            <a:ext cx="6661150" cy="346670"/>
          </a:xfrm>
          <a:prstGeom prst="roundRect">
            <a:avLst>
              <a:gd name="adj" fmla="val 13738"/>
            </a:avLst>
          </a:prstGeom>
          <a:noFill/>
          <a:ln w="6350">
            <a:solidFill>
              <a:srgbClr val="D5DBE1"/>
            </a:solidFill>
            <a:prstDash val="solid"/>
          </a:ln>
        </p:spPr>
      </p:sp>
      <p:sp>
        <p:nvSpPr>
          <p:cNvPr id="15" name="Text 13"/>
          <p:cNvSpPr/>
          <p:nvPr/>
        </p:nvSpPr>
        <p:spPr>
          <a:xfrm>
            <a:off x="1079500" y="3357662"/>
            <a:ext cx="23545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52A52"/>
                </a:solidFill>
                <a:latin typeface="Source Sans 3" pitchFamily="34" charset="0"/>
                <a:ea typeface="Source Sans 3" pitchFamily="34" charset="-122"/>
                <a:cs typeface="Source Sans 3" pitchFamily="34" charset="-120"/>
              </a:rPr>
              <a:t>Type of data</a:t>
            </a:r>
            <a:endParaRPr lang="en-US" sz="1200" dirty="0"/>
          </a:p>
        </p:txBody>
      </p:sp>
      <p:sp>
        <p:nvSpPr>
          <p:cNvPr id="16" name="Text 14"/>
          <p:cNvSpPr/>
          <p:nvPr/>
        </p:nvSpPr>
        <p:spPr>
          <a:xfrm>
            <a:off x="3467100" y="3357662"/>
            <a:ext cx="4185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E"/>
                </a:solidFill>
                <a:latin typeface="Source Sans 3" pitchFamily="34" charset="0"/>
                <a:ea typeface="Source Sans 3" pitchFamily="34" charset="-122"/>
                <a:cs typeface="Source Sans 3" pitchFamily="34" charset="-120"/>
              </a:rPr>
              <a:t>Structured (statement) and unstructured (notices)</a:t>
            </a:r>
            <a:endParaRPr lang="en-US" sz="1200" dirty="0"/>
          </a:p>
        </p:txBody>
      </p:sp>
      <p:sp>
        <p:nvSpPr>
          <p:cNvPr id="17" name="Shape 15"/>
          <p:cNvSpPr/>
          <p:nvPr/>
        </p:nvSpPr>
        <p:spPr>
          <a:xfrm>
            <a:off x="974725" y="3707507"/>
            <a:ext cx="6661150" cy="346670"/>
          </a:xfrm>
          <a:prstGeom prst="roundRect">
            <a:avLst>
              <a:gd name="adj" fmla="val 13738"/>
            </a:avLst>
          </a:prstGeom>
          <a:noFill/>
          <a:ln w="6350">
            <a:solidFill>
              <a:srgbClr val="D5DBE1"/>
            </a:solidFill>
            <a:prstDash val="solid"/>
          </a:ln>
        </p:spPr>
      </p:sp>
      <p:sp>
        <p:nvSpPr>
          <p:cNvPr id="18" name="Text 16"/>
          <p:cNvSpPr/>
          <p:nvPr/>
        </p:nvSpPr>
        <p:spPr>
          <a:xfrm>
            <a:off x="1079500" y="3774182"/>
            <a:ext cx="23545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52A52"/>
                </a:solidFill>
                <a:latin typeface="Source Sans 3" pitchFamily="34" charset="0"/>
                <a:ea typeface="Source Sans 3" pitchFamily="34" charset="-122"/>
                <a:cs typeface="Source Sans 3" pitchFamily="34" charset="-120"/>
              </a:rPr>
              <a:t>When it arrives, and the SLA</a:t>
            </a:r>
            <a:endParaRPr lang="en-US" sz="1200" dirty="0"/>
          </a:p>
        </p:txBody>
      </p:sp>
      <p:sp>
        <p:nvSpPr>
          <p:cNvPr id="19" name="Text 17"/>
          <p:cNvSpPr/>
          <p:nvPr/>
        </p:nvSpPr>
        <p:spPr>
          <a:xfrm>
            <a:off x="3467100" y="3774182"/>
            <a:ext cx="4185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E"/>
                </a:solidFill>
                <a:latin typeface="Source Sans 3" pitchFamily="34" charset="0"/>
                <a:ea typeface="Source Sans 3" pitchFamily="34" charset="-122"/>
                <a:cs typeface="Source Sans 3" pitchFamily="34" charset="-120"/>
              </a:rPr>
              <a:t>Statement daily by noon · notices: no fixed time</a:t>
            </a:r>
            <a:endParaRPr lang="en-US" sz="1200" dirty="0"/>
          </a:p>
        </p:txBody>
      </p:sp>
      <p:sp>
        <p:nvSpPr>
          <p:cNvPr id="20" name="Shape 18"/>
          <p:cNvSpPr/>
          <p:nvPr/>
        </p:nvSpPr>
        <p:spPr>
          <a:xfrm>
            <a:off x="974725" y="4124027"/>
            <a:ext cx="6661150" cy="346670"/>
          </a:xfrm>
          <a:prstGeom prst="roundRect">
            <a:avLst>
              <a:gd name="adj" fmla="val 13738"/>
            </a:avLst>
          </a:prstGeom>
          <a:noFill/>
          <a:ln w="6350">
            <a:solidFill>
              <a:srgbClr val="D5DBE1"/>
            </a:solidFill>
            <a:prstDash val="solid"/>
          </a:ln>
        </p:spPr>
      </p:sp>
      <p:sp>
        <p:nvSpPr>
          <p:cNvPr id="21" name="Text 19"/>
          <p:cNvSpPr/>
          <p:nvPr/>
        </p:nvSpPr>
        <p:spPr>
          <a:xfrm>
            <a:off x="1079500" y="4190702"/>
            <a:ext cx="23545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52A52"/>
                </a:solidFill>
                <a:latin typeface="Source Sans 3" pitchFamily="34" charset="0"/>
                <a:ea typeface="Source Sans 3" pitchFamily="34" charset="-122"/>
                <a:cs typeface="Source Sans 3" pitchFamily="34" charset="-120"/>
              </a:rPr>
              <a:t>Dependencies</a:t>
            </a:r>
            <a:endParaRPr lang="en-US" sz="1200" dirty="0"/>
          </a:p>
        </p:txBody>
      </p:sp>
      <p:sp>
        <p:nvSpPr>
          <p:cNvPr id="22" name="Text 20"/>
          <p:cNvSpPr/>
          <p:nvPr/>
        </p:nvSpPr>
        <p:spPr>
          <a:xfrm>
            <a:off x="3467100" y="4190702"/>
            <a:ext cx="4185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E"/>
                </a:solidFill>
                <a:latin typeface="Source Sans 3" pitchFamily="34" charset="0"/>
                <a:ea typeface="Source Sans 3" pitchFamily="34" charset="-122"/>
                <a:cs typeface="Source Sans 3" pitchFamily="34" charset="-120"/>
              </a:rPr>
              <a:t>Needs the call schedule from the manager</a:t>
            </a:r>
            <a:endParaRPr lang="en-US" sz="1200" dirty="0"/>
          </a:p>
        </p:txBody>
      </p:sp>
      <p:sp>
        <p:nvSpPr>
          <p:cNvPr id="23" name="Shape 21"/>
          <p:cNvSpPr/>
          <p:nvPr/>
        </p:nvSpPr>
        <p:spPr>
          <a:xfrm>
            <a:off x="974725" y="4540548"/>
            <a:ext cx="6661150" cy="346670"/>
          </a:xfrm>
          <a:prstGeom prst="roundRect">
            <a:avLst>
              <a:gd name="adj" fmla="val 13738"/>
            </a:avLst>
          </a:prstGeom>
          <a:noFill/>
          <a:ln w="6350">
            <a:solidFill>
              <a:srgbClr val="0E9AA7"/>
            </a:solidFill>
            <a:prstDash val="dash"/>
          </a:ln>
        </p:spPr>
      </p:sp>
      <p:sp>
        <p:nvSpPr>
          <p:cNvPr id="24" name="Text 22"/>
          <p:cNvSpPr/>
          <p:nvPr/>
        </p:nvSpPr>
        <p:spPr>
          <a:xfrm>
            <a:off x="1079500" y="4607223"/>
            <a:ext cx="23545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52A52"/>
                </a:solidFill>
                <a:latin typeface="Source Sans 3" pitchFamily="34" charset="0"/>
                <a:ea typeface="Source Sans 3" pitchFamily="34" charset="-122"/>
                <a:cs typeface="Source Sans 3" pitchFamily="34" charset="-120"/>
              </a:rPr>
              <a:t>Sample file</a:t>
            </a:r>
            <a:endParaRPr lang="en-US" sz="1200" dirty="0"/>
          </a:p>
        </p:txBody>
      </p:sp>
      <p:sp>
        <p:nvSpPr>
          <p:cNvPr id="25" name="Text 23"/>
          <p:cNvSpPr/>
          <p:nvPr/>
        </p:nvSpPr>
        <p:spPr>
          <a:xfrm>
            <a:off x="3467100" y="4607223"/>
            <a:ext cx="41859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A6F78"/>
                </a:solidFill>
                <a:latin typeface="Source Sans 3" pitchFamily="34" charset="0"/>
                <a:ea typeface="Source Sans 3" pitchFamily="34" charset="-122"/>
                <a:cs typeface="Source Sans 3" pitchFamily="34" charset="-120"/>
              </a:rPr>
              <a:t>+ Add a sample · stays on your machine</a:t>
            </a:r>
            <a:endParaRPr lang="en-US" sz="1200" dirty="0"/>
          </a:p>
        </p:txBody>
      </p:sp>
      <p:sp>
        <p:nvSpPr>
          <p:cNvPr id="26" name="Text 24"/>
          <p:cNvSpPr/>
          <p:nvPr/>
        </p:nvSpPr>
        <p:spPr>
          <a:xfrm>
            <a:off x="819150" y="5042793"/>
            <a:ext cx="6972300" cy="416520"/>
          </a:xfrm>
          <a:custGeom>
            <a:avLst/>
            <a:gdLst/>
            <a:ahLst/>
            <a:cxnLst/>
            <a:rect l="l" t="t" r="r" b="b"/>
            <a:pathLst>
              <a:path w="6972300" h="416520">
                <a:moveTo>
                  <a:pt x="0" y="0"/>
                </a:moveTo>
                <a:lnTo>
                  <a:pt x="6972300" y="0"/>
                </a:lnTo>
                <a:lnTo>
                  <a:pt x="6972300" y="340320"/>
                </a:lnTo>
                <a:arcTo hR="76200" wR="76200" stAng="0" swAng="5400000"/>
                <a:lnTo>
                  <a:pt x="76200" y="416520"/>
                </a:lnTo>
                <a:arcTo hR="76200" wR="76200" stAng="5400000" swAng="5400000"/>
                <a:lnTo>
                  <a:pt x="0" y="0"/>
                </a:lnTo>
                <a:close/>
              </a:path>
            </a:pathLst>
          </a:custGeom>
          <a:solidFill>
            <a:srgbClr val="DDF1F2"/>
          </a:solidFill>
          <a:ln/>
        </p:spPr>
        <p:txBody>
          <a:bodyPr wrap="square" lIns="152400" tIns="101600" rIns="0" bIns="76200" rtlCol="0" anchor="t">
            <a:normAutofit/>
          </a:bodyPr>
          <a:lstStyle/>
          <a:p>
            <a:pPr algn="l" indent="0" marL="0">
              <a:lnSpc>
                <a:spcPts val="1680"/>
              </a:lnSpc>
              <a:buNone/>
            </a:pPr>
            <a:r>
              <a:rPr lang="en-US" sz="1200" b="1" dirty="0">
                <a:solidFill>
                  <a:srgbClr val="052A52"/>
                </a:solidFill>
                <a:latin typeface="Source Sans 3" pitchFamily="34" charset="0"/>
                <a:ea typeface="Source Sans 3" pitchFamily="34" charset="-122"/>
                <a:cs typeface="Source Sans 3" pitchFamily="34" charset="-120"/>
              </a:rPr>
              <a:t>Lens:</a:t>
            </a:r>
            <a:r>
              <a:rPr lang="en-US" sz="1200" dirty="0">
                <a:solidFill>
                  <a:srgbClr val="052A52"/>
                </a:solidFill>
                <a:latin typeface="Source Sans 3" pitchFamily="34" charset="0"/>
                <a:ea typeface="Source Sans 3" pitchFamily="34" charset="-122"/>
                <a:cs typeface="Source Sans 3" pitchFamily="34" charset="-120"/>
              </a:rPr>
              <a:t> not sure about any of these? Tell me in your own words and I will write it up.</a:t>
            </a:r>
            <a:endParaRPr lang="en-US" sz="1200" dirty="0"/>
          </a:p>
        </p:txBody>
      </p:sp>
      <p:sp>
        <p:nvSpPr>
          <p:cNvPr id="27" name="Text 25"/>
          <p:cNvSpPr/>
          <p:nvPr/>
        </p:nvSpPr>
        <p:spPr>
          <a:xfrm>
            <a:off x="8102600" y="1462980"/>
            <a:ext cx="337489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521F"/>
                </a:solidFill>
                <a:latin typeface="Source Sans 3" pitchFamily="34" charset="0"/>
                <a:ea typeface="Source Sans 3" pitchFamily="34" charset="-122"/>
                <a:cs typeface="Source Sans 3" pitchFamily="34" charset="-120"/>
              </a:rPr>
              <a:t>DESIGN MOCK-UP</a:t>
            </a:r>
            <a:endParaRPr lang="en-US" sz="1200" dirty="0"/>
          </a:p>
        </p:txBody>
      </p:sp>
      <p:sp>
        <p:nvSpPr>
          <p:cNvPr id="28" name="Text 26"/>
          <p:cNvSpPr/>
          <p:nvPr/>
        </p:nvSpPr>
        <p:spPr>
          <a:xfrm>
            <a:off x="8102600" y="1803301"/>
            <a:ext cx="3374898"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52A52"/>
                </a:solidFill>
                <a:latin typeface="Source Sans 3" pitchFamily="34" charset="0"/>
                <a:ea typeface="Source Sans 3" pitchFamily="34" charset="-122"/>
                <a:cs typeface="Source Sans 3" pitchFamily="34" charset="-120"/>
              </a:rPr>
              <a:t>Your sensing list: is it tracked, can we track it, source, structured or unstructured, SLA, when it arrives, dependencies, a sample.</a:t>
            </a:r>
            <a:endParaRPr lang="en-US" sz="1400" dirty="0"/>
          </a:p>
        </p:txBody>
      </p:sp>
      <p:sp>
        <p:nvSpPr>
          <p:cNvPr id="29" name="Text 27"/>
          <p:cNvSpPr/>
          <p:nvPr/>
        </p:nvSpPr>
        <p:spPr>
          <a:xfrm>
            <a:off x="8102600" y="2676823"/>
            <a:ext cx="337489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52A52"/>
                </a:solidFill>
                <a:latin typeface="Source Sans 3" pitchFamily="34" charset="0"/>
                <a:ea typeface="Source Sans 3" pitchFamily="34" charset="-122"/>
                <a:cs typeface="Source Sans 3" pitchFamily="34" charset="-120"/>
              </a:rPr>
              <a:t>Answer by form, or by talking to Lens.</a:t>
            </a:r>
            <a:endParaRPr lang="en-US" sz="1400" dirty="0"/>
          </a:p>
        </p:txBody>
      </p:sp>
      <p:sp>
        <p:nvSpPr>
          <p:cNvPr id="30" name="Text 28"/>
          <p:cNvSpPr/>
          <p:nvPr/>
        </p:nvSpPr>
        <p:spPr>
          <a:xfrm>
            <a:off x="8102600" y="3052663"/>
            <a:ext cx="337489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52A52"/>
                </a:solidFill>
                <a:latin typeface="Source Sans 3" pitchFamily="34" charset="0"/>
                <a:ea typeface="Source Sans 3" pitchFamily="34" charset="-122"/>
                <a:cs typeface="Source Sans 3" pitchFamily="34" charset="-120"/>
              </a:rPr>
              <a:t>Every answer is marked stated, guessed or unknown.</a:t>
            </a:r>
            <a:endParaRPr lang="en-US" sz="1400" dirty="0"/>
          </a:p>
        </p:txBody>
      </p:sp>
      <p:sp>
        <p:nvSpPr>
          <p:cNvPr id="31" name="Text 2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E"/>
                </a:solidFill>
                <a:latin typeface="Source Sans 3" pitchFamily="34" charset="0"/>
                <a:ea typeface="Source Sans 3" pitchFamily="34" charset="-122"/>
                <a:cs typeface="Source Sans 3" pitchFamily="34" charset="-120"/>
              </a:rPr>
              <a:t>Signal Harbor · Module 2 Baseline, design for discussion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4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052A52"/>
                </a:solidFill>
                <a:latin typeface="Fraunces" pitchFamily="18" charset="0"/>
                <a:ea typeface="Fraunces" pitchFamily="18" charset="-122"/>
                <a:cs typeface="Fraunces" pitchFamily="18" charset="-120"/>
              </a:rPr>
              <a:t>6 · Trace: upstream to downstream</a:t>
            </a:r>
            <a:endParaRPr lang="en-US" sz="3200" dirty="0"/>
          </a:p>
        </p:txBody>
      </p:sp>
      <p:sp>
        <p:nvSpPr>
          <p:cNvPr id="3" name="Shape 1"/>
          <p:cNvSpPr/>
          <p:nvPr/>
        </p:nvSpPr>
        <p:spPr>
          <a:xfrm>
            <a:off x="815975" y="1466155"/>
            <a:ext cx="6978650" cy="2378373"/>
          </a:xfrm>
          <a:prstGeom prst="roundRect">
            <a:avLst>
              <a:gd name="adj" fmla="val 3070"/>
            </a:avLst>
          </a:prstGeom>
          <a:solidFill>
            <a:srgbClr val="FFFFFF"/>
          </a:solidFill>
          <a:ln w="6350">
            <a:solidFill>
              <a:srgbClr val="D5DBE1"/>
            </a:solidFill>
            <a:prstDash val="solid"/>
          </a:ln>
        </p:spPr>
      </p:sp>
      <p:sp>
        <p:nvSpPr>
          <p:cNvPr id="4" name="Text 2"/>
          <p:cNvSpPr/>
          <p:nvPr/>
        </p:nvSpPr>
        <p:spPr>
          <a:xfrm>
            <a:off x="819150" y="1469330"/>
            <a:ext cx="6972300" cy="416520"/>
          </a:xfrm>
          <a:custGeom>
            <a:avLst/>
            <a:gdLst/>
            <a:ahLst/>
            <a:cxnLst/>
            <a:rect l="l" t="t" r="r" b="b"/>
            <a:pathLst>
              <a:path w="6972300" h="416520">
                <a:moveTo>
                  <a:pt x="76200" y="0"/>
                </a:moveTo>
                <a:lnTo>
                  <a:pt x="6896100" y="0"/>
                </a:lnTo>
                <a:arcTo hR="76200" wR="76200" stAng="16200000" swAng="5400000"/>
                <a:lnTo>
                  <a:pt x="6972300" y="416520"/>
                </a:lnTo>
                <a:lnTo>
                  <a:pt x="0" y="416520"/>
                </a:lnTo>
                <a:lnTo>
                  <a:pt x="0" y="76200"/>
                </a:lnTo>
                <a:arcTo hR="76200" wR="76200" stAng="10800000" swAng="5400000"/>
                <a:close/>
              </a:path>
            </a:pathLst>
          </a:custGeom>
          <a:solidFill>
            <a:srgbClr val="052A52"/>
          </a:solidFill>
          <a:ln/>
        </p:spPr>
        <p:txBody>
          <a:bodyPr wrap="square" lIns="152400" tIns="101600" rIns="0" bIns="76200" rtlCol="0" anchor="t">
            <a:normAutofit/>
          </a:bodyPr>
          <a:lstStyle/>
          <a:p>
            <a:pPr algn="l" indent="0" marL="0">
              <a:lnSpc>
                <a:spcPts val="1680"/>
              </a:lnSpc>
              <a:buNone/>
            </a:pPr>
            <a:r>
              <a:rPr lang="en-US" sz="1200" b="1" dirty="0">
                <a:solidFill>
                  <a:srgbClr val="F2F4F6"/>
                </a:solidFill>
                <a:latin typeface="Source Sans 3" pitchFamily="34" charset="0"/>
                <a:ea typeface="Source Sans 3" pitchFamily="34" charset="-122"/>
                <a:cs typeface="Source Sans 3" pitchFamily="34" charset="-120"/>
              </a:rPr>
              <a:t>Trace</a:t>
            </a:r>
            <a:r>
              <a:rPr lang="en-US" sz="1200" dirty="0">
                <a:solidFill>
                  <a:srgbClr val="F2F4F6"/>
                </a:solidFill>
                <a:latin typeface="Source Sans 3" pitchFamily="34" charset="0"/>
                <a:ea typeface="Source Sans 3" pitchFamily="34" charset="-122"/>
                <a:cs typeface="Source Sans 3" pitchFamily="34" charset="-120"/>
              </a:rPr>
              <a:t> · Funding capacity · who touches the data</a:t>
            </a:r>
            <a:endParaRPr lang="en-US" sz="1200" dirty="0"/>
          </a:p>
        </p:txBody>
      </p:sp>
      <p:sp>
        <p:nvSpPr>
          <p:cNvPr id="5" name="Shape 3"/>
          <p:cNvSpPr/>
          <p:nvPr/>
        </p:nvSpPr>
        <p:spPr>
          <a:xfrm>
            <a:off x="952500" y="2070001"/>
            <a:ext cx="1438275" cy="838002"/>
          </a:xfrm>
          <a:prstGeom prst="roundRect">
            <a:avLst>
              <a:gd name="adj" fmla="val 6820"/>
            </a:avLst>
          </a:prstGeom>
          <a:noFill/>
          <a:ln w="12700">
            <a:solidFill>
              <a:srgbClr val="0E9AA7"/>
            </a:solidFill>
            <a:prstDash val="solid"/>
          </a:ln>
        </p:spPr>
      </p:sp>
      <p:sp>
        <p:nvSpPr>
          <p:cNvPr id="6" name="Text 4"/>
          <p:cNvSpPr/>
          <p:nvPr/>
        </p:nvSpPr>
        <p:spPr>
          <a:xfrm>
            <a:off x="1047750" y="2165251"/>
            <a:ext cx="12985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6F78"/>
                </a:solidFill>
                <a:latin typeface="Source Sans 3" pitchFamily="34" charset="0"/>
                <a:ea typeface="Source Sans 3" pitchFamily="34" charset="-122"/>
                <a:cs typeface="Source Sans 3" pitchFamily="34" charset="-120"/>
              </a:rPr>
              <a:t>UPSTREAM</a:t>
            </a:r>
            <a:endParaRPr lang="en-US" sz="1200" dirty="0"/>
          </a:p>
        </p:txBody>
      </p:sp>
      <p:sp>
        <p:nvSpPr>
          <p:cNvPr id="7" name="Text 5"/>
          <p:cNvSpPr/>
          <p:nvPr/>
        </p:nvSpPr>
        <p:spPr>
          <a:xfrm>
            <a:off x="1047750" y="2416671"/>
            <a:ext cx="1298575"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052A52"/>
                </a:solidFill>
                <a:latin typeface="Source Sans 3" pitchFamily="34" charset="0"/>
                <a:ea typeface="Source Sans 3" pitchFamily="34" charset="-122"/>
                <a:cs typeface="Source Sans 3" pitchFamily="34" charset="-120"/>
              </a:rPr>
              <a:t>Bank</a:t>
            </a:r>
            <a:endParaRPr lang="en-US" sz="1200" dirty="0"/>
          </a:p>
          <a:p>
            <a:pPr algn="l" indent="0" marL="0">
              <a:lnSpc>
                <a:spcPts val="1560"/>
              </a:lnSpc>
              <a:buNone/>
            </a:pPr>
            <a:r>
              <a:rPr lang="en-US" sz="1200" dirty="0">
                <a:solidFill>
                  <a:srgbClr val="052A52"/>
                </a:solidFill>
                <a:latin typeface="Source Sans 3" pitchFamily="34" charset="0"/>
                <a:ea typeface="Source Sans 3" pitchFamily="34" charset="-122"/>
                <a:cs typeface="Source Sans 3" pitchFamily="34" charset="-120"/>
              </a:rPr>
              <a:t>Arjun asks them</a:t>
            </a:r>
            <a:endParaRPr lang="en-US" sz="1200" dirty="0"/>
          </a:p>
        </p:txBody>
      </p:sp>
      <p:pic>
        <p:nvPicPr>
          <p:cNvPr id="8" name="Image 0" descr="arrow-right">    </p:cNvPr>
          <p:cNvPicPr>
            <a:picLocks noChangeAspect="1"/>
          </p:cNvPicPr>
          <p:nvPr/>
        </p:nvPicPr>
        <p:blipFill>
          <a:blip r:embed="rId1"/>
          <a:srcRect l="0" r="0" t="0" b="0"/>
          <a:stretch/>
        </p:blipFill>
        <p:spPr>
          <a:xfrm>
            <a:off x="2460625" y="2406452"/>
            <a:ext cx="177800" cy="165100"/>
          </a:xfrm>
          <a:prstGeom prst="rect">
            <a:avLst/>
          </a:prstGeom>
        </p:spPr>
      </p:pic>
      <p:sp>
        <p:nvSpPr>
          <p:cNvPr id="9" name="Shape 6"/>
          <p:cNvSpPr/>
          <p:nvPr/>
        </p:nvSpPr>
        <p:spPr>
          <a:xfrm>
            <a:off x="2708275" y="2070001"/>
            <a:ext cx="1438275" cy="838002"/>
          </a:xfrm>
          <a:prstGeom prst="roundRect">
            <a:avLst>
              <a:gd name="adj" fmla="val 6820"/>
            </a:avLst>
          </a:prstGeom>
          <a:noFill/>
          <a:ln w="12700">
            <a:solidFill>
              <a:srgbClr val="B4642A"/>
            </a:solidFill>
            <a:prstDash val="solid"/>
          </a:ln>
        </p:spPr>
      </p:sp>
      <p:sp>
        <p:nvSpPr>
          <p:cNvPr id="10" name="Text 7"/>
          <p:cNvSpPr/>
          <p:nvPr/>
        </p:nvSpPr>
        <p:spPr>
          <a:xfrm>
            <a:off x="2803525" y="2165251"/>
            <a:ext cx="12985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521F"/>
                </a:solidFill>
                <a:latin typeface="Source Sans 3" pitchFamily="34" charset="0"/>
                <a:ea typeface="Source Sans 3" pitchFamily="34" charset="-122"/>
                <a:cs typeface="Source Sans 3" pitchFamily="34" charset="-120"/>
              </a:rPr>
              <a:t>IN BETWEEN</a:t>
            </a:r>
            <a:endParaRPr lang="en-US" sz="1200" dirty="0"/>
          </a:p>
        </p:txBody>
      </p:sp>
      <p:sp>
        <p:nvSpPr>
          <p:cNvPr id="11" name="Text 8"/>
          <p:cNvSpPr/>
          <p:nvPr/>
        </p:nvSpPr>
        <p:spPr>
          <a:xfrm>
            <a:off x="2803525" y="2416671"/>
            <a:ext cx="1298575"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052A52"/>
                </a:solidFill>
                <a:latin typeface="Source Sans 3" pitchFamily="34" charset="0"/>
                <a:ea typeface="Source Sans 3" pitchFamily="34" charset="-122"/>
                <a:cs typeface="Source Sans 3" pitchFamily="34" charset="-120"/>
              </a:rPr>
              <a:t>Workbook</a:t>
            </a:r>
            <a:endParaRPr lang="en-US" sz="1200" dirty="0"/>
          </a:p>
          <a:p>
            <a:pPr algn="l" indent="0" marL="0">
              <a:lnSpc>
                <a:spcPts val="1560"/>
              </a:lnSpc>
              <a:buNone/>
            </a:pPr>
            <a:r>
              <a:rPr lang="en-US" sz="1200" dirty="0">
                <a:solidFill>
                  <a:srgbClr val="052A52"/>
                </a:solidFill>
                <a:latin typeface="Source Sans 3" pitchFamily="34" charset="0"/>
                <a:ea typeface="Source Sans 3" pitchFamily="34" charset="-122"/>
                <a:cs typeface="Source Sans 3" pitchFamily="34" charset="-120"/>
              </a:rPr>
              <a:t>Sara adjusts it</a:t>
            </a:r>
            <a:endParaRPr lang="en-US" sz="1200" dirty="0"/>
          </a:p>
        </p:txBody>
      </p:sp>
      <p:pic>
        <p:nvPicPr>
          <p:cNvPr id="12" name="Image 1" descr="arrow-right">    </p:cNvPr>
          <p:cNvPicPr>
            <a:picLocks noChangeAspect="1"/>
          </p:cNvPicPr>
          <p:nvPr/>
        </p:nvPicPr>
        <p:blipFill>
          <a:blip r:embed="rId2"/>
          <a:srcRect l="0" r="0" t="0" b="0"/>
          <a:stretch/>
        </p:blipFill>
        <p:spPr>
          <a:xfrm>
            <a:off x="4216400" y="2406452"/>
            <a:ext cx="177800" cy="165100"/>
          </a:xfrm>
          <a:prstGeom prst="rect">
            <a:avLst/>
          </a:prstGeom>
        </p:spPr>
      </p:pic>
      <p:sp>
        <p:nvSpPr>
          <p:cNvPr id="13" name="Shape 9"/>
          <p:cNvSpPr/>
          <p:nvPr/>
        </p:nvSpPr>
        <p:spPr>
          <a:xfrm>
            <a:off x="4464050" y="2070001"/>
            <a:ext cx="1438275" cy="838002"/>
          </a:xfrm>
          <a:prstGeom prst="roundRect">
            <a:avLst>
              <a:gd name="adj" fmla="val 6820"/>
            </a:avLst>
          </a:prstGeom>
          <a:noFill/>
          <a:ln w="12700">
            <a:solidFill>
              <a:srgbClr val="B4642A"/>
            </a:solidFill>
            <a:prstDash val="solid"/>
          </a:ln>
        </p:spPr>
      </p:sp>
      <p:sp>
        <p:nvSpPr>
          <p:cNvPr id="14" name="Text 10"/>
          <p:cNvSpPr/>
          <p:nvPr/>
        </p:nvSpPr>
        <p:spPr>
          <a:xfrm>
            <a:off x="4559300" y="2165251"/>
            <a:ext cx="12985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521F"/>
                </a:solidFill>
                <a:latin typeface="Source Sans 3" pitchFamily="34" charset="0"/>
                <a:ea typeface="Source Sans 3" pitchFamily="34" charset="-122"/>
                <a:cs typeface="Source Sans 3" pitchFamily="34" charset="-120"/>
              </a:rPr>
              <a:t>IN BETWEEN</a:t>
            </a:r>
            <a:endParaRPr lang="en-US" sz="1200" dirty="0"/>
          </a:p>
        </p:txBody>
      </p:sp>
      <p:sp>
        <p:nvSpPr>
          <p:cNvPr id="15" name="Text 11"/>
          <p:cNvSpPr/>
          <p:nvPr/>
        </p:nvSpPr>
        <p:spPr>
          <a:xfrm>
            <a:off x="4559300" y="2416671"/>
            <a:ext cx="1298575"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052A52"/>
                </a:solidFill>
                <a:latin typeface="Source Sans 3" pitchFamily="34" charset="0"/>
                <a:ea typeface="Source Sans 3" pitchFamily="34" charset="-122"/>
                <a:cs typeface="Source Sans 3" pitchFamily="34" charset="-120"/>
              </a:rPr>
              <a:t>Monthly pack</a:t>
            </a:r>
            <a:endParaRPr lang="en-US" sz="1200" dirty="0"/>
          </a:p>
          <a:p>
            <a:pPr algn="l" indent="0" marL="0">
              <a:lnSpc>
                <a:spcPts val="1560"/>
              </a:lnSpc>
              <a:buNone/>
            </a:pPr>
            <a:r>
              <a:rPr lang="en-US" sz="1200" dirty="0">
                <a:solidFill>
                  <a:srgbClr val="052A52"/>
                </a:solidFill>
                <a:latin typeface="Source Sans 3" pitchFamily="34" charset="0"/>
                <a:ea typeface="Source Sans 3" pitchFamily="34" charset="-122"/>
                <a:cs typeface="Source Sans 3" pitchFamily="34" charset="-120"/>
              </a:rPr>
              <a:t>Tom checks it</a:t>
            </a:r>
            <a:endParaRPr lang="en-US" sz="1200" dirty="0"/>
          </a:p>
        </p:txBody>
      </p:sp>
      <p:pic>
        <p:nvPicPr>
          <p:cNvPr id="16" name="Image 2" descr="arrow-right">    </p:cNvPr>
          <p:cNvPicPr>
            <a:picLocks noChangeAspect="1"/>
          </p:cNvPicPr>
          <p:nvPr/>
        </p:nvPicPr>
        <p:blipFill>
          <a:blip r:embed="rId3"/>
          <a:srcRect l="0" r="0" t="0" b="0"/>
          <a:stretch/>
        </p:blipFill>
        <p:spPr>
          <a:xfrm>
            <a:off x="5972175" y="2406452"/>
            <a:ext cx="177800" cy="165100"/>
          </a:xfrm>
          <a:prstGeom prst="rect">
            <a:avLst/>
          </a:prstGeom>
        </p:spPr>
      </p:pic>
      <p:sp>
        <p:nvSpPr>
          <p:cNvPr id="17" name="Shape 12"/>
          <p:cNvSpPr/>
          <p:nvPr/>
        </p:nvSpPr>
        <p:spPr>
          <a:xfrm>
            <a:off x="6219825" y="2070001"/>
            <a:ext cx="1438275" cy="838002"/>
          </a:xfrm>
          <a:prstGeom prst="roundRect">
            <a:avLst>
              <a:gd name="adj" fmla="val 6820"/>
            </a:avLst>
          </a:prstGeom>
          <a:noFill/>
          <a:ln w="12700">
            <a:solidFill>
              <a:srgbClr val="0E9AA7"/>
            </a:solidFill>
            <a:prstDash val="solid"/>
          </a:ln>
        </p:spPr>
      </p:sp>
      <p:sp>
        <p:nvSpPr>
          <p:cNvPr id="18" name="Text 13"/>
          <p:cNvSpPr/>
          <p:nvPr/>
        </p:nvSpPr>
        <p:spPr>
          <a:xfrm>
            <a:off x="6315075" y="2165251"/>
            <a:ext cx="12985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6F78"/>
                </a:solidFill>
                <a:latin typeface="Source Sans 3" pitchFamily="34" charset="0"/>
                <a:ea typeface="Source Sans 3" pitchFamily="34" charset="-122"/>
                <a:cs typeface="Source Sans 3" pitchFamily="34" charset="-120"/>
              </a:rPr>
              <a:t>DOWNSTREAM</a:t>
            </a:r>
            <a:endParaRPr lang="en-US" sz="1200" dirty="0"/>
          </a:p>
        </p:txBody>
      </p:sp>
      <p:sp>
        <p:nvSpPr>
          <p:cNvPr id="19" name="Text 14"/>
          <p:cNvSpPr/>
          <p:nvPr/>
        </p:nvSpPr>
        <p:spPr>
          <a:xfrm>
            <a:off x="6315075" y="2416671"/>
            <a:ext cx="1298575"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052A52"/>
                </a:solidFill>
                <a:latin typeface="Source Sans 3" pitchFamily="34" charset="0"/>
                <a:ea typeface="Source Sans 3" pitchFamily="34" charset="-122"/>
                <a:cs typeface="Source Sans 3" pitchFamily="34" charset="-120"/>
              </a:rPr>
              <a:t>Committee</a:t>
            </a:r>
            <a:endParaRPr lang="en-US" sz="1200" dirty="0"/>
          </a:p>
          <a:p>
            <a:pPr algn="l" indent="0" marL="0">
              <a:lnSpc>
                <a:spcPts val="1560"/>
              </a:lnSpc>
              <a:buNone/>
            </a:pPr>
            <a:r>
              <a:rPr lang="en-US" sz="1200" dirty="0">
                <a:solidFill>
                  <a:srgbClr val="052A52"/>
                </a:solidFill>
                <a:latin typeface="Source Sans 3" pitchFamily="34" charset="0"/>
                <a:ea typeface="Source Sans 3" pitchFamily="34" charset="-122"/>
                <a:cs typeface="Source Sans 3" pitchFamily="34" charset="-120"/>
              </a:rPr>
              <a:t>consumes it</a:t>
            </a:r>
            <a:endParaRPr lang="en-US" sz="1200" dirty="0"/>
          </a:p>
        </p:txBody>
      </p:sp>
      <p:sp>
        <p:nvSpPr>
          <p:cNvPr id="20" name="Text 15"/>
          <p:cNvSpPr/>
          <p:nvPr/>
        </p:nvSpPr>
        <p:spPr>
          <a:xfrm>
            <a:off x="971550" y="3092152"/>
            <a:ext cx="6867525" cy="2310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52A52"/>
                </a:solidFill>
                <a:latin typeface="Source Sans 3" pitchFamily="34" charset="0"/>
                <a:ea typeface="Source Sans 3" pitchFamily="34" charset="-122"/>
                <a:cs typeface="Source Sans 3" pitchFamily="34" charset="-120"/>
              </a:rPr>
              <a:t>Reshaped by hand:</a:t>
            </a:r>
            <a:r>
              <a:rPr lang="en-US" sz="1200" dirty="0">
                <a:solidFill>
                  <a:srgbClr val="052A52"/>
                </a:solidFill>
                <a:latin typeface="Source Sans 3" pitchFamily="34" charset="0"/>
                <a:ea typeface="Source Sans 3" pitchFamily="34" charset="-122"/>
                <a:cs typeface="Source Sans 3" pitchFamily="34" charset="-120"/>
              </a:rPr>
              <a:t> yes, in the workbook. </a:t>
            </a:r>
            <a:r>
              <a:rPr lang="en-US" sz="1200" b="1" dirty="0">
                <a:solidFill>
                  <a:srgbClr val="052A52"/>
                </a:solidFill>
                <a:latin typeface="Source Sans 3" pitchFamily="34" charset="0"/>
                <a:ea typeface="Source Sans 3" pitchFamily="34" charset="-122"/>
                <a:cs typeface="Source Sans 3" pitchFamily="34" charset="-120"/>
              </a:rPr>
              <a:t>Who else uses the workbook?</a:t>
            </a:r>
            <a:r>
              <a:rPr lang="en-US" sz="1200" dirty="0">
                <a:solidFill>
                  <a:srgbClr val="052A52"/>
                </a:solidFill>
                <a:latin typeface="Source Sans 3" pitchFamily="34" charset="0"/>
                <a:ea typeface="Source Sans 3" pitchFamily="34" charset="-122"/>
                <a:cs typeface="Source Sans 3" pitchFamily="34" charset="-120"/>
              </a:rPr>
              <a:t> </a:t>
            </a:r>
            <a:r>
              <a:rPr lang="en-US" sz="1200" dirty="0">
                <a:solidFill>
                  <a:srgbClr val="9A521F"/>
                </a:solidFill>
                <a:latin typeface="Source Sans 3" pitchFamily="34" charset="0"/>
                <a:ea typeface="Source Sans 3" pitchFamily="34" charset="-122"/>
                <a:cs typeface="Source Sans 3" pitchFamily="34" charset="-120"/>
              </a:rPr>
              <a:t>unknown</a:t>
            </a:r>
            <a:endParaRPr lang="en-US" sz="1200" dirty="0"/>
          </a:p>
        </p:txBody>
      </p:sp>
      <p:sp>
        <p:nvSpPr>
          <p:cNvPr id="21" name="Text 16"/>
          <p:cNvSpPr/>
          <p:nvPr/>
        </p:nvSpPr>
        <p:spPr>
          <a:xfrm>
            <a:off x="819150" y="3424833"/>
            <a:ext cx="6972300" cy="416520"/>
          </a:xfrm>
          <a:custGeom>
            <a:avLst/>
            <a:gdLst/>
            <a:ahLst/>
            <a:cxnLst/>
            <a:rect l="l" t="t" r="r" b="b"/>
            <a:pathLst>
              <a:path w="6972300" h="416520">
                <a:moveTo>
                  <a:pt x="0" y="0"/>
                </a:moveTo>
                <a:lnTo>
                  <a:pt x="6972300" y="0"/>
                </a:lnTo>
                <a:lnTo>
                  <a:pt x="6972300" y="340320"/>
                </a:lnTo>
                <a:arcTo hR="76200" wR="76200" stAng="0" swAng="5400000"/>
                <a:lnTo>
                  <a:pt x="76200" y="416520"/>
                </a:lnTo>
                <a:arcTo hR="76200" wR="76200" stAng="5400000" swAng="5400000"/>
                <a:lnTo>
                  <a:pt x="0" y="0"/>
                </a:lnTo>
                <a:close/>
              </a:path>
            </a:pathLst>
          </a:custGeom>
          <a:solidFill>
            <a:srgbClr val="DDF1F2"/>
          </a:solidFill>
          <a:ln/>
        </p:spPr>
        <p:txBody>
          <a:bodyPr wrap="square" lIns="152400" tIns="101600" rIns="0" bIns="76200" rtlCol="0" anchor="t">
            <a:normAutofit/>
          </a:bodyPr>
          <a:lstStyle/>
          <a:p>
            <a:pPr algn="l" indent="0" marL="0">
              <a:lnSpc>
                <a:spcPts val="1680"/>
              </a:lnSpc>
              <a:buNone/>
            </a:pPr>
            <a:r>
              <a:rPr lang="en-US" sz="1200" b="1" dirty="0">
                <a:solidFill>
                  <a:srgbClr val="052A52"/>
                </a:solidFill>
                <a:latin typeface="Source Sans 3" pitchFamily="34" charset="0"/>
                <a:ea typeface="Source Sans 3" pitchFamily="34" charset="-122"/>
                <a:cs typeface="Source Sans 3" pitchFamily="34" charset="-120"/>
              </a:rPr>
              <a:t>Lens:</a:t>
            </a:r>
            <a:r>
              <a:rPr lang="en-US" sz="1200" dirty="0">
                <a:solidFill>
                  <a:srgbClr val="052A52"/>
                </a:solidFill>
                <a:latin typeface="Source Sans 3" pitchFamily="34" charset="0"/>
                <a:ea typeface="Source Sans 3" pitchFamily="34" charset="-122"/>
                <a:cs typeface="Source Sans 3" pitchFamily="34" charset="-120"/>
              </a:rPr>
              <a:t> the workbook is where figures are adjusted. Who asks Sara for it, and who else receives it?</a:t>
            </a:r>
            <a:endParaRPr lang="en-US" sz="1200" dirty="0"/>
          </a:p>
        </p:txBody>
      </p:sp>
      <p:sp>
        <p:nvSpPr>
          <p:cNvPr id="22" name="Text 17"/>
          <p:cNvSpPr/>
          <p:nvPr/>
        </p:nvSpPr>
        <p:spPr>
          <a:xfrm>
            <a:off x="8102600" y="1462980"/>
            <a:ext cx="337489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521F"/>
                </a:solidFill>
                <a:latin typeface="Source Sans 3" pitchFamily="34" charset="0"/>
                <a:ea typeface="Source Sans 3" pitchFamily="34" charset="-122"/>
                <a:cs typeface="Source Sans 3" pitchFamily="34" charset="-120"/>
              </a:rPr>
              <a:t>DESIGN MOCK-UP</a:t>
            </a:r>
            <a:endParaRPr lang="en-US" sz="1200" dirty="0"/>
          </a:p>
        </p:txBody>
      </p:sp>
      <p:sp>
        <p:nvSpPr>
          <p:cNvPr id="23" name="Text 18"/>
          <p:cNvSpPr/>
          <p:nvPr/>
        </p:nvSpPr>
        <p:spPr>
          <a:xfrm>
            <a:off x="8102600" y="1803301"/>
            <a:ext cx="3374898"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52A52"/>
                </a:solidFill>
                <a:latin typeface="Source Sans 3" pitchFamily="34" charset="0"/>
                <a:ea typeface="Source Sans 3" pitchFamily="34" charset="-122"/>
                <a:cs typeface="Source Sans 3" pitchFamily="34" charset="-120"/>
              </a:rPr>
              <a:t>Upstream:</a:t>
            </a:r>
            <a:r>
              <a:rPr lang="en-US" sz="1400" dirty="0">
                <a:solidFill>
                  <a:srgbClr val="052A52"/>
                </a:solidFill>
                <a:latin typeface="Source Sans 3" pitchFamily="34" charset="0"/>
                <a:ea typeface="Source Sans 3" pitchFamily="34" charset="-122"/>
                <a:cs typeface="Source Sans 3" pitchFamily="34" charset="-120"/>
              </a:rPr>
              <a:t> who they ask for it, and who they work with to get it.</a:t>
            </a:r>
            <a:endParaRPr lang="en-US" sz="1400" dirty="0"/>
          </a:p>
        </p:txBody>
      </p:sp>
      <p:sp>
        <p:nvSpPr>
          <p:cNvPr id="24" name="Text 19"/>
          <p:cNvSpPr/>
          <p:nvPr/>
        </p:nvSpPr>
        <p:spPr>
          <a:xfrm>
            <a:off x="8102600" y="2427982"/>
            <a:ext cx="3374898"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52A52"/>
                </a:solidFill>
                <a:latin typeface="Source Sans 3" pitchFamily="34" charset="0"/>
                <a:ea typeface="Source Sans 3" pitchFamily="34" charset="-122"/>
                <a:cs typeface="Source Sans 3" pitchFamily="34" charset="-120"/>
              </a:rPr>
              <a:t>In between:</a:t>
            </a:r>
            <a:r>
              <a:rPr lang="en-US" sz="1400" dirty="0">
                <a:solidFill>
                  <a:srgbClr val="052A52"/>
                </a:solidFill>
                <a:latin typeface="Source Sans 3" pitchFamily="34" charset="0"/>
                <a:ea typeface="Source Sans 3" pitchFamily="34" charset="-122"/>
                <a:cs typeface="Source Sans 3" pitchFamily="34" charset="-120"/>
              </a:rPr>
              <a:t> who processes it, and where it is massaged, such as a workbook.</a:t>
            </a:r>
            <a:endParaRPr lang="en-US" sz="1400" dirty="0"/>
          </a:p>
        </p:txBody>
      </p:sp>
      <p:sp>
        <p:nvSpPr>
          <p:cNvPr id="25" name="Text 20"/>
          <p:cNvSpPr/>
          <p:nvPr/>
        </p:nvSpPr>
        <p:spPr>
          <a:xfrm>
            <a:off x="8102600" y="3052663"/>
            <a:ext cx="3374898"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52A52"/>
                </a:solidFill>
                <a:latin typeface="Source Sans 3" pitchFamily="34" charset="0"/>
                <a:ea typeface="Source Sans 3" pitchFamily="34" charset="-122"/>
                <a:cs typeface="Source Sans 3" pitchFamily="34" charset="-120"/>
              </a:rPr>
              <a:t>Downstream:</a:t>
            </a:r>
            <a:r>
              <a:rPr lang="en-US" sz="1400" dirty="0">
                <a:solidFill>
                  <a:srgbClr val="052A52"/>
                </a:solidFill>
                <a:latin typeface="Source Sans 3" pitchFamily="34" charset="0"/>
                <a:ea typeface="Source Sans 3" pitchFamily="34" charset="-122"/>
                <a:cs typeface="Source Sans 3" pitchFamily="34" charset="-120"/>
              </a:rPr>
              <a:t> who asks for the result, and who consumes it.</a:t>
            </a:r>
            <a:endParaRPr lang="en-US" sz="1400" dirty="0"/>
          </a:p>
        </p:txBody>
      </p:sp>
      <p:sp>
        <p:nvSpPr>
          <p:cNvPr id="26" name="Text 2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E"/>
                </a:solidFill>
                <a:latin typeface="Source Sans 3" pitchFamily="34" charset="0"/>
                <a:ea typeface="Source Sans 3" pitchFamily="34" charset="-122"/>
                <a:cs typeface="Source Sans 3" pitchFamily="34" charset="-120"/>
              </a:rPr>
              <a:t>Signal Harbor · Module 2 Baseline, design for discussion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4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052A52"/>
                </a:solidFill>
                <a:latin typeface="Fraunces" pitchFamily="18" charset="0"/>
                <a:ea typeface="Fraunces" pitchFamily="18" charset="-122"/>
                <a:cs typeface="Fraunces" pitchFamily="18" charset="-120"/>
              </a:rPr>
              <a:t>7 · The process map, drawn by the agents</a:t>
            </a:r>
            <a:endParaRPr lang="en-US" sz="3200" dirty="0"/>
          </a:p>
        </p:txBody>
      </p:sp>
      <p:sp>
        <p:nvSpPr>
          <p:cNvPr id="3" name="Shape 1"/>
          <p:cNvSpPr/>
          <p:nvPr/>
        </p:nvSpPr>
        <p:spPr>
          <a:xfrm>
            <a:off x="815975" y="1466155"/>
            <a:ext cx="6978650" cy="2746772"/>
          </a:xfrm>
          <a:prstGeom prst="roundRect">
            <a:avLst>
              <a:gd name="adj" fmla="val 2659"/>
            </a:avLst>
          </a:prstGeom>
          <a:solidFill>
            <a:srgbClr val="FFFFFF"/>
          </a:solidFill>
          <a:ln w="6350">
            <a:solidFill>
              <a:srgbClr val="D5DBE1"/>
            </a:solidFill>
            <a:prstDash val="solid"/>
          </a:ln>
        </p:spPr>
      </p:sp>
      <p:sp>
        <p:nvSpPr>
          <p:cNvPr id="4" name="Text 2"/>
          <p:cNvSpPr/>
          <p:nvPr/>
        </p:nvSpPr>
        <p:spPr>
          <a:xfrm>
            <a:off x="819150" y="1469330"/>
            <a:ext cx="6972300" cy="416520"/>
          </a:xfrm>
          <a:custGeom>
            <a:avLst/>
            <a:gdLst/>
            <a:ahLst/>
            <a:cxnLst/>
            <a:rect l="l" t="t" r="r" b="b"/>
            <a:pathLst>
              <a:path w="6972300" h="416520">
                <a:moveTo>
                  <a:pt x="76200" y="0"/>
                </a:moveTo>
                <a:lnTo>
                  <a:pt x="6896100" y="0"/>
                </a:lnTo>
                <a:arcTo hR="76200" wR="76200" stAng="16200000" swAng="5400000"/>
                <a:lnTo>
                  <a:pt x="6972300" y="416520"/>
                </a:lnTo>
                <a:lnTo>
                  <a:pt x="0" y="416520"/>
                </a:lnTo>
                <a:lnTo>
                  <a:pt x="0" y="76200"/>
                </a:lnTo>
                <a:arcTo hR="76200" wR="76200" stAng="10800000" swAng="5400000"/>
                <a:close/>
              </a:path>
            </a:pathLst>
          </a:custGeom>
          <a:solidFill>
            <a:srgbClr val="052A52"/>
          </a:solidFill>
          <a:ln/>
        </p:spPr>
        <p:txBody>
          <a:bodyPr wrap="square" lIns="152400" tIns="101600" rIns="0" bIns="76200" rtlCol="0" anchor="t">
            <a:normAutofit/>
          </a:bodyPr>
          <a:lstStyle/>
          <a:p>
            <a:pPr algn="l" indent="0" marL="0">
              <a:lnSpc>
                <a:spcPts val="1680"/>
              </a:lnSpc>
              <a:buNone/>
            </a:pPr>
            <a:r>
              <a:rPr lang="en-US" sz="1200" b="1" dirty="0">
                <a:solidFill>
                  <a:srgbClr val="F2F4F6"/>
                </a:solidFill>
                <a:latin typeface="Source Sans 3" pitchFamily="34" charset="0"/>
                <a:ea typeface="Source Sans 3" pitchFamily="34" charset="-122"/>
                <a:cs typeface="Source Sans 3" pitchFamily="34" charset="-120"/>
              </a:rPr>
              <a:t>Process map</a:t>
            </a:r>
            <a:r>
              <a:rPr lang="en-US" sz="1200" dirty="0">
                <a:solidFill>
                  <a:srgbClr val="F2F4F6"/>
                </a:solidFill>
                <a:latin typeface="Source Sans 3" pitchFamily="34" charset="0"/>
                <a:ea typeface="Source Sans 3" pitchFamily="34" charset="-122"/>
                <a:cs typeface="Source Sans 3" pitchFamily="34" charset="-120"/>
              </a:rPr>
              <a:t> · Funding capacity · drawn from the answers</a:t>
            </a:r>
            <a:endParaRPr lang="en-US" sz="1200" dirty="0"/>
          </a:p>
        </p:txBody>
      </p:sp>
      <p:sp>
        <p:nvSpPr>
          <p:cNvPr id="5" name="Text 3"/>
          <p:cNvSpPr/>
          <p:nvPr/>
        </p:nvSpPr>
        <p:spPr>
          <a:xfrm>
            <a:off x="971550" y="2108101"/>
            <a:ext cx="1003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B6E"/>
                </a:solidFill>
                <a:latin typeface="Source Sans 3" pitchFamily="34" charset="0"/>
                <a:ea typeface="Source Sans 3" pitchFamily="34" charset="-122"/>
                <a:cs typeface="Source Sans 3" pitchFamily="34" charset="-120"/>
              </a:rPr>
              <a:t>Bank</a:t>
            </a:r>
            <a:endParaRPr lang="en-US" sz="1200" dirty="0"/>
          </a:p>
        </p:txBody>
      </p:sp>
      <p:sp>
        <p:nvSpPr>
          <p:cNvPr id="6" name="Text 4"/>
          <p:cNvSpPr/>
          <p:nvPr/>
        </p:nvSpPr>
        <p:spPr>
          <a:xfrm>
            <a:off x="2003425" y="2041426"/>
            <a:ext cx="1652984" cy="346670"/>
          </a:xfrm>
          <a:prstGeom prst="roundRect">
            <a:avLst>
              <a:gd name="adj" fmla="val 13738"/>
            </a:avLst>
          </a:prstGeom>
          <a:noFill/>
          <a:ln w="6350">
            <a:solidFill>
              <a:srgbClr val="D5DBE1"/>
            </a:solidFill>
            <a:prstDash val="solid"/>
          </a:ln>
        </p:spPr>
        <p:txBody>
          <a:bodyPr wrap="none" lIns="0" tIns="0" rIns="0" bIns="0" rtlCol="0" anchor="ctr">
            <a:normAutofit/>
          </a:bodyPr>
          <a:lstStyle/>
          <a:p>
            <a:pPr algn="ctr"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Sends statement, daily</a:t>
            </a:r>
            <a:endParaRPr lang="en-US" sz="1200" dirty="0"/>
          </a:p>
        </p:txBody>
      </p:sp>
      <p:sp>
        <p:nvSpPr>
          <p:cNvPr id="7" name="Text 5"/>
          <p:cNvSpPr/>
          <p:nvPr/>
        </p:nvSpPr>
        <p:spPr>
          <a:xfrm>
            <a:off x="971550" y="2524621"/>
            <a:ext cx="1003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B6E"/>
                </a:solidFill>
                <a:latin typeface="Source Sans 3" pitchFamily="34" charset="0"/>
                <a:ea typeface="Source Sans 3" pitchFamily="34" charset="-122"/>
                <a:cs typeface="Source Sans 3" pitchFamily="34" charset="-120"/>
              </a:rPr>
              <a:t>Finance</a:t>
            </a:r>
            <a:endParaRPr lang="en-US" sz="1200" dirty="0"/>
          </a:p>
        </p:txBody>
      </p:sp>
      <p:sp>
        <p:nvSpPr>
          <p:cNvPr id="8" name="Text 6"/>
          <p:cNvSpPr/>
          <p:nvPr/>
        </p:nvSpPr>
        <p:spPr>
          <a:xfrm>
            <a:off x="2003425" y="2457946"/>
            <a:ext cx="1149945" cy="346670"/>
          </a:xfrm>
          <a:prstGeom prst="roundRect">
            <a:avLst>
              <a:gd name="adj" fmla="val 13738"/>
            </a:avLst>
          </a:prstGeom>
          <a:noFill/>
          <a:ln w="6350">
            <a:solidFill>
              <a:srgbClr val="D5DBE1"/>
            </a:solidFill>
            <a:prstDash val="solid"/>
          </a:ln>
        </p:spPr>
        <p:txBody>
          <a:bodyPr wrap="none" lIns="0" tIns="0" rIns="0" bIns="0" rtlCol="0" anchor="ctr">
            <a:normAutofit/>
          </a:bodyPr>
          <a:lstStyle/>
          <a:p>
            <a:pPr algn="ctr"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Downloads file</a:t>
            </a:r>
            <a:endParaRPr lang="en-US" sz="1200" dirty="0"/>
          </a:p>
        </p:txBody>
      </p:sp>
      <p:sp>
        <p:nvSpPr>
          <p:cNvPr id="9" name="Text 7"/>
          <p:cNvSpPr/>
          <p:nvPr/>
        </p:nvSpPr>
        <p:spPr>
          <a:xfrm>
            <a:off x="3235920" y="2457946"/>
            <a:ext cx="2082899" cy="346670"/>
          </a:xfrm>
          <a:prstGeom prst="roundRect">
            <a:avLst>
              <a:gd name="adj" fmla="val 13738"/>
            </a:avLst>
          </a:prstGeom>
          <a:solidFill>
            <a:srgbClr val="FBF4DC"/>
          </a:solidFill>
          <a:ln w="6350">
            <a:solidFill>
              <a:srgbClr val="D5DBE1"/>
            </a:solidFill>
            <a:prstDash val="solid"/>
          </a:ln>
        </p:spPr>
        <p:txBody>
          <a:bodyPr wrap="none" lIns="0" tIns="0" rIns="0" bIns="0" rtlCol="0" anchor="ctr">
            <a:normAutofit/>
          </a:bodyPr>
          <a:lstStyle/>
          <a:p>
            <a:pPr algn="ctr"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Adjusts in workbook · manual</a:t>
            </a:r>
            <a:endParaRPr lang="en-US" sz="1200" dirty="0"/>
          </a:p>
        </p:txBody>
      </p:sp>
      <p:sp>
        <p:nvSpPr>
          <p:cNvPr id="10" name="Text 8"/>
          <p:cNvSpPr/>
          <p:nvPr/>
        </p:nvSpPr>
        <p:spPr>
          <a:xfrm>
            <a:off x="971550" y="2941141"/>
            <a:ext cx="1003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B6E"/>
                </a:solidFill>
                <a:latin typeface="Source Sans 3" pitchFamily="34" charset="0"/>
                <a:ea typeface="Source Sans 3" pitchFamily="34" charset="-122"/>
                <a:cs typeface="Source Sans 3" pitchFamily="34" charset="-120"/>
              </a:rPr>
              <a:t>Investments</a:t>
            </a:r>
            <a:endParaRPr lang="en-US" sz="1200" dirty="0"/>
          </a:p>
        </p:txBody>
      </p:sp>
      <p:sp>
        <p:nvSpPr>
          <p:cNvPr id="11" name="Text 9"/>
          <p:cNvSpPr/>
          <p:nvPr/>
        </p:nvSpPr>
        <p:spPr>
          <a:xfrm>
            <a:off x="2003425" y="2874466"/>
            <a:ext cx="2058690" cy="346670"/>
          </a:xfrm>
          <a:prstGeom prst="roundRect">
            <a:avLst>
              <a:gd name="adj" fmla="val 13738"/>
            </a:avLst>
          </a:prstGeom>
          <a:noFill/>
          <a:ln w="6350">
            <a:solidFill>
              <a:srgbClr val="B4642A"/>
            </a:solidFill>
            <a:prstDash val="dash"/>
          </a:ln>
        </p:spPr>
        <p:txBody>
          <a:bodyPr wrap="none" lIns="0" tIns="0" rIns="0" bIns="0" rtlCol="0" anchor="ctr">
            <a:normAutofit/>
          </a:bodyPr>
          <a:lstStyle/>
          <a:p>
            <a:pPr algn="ctr"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Checks the figure · to confirm</a:t>
            </a:r>
            <a:endParaRPr lang="en-US" sz="1200" dirty="0"/>
          </a:p>
        </p:txBody>
      </p:sp>
      <p:sp>
        <p:nvSpPr>
          <p:cNvPr id="12" name="Text 10"/>
          <p:cNvSpPr/>
          <p:nvPr/>
        </p:nvSpPr>
        <p:spPr>
          <a:xfrm>
            <a:off x="971550" y="3357662"/>
            <a:ext cx="1003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B6E"/>
                </a:solidFill>
                <a:latin typeface="Source Sans 3" pitchFamily="34" charset="0"/>
                <a:ea typeface="Source Sans 3" pitchFamily="34" charset="-122"/>
                <a:cs typeface="Source Sans 3" pitchFamily="34" charset="-120"/>
              </a:rPr>
              <a:t>Committee</a:t>
            </a:r>
            <a:endParaRPr lang="en-US" sz="1200" dirty="0"/>
          </a:p>
        </p:txBody>
      </p:sp>
      <p:sp>
        <p:nvSpPr>
          <p:cNvPr id="13" name="Text 11"/>
          <p:cNvSpPr/>
          <p:nvPr/>
        </p:nvSpPr>
        <p:spPr>
          <a:xfrm>
            <a:off x="2003425" y="3290987"/>
            <a:ext cx="1735931" cy="346670"/>
          </a:xfrm>
          <a:prstGeom prst="roundRect">
            <a:avLst>
              <a:gd name="adj" fmla="val 13738"/>
            </a:avLst>
          </a:prstGeom>
          <a:noFill/>
          <a:ln w="6350">
            <a:solidFill>
              <a:srgbClr val="D5DBE1"/>
            </a:solidFill>
            <a:prstDash val="solid"/>
          </a:ln>
        </p:spPr>
        <p:txBody>
          <a:bodyPr wrap="none" lIns="0" tIns="0" rIns="0" bIns="0" rtlCol="0" anchor="ctr">
            <a:normAutofit/>
          </a:bodyPr>
          <a:lstStyle/>
          <a:p>
            <a:pPr algn="ctr"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Reads the monthly pack</a:t>
            </a:r>
            <a:endParaRPr lang="en-US" sz="1200" dirty="0"/>
          </a:p>
        </p:txBody>
      </p:sp>
      <p:sp>
        <p:nvSpPr>
          <p:cNvPr id="14" name="Text 12"/>
          <p:cNvSpPr/>
          <p:nvPr/>
        </p:nvSpPr>
        <p:spPr>
          <a:xfrm>
            <a:off x="819150" y="3793232"/>
            <a:ext cx="6972300" cy="416520"/>
          </a:xfrm>
          <a:custGeom>
            <a:avLst/>
            <a:gdLst/>
            <a:ahLst/>
            <a:cxnLst/>
            <a:rect l="l" t="t" r="r" b="b"/>
            <a:pathLst>
              <a:path w="6972300" h="416520">
                <a:moveTo>
                  <a:pt x="0" y="0"/>
                </a:moveTo>
                <a:lnTo>
                  <a:pt x="6972300" y="0"/>
                </a:lnTo>
                <a:lnTo>
                  <a:pt x="6972300" y="340320"/>
                </a:lnTo>
                <a:arcTo hR="76200" wR="76200" stAng="0" swAng="5400000"/>
                <a:lnTo>
                  <a:pt x="76200" y="416520"/>
                </a:lnTo>
                <a:arcTo hR="76200" wR="76200" stAng="5400000" swAng="5400000"/>
                <a:lnTo>
                  <a:pt x="0" y="0"/>
                </a:lnTo>
                <a:close/>
              </a:path>
            </a:pathLst>
          </a:custGeom>
          <a:solidFill>
            <a:srgbClr val="DDF1F2"/>
          </a:solidFill>
          <a:ln/>
        </p:spPr>
        <p:txBody>
          <a:bodyPr wrap="none" lIns="0" tIns="0" rIns="0" bIns="0" rtlCol="0" anchor="ctr">
            <a:normAutofit/>
          </a:bodyPr>
          <a:lstStyle/>
          <a:p>
            <a:pPr algn="ctr" indent="0" marL="0">
              <a:lnSpc>
                <a:spcPts val="1680"/>
              </a:lnSpc>
              <a:buNone/>
            </a:pPr>
            <a:r>
              <a:rPr lang="en-US" sz="1200" b="1" dirty="0">
                <a:solidFill>
                  <a:srgbClr val="052A52"/>
                </a:solidFill>
                <a:latin typeface="Source Sans 3" pitchFamily="34" charset="0"/>
                <a:ea typeface="Source Sans 3" pitchFamily="34" charset="-122"/>
                <a:cs typeface="Source Sans 3" pitchFamily="34" charset="-120"/>
              </a:rPr>
              <a:t>Lens:</a:t>
            </a:r>
            <a:r>
              <a:rPr lang="en-US" sz="1200" dirty="0">
                <a:solidFill>
                  <a:srgbClr val="052A52"/>
                </a:solidFill>
                <a:latin typeface="Source Sans 3" pitchFamily="34" charset="0"/>
                <a:ea typeface="Source Sans 3" pitchFamily="34" charset="-122"/>
                <a:cs typeface="Source Sans 3" pitchFamily="34" charset="-120"/>
              </a:rPr>
              <a:t> I drew this from four answers. One step is still to confirm and one is manual. Please check the order.</a:t>
            </a:r>
            <a:endParaRPr lang="en-US" sz="1200" dirty="0"/>
          </a:p>
        </p:txBody>
      </p:sp>
      <p:sp>
        <p:nvSpPr>
          <p:cNvPr id="15" name="Text 13"/>
          <p:cNvSpPr/>
          <p:nvPr/>
        </p:nvSpPr>
        <p:spPr>
          <a:xfrm>
            <a:off x="8102600" y="1462980"/>
            <a:ext cx="337489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521F"/>
                </a:solidFill>
                <a:latin typeface="Source Sans 3" pitchFamily="34" charset="0"/>
                <a:ea typeface="Source Sans 3" pitchFamily="34" charset="-122"/>
                <a:cs typeface="Source Sans 3" pitchFamily="34" charset="-120"/>
              </a:rPr>
              <a:t>DESIGN MOCK-UP</a:t>
            </a:r>
            <a:endParaRPr lang="en-US" sz="1200" dirty="0"/>
          </a:p>
        </p:txBody>
      </p:sp>
      <p:sp>
        <p:nvSpPr>
          <p:cNvPr id="16" name="Text 14"/>
          <p:cNvSpPr/>
          <p:nvPr/>
        </p:nvSpPr>
        <p:spPr>
          <a:xfrm>
            <a:off x="8102600" y="1803301"/>
            <a:ext cx="337489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52A52"/>
                </a:solidFill>
                <a:latin typeface="Source Sans 3" pitchFamily="34" charset="0"/>
                <a:ea typeface="Source Sans 3" pitchFamily="34" charset="-122"/>
                <a:cs typeface="Source Sans 3" pitchFamily="34" charset="-120"/>
              </a:rPr>
              <a:t>Lanes by team, steps in order, manual steps marked.</a:t>
            </a:r>
            <a:endParaRPr lang="en-US" sz="1400" dirty="0"/>
          </a:p>
        </p:txBody>
      </p:sp>
      <p:sp>
        <p:nvSpPr>
          <p:cNvPr id="17" name="Text 15"/>
          <p:cNvSpPr/>
          <p:nvPr/>
        </p:nvSpPr>
        <p:spPr>
          <a:xfrm>
            <a:off x="8102600" y="2427982"/>
            <a:ext cx="3374898"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52A52"/>
                </a:solidFill>
                <a:latin typeface="Source Sans 3" pitchFamily="34" charset="0"/>
                <a:ea typeface="Source Sans 3" pitchFamily="34" charset="-122"/>
                <a:cs typeface="Source Sans 3" pitchFamily="34" charset="-120"/>
              </a:rPr>
              <a:t>Drawn from what the owners said, never invented. A step nobody confirmed is dashed.</a:t>
            </a:r>
            <a:endParaRPr lang="en-US" sz="1400" dirty="0"/>
          </a:p>
        </p:txBody>
      </p:sp>
      <p:sp>
        <p:nvSpPr>
          <p:cNvPr id="18" name="Text 16"/>
          <p:cNvSpPr/>
          <p:nvPr/>
        </p:nvSpPr>
        <p:spPr>
          <a:xfrm>
            <a:off x="8102600" y="3301504"/>
            <a:ext cx="337489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52A52"/>
                </a:solidFill>
                <a:latin typeface="Source Sans 3" pitchFamily="34" charset="0"/>
                <a:ea typeface="Source Sans 3" pitchFamily="34" charset="-122"/>
                <a:cs typeface="Source Sans 3" pitchFamily="34" charset="-120"/>
              </a:rPr>
              <a:t>People validate, edit or remove each step.</a:t>
            </a:r>
            <a:endParaRPr lang="en-US" sz="1400" dirty="0"/>
          </a:p>
        </p:txBody>
      </p:sp>
      <p:sp>
        <p:nvSpPr>
          <p:cNvPr id="19" name="Text 1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E"/>
                </a:solidFill>
                <a:latin typeface="Source Sans 3" pitchFamily="34" charset="0"/>
                <a:ea typeface="Source Sans 3" pitchFamily="34" charset="-122"/>
                <a:cs typeface="Source Sans 3" pitchFamily="34" charset="-120"/>
              </a:rPr>
              <a:t>Signal Harbor · Module 2 Baseline, design for discussion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4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052A52"/>
                </a:solidFill>
                <a:latin typeface="Fraunces" pitchFamily="18" charset="0"/>
                <a:ea typeface="Fraunces" pitchFamily="18" charset="-122"/>
                <a:cs typeface="Fraunces" pitchFamily="18" charset="-120"/>
              </a:rPr>
              <a:t>The output: the data catalogue</a:t>
            </a:r>
            <a:endParaRPr lang="en-US" sz="3200" dirty="0"/>
          </a:p>
        </p:txBody>
      </p:sp>
      <p:sp>
        <p:nvSpPr>
          <p:cNvPr id="3" name="Shape 1"/>
          <p:cNvSpPr/>
          <p:nvPr/>
        </p:nvSpPr>
        <p:spPr>
          <a:xfrm>
            <a:off x="812800" y="1462980"/>
            <a:ext cx="10566400" cy="1861344"/>
          </a:xfrm>
          <a:prstGeom prst="rect">
            <a:avLst/>
          </a:prstGeom>
          <a:solidFill>
            <a:srgbClr val="FFFFFF"/>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475680"/>
          <a:ext cx="10553700" cy="1848644"/>
        </p:xfrm>
        <a:graphic>
          <a:graphicData uri="http://schemas.openxmlformats.org/drawingml/2006/table">
            <a:tbl>
              <a:tblPr/>
              <a:tblGrid>
                <a:gridCol w="1319213"/>
                <a:gridCol w="1319213"/>
                <a:gridCol w="1319213"/>
                <a:gridCol w="1319213"/>
                <a:gridCol w="1319213"/>
                <a:gridCol w="1319213"/>
                <a:gridCol w="1319213"/>
                <a:gridCol w="1319213"/>
              </a:tblGrid>
              <a:tr h="363141">
                <a:tc>
                  <a:txBody>
                    <a:bodyPr/>
                    <a:lstStyle/>
                    <a:p>
                      <a:pPr indent="0" marL="0">
                        <a:lnSpc>
                          <a:spcPts val="1680"/>
                        </a:lnSpc>
                        <a:buNone/>
                      </a:pPr>
                      <a:r>
                        <a:rPr lang="en-US" sz="1200" b="1" dirty="0">
                          <a:solidFill>
                            <a:srgbClr val="4A5B6E"/>
                          </a:solidFill>
                          <a:latin typeface="Source Sans 3" pitchFamily="34" charset="0"/>
                          <a:ea typeface="Source Sans 3" pitchFamily="34" charset="-122"/>
                          <a:cs typeface="Source Sans 3" pitchFamily="34" charset="-120"/>
                        </a:rPr>
                        <a:t>KPI</a:t>
                      </a:r>
                      <a:endParaRPr lang="en-US" sz="1200" dirty="0">
                        <a:latin typeface="Source Sans 3" charset="0"/>
                        <a:ea typeface="Source Sans 3" charset="0"/>
                        <a:cs typeface="Source Sans 3"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4A5B6E"/>
                          </a:solidFill>
                          <a:latin typeface="Source Sans 3" pitchFamily="34" charset="0"/>
                          <a:ea typeface="Source Sans 3" pitchFamily="34" charset="-122"/>
                          <a:cs typeface="Source Sans 3" pitchFamily="34" charset="-120"/>
                        </a:rPr>
                        <a:t>Source system</a:t>
                      </a:r>
                      <a:endParaRPr lang="en-US" sz="1200" dirty="0">
                        <a:latin typeface="Source Sans 3" charset="0"/>
                        <a:ea typeface="Source Sans 3" charset="0"/>
                        <a:cs typeface="Source Sans 3" charset="0"/>
                      </a:endParaRPr>
                    </a:p>
                  </a:txBody>
                  <a:tcPr marL="88900" marR="88900" marT="76200" marB="762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4A5B6E"/>
                          </a:solidFill>
                          <a:latin typeface="Source Sans 3" pitchFamily="34" charset="0"/>
                          <a:ea typeface="Source Sans 3" pitchFamily="34" charset="-122"/>
                          <a:cs typeface="Source Sans 3" pitchFamily="34" charset="-120"/>
                        </a:rPr>
                        <a:t>Table or file</a:t>
                      </a:r>
                      <a:endParaRPr lang="en-US" sz="1200" dirty="0">
                        <a:latin typeface="Source Sans 3" charset="0"/>
                        <a:ea typeface="Source Sans 3" charset="0"/>
                        <a:cs typeface="Source Sans 3" charset="0"/>
                      </a:endParaRPr>
                    </a:p>
                  </a:txBody>
                  <a:tcPr marL="88900" marR="88900" marT="76200" marB="762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4A5B6E"/>
                          </a:solidFill>
                          <a:latin typeface="Source Sans 3" pitchFamily="34" charset="0"/>
                          <a:ea typeface="Source Sans 3" pitchFamily="34" charset="-122"/>
                          <a:cs typeface="Source Sans 3" pitchFamily="34" charset="-120"/>
                        </a:rPr>
                        <a:t>Field</a:t>
                      </a:r>
                      <a:endParaRPr lang="en-US" sz="1200" dirty="0">
                        <a:latin typeface="Source Sans 3" charset="0"/>
                        <a:ea typeface="Source Sans 3" charset="0"/>
                        <a:cs typeface="Source Sans 3" charset="0"/>
                      </a:endParaRPr>
                    </a:p>
                  </a:txBody>
                  <a:tcPr marL="88900" marR="88900" marT="76200" marB="762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4A5B6E"/>
                          </a:solidFill>
                          <a:latin typeface="Source Sans 3" pitchFamily="34" charset="0"/>
                          <a:ea typeface="Source Sans 3" pitchFamily="34" charset="-122"/>
                          <a:cs typeface="Source Sans 3" pitchFamily="34" charset="-120"/>
                        </a:rPr>
                        <a:t>Arrives · SLA</a:t>
                      </a:r>
                      <a:endParaRPr lang="en-US" sz="1200" dirty="0">
                        <a:latin typeface="Source Sans 3" charset="0"/>
                        <a:ea typeface="Source Sans 3" charset="0"/>
                        <a:cs typeface="Source Sans 3" charset="0"/>
                      </a:endParaRPr>
                    </a:p>
                  </a:txBody>
                  <a:tcPr marL="88900" marR="88900" marT="76200" marB="762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4A5B6E"/>
                          </a:solidFill>
                          <a:latin typeface="Source Sans 3" pitchFamily="34" charset="0"/>
                          <a:ea typeface="Source Sans 3" pitchFamily="34" charset="-122"/>
                          <a:cs typeface="Source Sans 3" pitchFamily="34" charset="-120"/>
                        </a:rPr>
                        <a:t>Owner</a:t>
                      </a:r>
                      <a:endParaRPr lang="en-US" sz="1200" dirty="0">
                        <a:latin typeface="Source Sans 3" charset="0"/>
                        <a:ea typeface="Source Sans 3" charset="0"/>
                        <a:cs typeface="Source Sans 3" charset="0"/>
                      </a:endParaRPr>
                    </a:p>
                  </a:txBody>
                  <a:tcPr marL="88900" marR="88900" marT="76200" marB="762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4A5B6E"/>
                          </a:solidFill>
                          <a:latin typeface="Source Sans 3" pitchFamily="34" charset="0"/>
                          <a:ea typeface="Source Sans 3" pitchFamily="34" charset="-122"/>
                          <a:cs typeface="Source Sans 3" pitchFamily="34" charset="-120"/>
                        </a:rPr>
                        <a:t>Personal data</a:t>
                      </a:r>
                      <a:endParaRPr lang="en-US" sz="1200" dirty="0">
                        <a:latin typeface="Source Sans 3" charset="0"/>
                        <a:ea typeface="Source Sans 3" charset="0"/>
                        <a:cs typeface="Source Sans 3" charset="0"/>
                      </a:endParaRPr>
                    </a:p>
                  </a:txBody>
                  <a:tcPr marL="88900" marR="88900" marT="76200" marB="762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4A5B6E"/>
                          </a:solidFill>
                          <a:latin typeface="Source Sans 3" pitchFamily="34" charset="0"/>
                          <a:ea typeface="Source Sans 3" pitchFamily="34" charset="-122"/>
                          <a:cs typeface="Source Sans 3" pitchFamily="34" charset="-120"/>
                        </a:rPr>
                        <a:t>Known</a:t>
                      </a:r>
                      <a:endParaRPr lang="en-US" sz="1200" dirty="0">
                        <a:latin typeface="Source Sans 3" charset="0"/>
                        <a:ea typeface="Source Sans 3" charset="0"/>
                        <a:cs typeface="Source Sans 3" charset="0"/>
                      </a:endParaRPr>
                    </a:p>
                  </a:txBody>
                  <a:tcPr marL="88900" marR="88900" marT="76200" marB="762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63141">
                <a:tc>
                  <a:txBody>
                    <a:bodyPr/>
                    <a:lstStyle/>
                    <a:p>
                      <a:pPr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Funding capacity</a:t>
                      </a:r>
                      <a:endParaRPr lang="en-US" sz="1200" dirty="0">
                        <a:latin typeface="Source Sans 3" charset="0"/>
                        <a:ea typeface="Source Sans 3" charset="0"/>
                        <a:cs typeface="Source Sans 3"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Bank portal</a:t>
                      </a:r>
                      <a:endParaRPr lang="en-US" sz="1200" dirty="0">
                        <a:latin typeface="Source Sans 3" charset="0"/>
                        <a:ea typeface="Source Sans 3" charset="0"/>
                        <a:cs typeface="Source Sans 3"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statement.csv</a:t>
                      </a:r>
                      <a:endParaRPr lang="en-US" sz="1200" dirty="0">
                        <a:latin typeface="Source Sans 3" charset="0"/>
                        <a:ea typeface="Source Sans 3" charset="0"/>
                        <a:cs typeface="Source Sans 3"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closing_balance</a:t>
                      </a:r>
                      <a:endParaRPr lang="en-US" sz="1200" dirty="0">
                        <a:latin typeface="Source Sans 3" charset="0"/>
                        <a:ea typeface="Source Sans 3" charset="0"/>
                        <a:cs typeface="Source Sans 3"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Daily · noon</a:t>
                      </a:r>
                      <a:endParaRPr lang="en-US" sz="1200" dirty="0">
                        <a:latin typeface="Source Sans 3" charset="0"/>
                        <a:ea typeface="Source Sans 3" charset="0"/>
                        <a:cs typeface="Source Sans 3"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Arjun</a:t>
                      </a:r>
                      <a:endParaRPr lang="en-US" sz="1200" dirty="0">
                        <a:latin typeface="Source Sans 3" charset="0"/>
                        <a:ea typeface="Source Sans 3" charset="0"/>
                        <a:cs typeface="Source Sans 3"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No</a:t>
                      </a:r>
                      <a:endParaRPr lang="en-US" sz="1200" dirty="0">
                        <a:latin typeface="Source Sans 3" charset="0"/>
                        <a:ea typeface="Source Sans 3" charset="0"/>
                        <a:cs typeface="Source Sans 3"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A6F78"/>
                          </a:solidFill>
                          <a:latin typeface="Source Sans 3" pitchFamily="34" charset="0"/>
                          <a:ea typeface="Source Sans 3" pitchFamily="34" charset="-122"/>
                          <a:cs typeface="Source Sans 3" pitchFamily="34" charset="-120"/>
                        </a:rPr>
                        <a:t>Stated</a:t>
                      </a:r>
                      <a:endParaRPr lang="en-US" sz="1200" dirty="0">
                        <a:latin typeface="Source Sans 3" charset="0"/>
                        <a:ea typeface="Source Sans 3" charset="0"/>
                        <a:cs typeface="Source Sans 3"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61181">
                <a:tc>
                  <a:txBody>
                    <a:bodyPr/>
                    <a:lstStyle/>
                    <a:p>
                      <a:pPr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Capital calls due</a:t>
                      </a:r>
                      <a:endParaRPr lang="en-US" sz="1200" dirty="0">
                        <a:latin typeface="Source Sans 3" charset="0"/>
                        <a:ea typeface="Source Sans 3" charset="0"/>
                        <a:cs typeface="Source Sans 3"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Email from managers</a:t>
                      </a:r>
                      <a:endParaRPr lang="en-US" sz="1200" dirty="0">
                        <a:latin typeface="Source Sans 3" charset="0"/>
                        <a:ea typeface="Source Sans 3" charset="0"/>
                        <a:cs typeface="Source Sans 3"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call notice (PDF)</a:t>
                      </a:r>
                      <a:endParaRPr lang="en-US" sz="1200" dirty="0">
                        <a:latin typeface="Source Sans 3" charset="0"/>
                        <a:ea typeface="Source Sans 3" charset="0"/>
                        <a:cs typeface="Source Sans 3"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9A521F"/>
                          </a:solidFill>
                          <a:latin typeface="Source Sans 3" pitchFamily="34" charset="0"/>
                          <a:ea typeface="Source Sans 3" pitchFamily="34" charset="-122"/>
                          <a:cs typeface="Source Sans 3" pitchFamily="34" charset="-120"/>
                        </a:rPr>
                        <a:t>unknown</a:t>
                      </a:r>
                      <a:endParaRPr lang="en-US" sz="1200" dirty="0">
                        <a:latin typeface="Source Sans 3" charset="0"/>
                        <a:ea typeface="Source Sans 3" charset="0"/>
                        <a:cs typeface="Source Sans 3"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9A521F"/>
                          </a:solidFill>
                          <a:latin typeface="Source Sans 3" pitchFamily="34" charset="0"/>
                          <a:ea typeface="Source Sans 3" pitchFamily="34" charset="-122"/>
                          <a:cs typeface="Source Sans 3" pitchFamily="34" charset="-120"/>
                        </a:rPr>
                        <a:t>No fixed time</a:t>
                      </a:r>
                      <a:endParaRPr lang="en-US" sz="1200" dirty="0">
                        <a:latin typeface="Source Sans 3" charset="0"/>
                        <a:ea typeface="Source Sans 3" charset="0"/>
                        <a:cs typeface="Source Sans 3"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Sara</a:t>
                      </a:r>
                      <a:endParaRPr lang="en-US" sz="1200" dirty="0">
                        <a:latin typeface="Source Sans 3" charset="0"/>
                        <a:ea typeface="Source Sans 3" charset="0"/>
                        <a:cs typeface="Source Sans 3"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No</a:t>
                      </a:r>
                      <a:endParaRPr lang="en-US" sz="1200" dirty="0">
                        <a:latin typeface="Source Sans 3" charset="0"/>
                        <a:ea typeface="Source Sans 3" charset="0"/>
                        <a:cs typeface="Source Sans 3"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9A521F"/>
                          </a:solidFill>
                          <a:latin typeface="Source Sans 3" pitchFamily="34" charset="0"/>
                          <a:ea typeface="Source Sans 3" pitchFamily="34" charset="-122"/>
                          <a:cs typeface="Source Sans 3" pitchFamily="34" charset="-120"/>
                        </a:rPr>
                        <a:t>Guessed</a:t>
                      </a:r>
                      <a:endParaRPr lang="en-US" sz="1200" dirty="0">
                        <a:latin typeface="Source Sans 3" charset="0"/>
                        <a:ea typeface="Source Sans 3" charset="0"/>
                        <a:cs typeface="Source Sans 3"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61181">
                <a:tc>
                  <a:txBody>
                    <a:bodyPr/>
                    <a:lstStyle/>
                    <a:p>
                      <a:pPr indent="0" marL="0">
                        <a:lnSpc>
                          <a:spcPts val="1680"/>
                        </a:lnSpc>
                        <a:buNone/>
                      </a:pPr>
                      <a:r>
                        <a:rPr lang="en-US" sz="1200" dirty="0">
                          <a:solidFill>
                            <a:srgbClr val="052A52"/>
                          </a:solidFill>
                          <a:latin typeface="Source Sans 3" pitchFamily="34" charset="0"/>
                          <a:ea typeface="Source Sans 3" pitchFamily="34" charset="-122"/>
                          <a:cs typeface="Source Sans 3" pitchFamily="34" charset="-120"/>
                        </a:rPr>
                        <a:t>Exposure to one name</a:t>
                      </a:r>
                      <a:endParaRPr lang="en-US" sz="1200" dirty="0">
                        <a:latin typeface="Source Sans 3" charset="0"/>
                        <a:ea typeface="Source Sans 3" charset="0"/>
                        <a:cs typeface="Source Sans 3"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9A521F"/>
                          </a:solidFill>
                          <a:latin typeface="Source Sans 3" pitchFamily="34" charset="0"/>
                          <a:ea typeface="Source Sans 3" pitchFamily="34" charset="-122"/>
                          <a:cs typeface="Source Sans 3" pitchFamily="34" charset="-120"/>
                        </a:rPr>
                        <a:t>unknown</a:t>
                      </a:r>
                      <a:endParaRPr lang="en-US" sz="1200" dirty="0">
                        <a:latin typeface="Source Sans 3" charset="0"/>
                        <a:ea typeface="Source Sans 3" charset="0"/>
                        <a:cs typeface="Source Sans 3"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9A521F"/>
                          </a:solidFill>
                          <a:latin typeface="Source Sans 3" pitchFamily="34" charset="0"/>
                          <a:ea typeface="Source Sans 3" pitchFamily="34" charset="-122"/>
                          <a:cs typeface="Source Sans 3" pitchFamily="34" charset="-120"/>
                        </a:rPr>
                        <a:t>unknown</a:t>
                      </a:r>
                      <a:endParaRPr lang="en-US" sz="1200" dirty="0">
                        <a:latin typeface="Source Sans 3" charset="0"/>
                        <a:ea typeface="Source Sans 3" charset="0"/>
                        <a:cs typeface="Source Sans 3"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9A521F"/>
                          </a:solidFill>
                          <a:latin typeface="Source Sans 3" pitchFamily="34" charset="0"/>
                          <a:ea typeface="Source Sans 3" pitchFamily="34" charset="-122"/>
                          <a:cs typeface="Source Sans 3" pitchFamily="34" charset="-120"/>
                        </a:rPr>
                        <a:t>unknown</a:t>
                      </a:r>
                      <a:endParaRPr lang="en-US" sz="1200" dirty="0">
                        <a:latin typeface="Source Sans 3" charset="0"/>
                        <a:ea typeface="Source Sans 3" charset="0"/>
                        <a:cs typeface="Source Sans 3"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9A521F"/>
                          </a:solidFill>
                          <a:latin typeface="Source Sans 3" pitchFamily="34" charset="0"/>
                          <a:ea typeface="Source Sans 3" pitchFamily="34" charset="-122"/>
                          <a:cs typeface="Source Sans 3" pitchFamily="34" charset="-120"/>
                        </a:rPr>
                        <a:t>unknown</a:t>
                      </a:r>
                      <a:endParaRPr lang="en-US" sz="1200" dirty="0">
                        <a:latin typeface="Source Sans 3" charset="0"/>
                        <a:ea typeface="Source Sans 3" charset="0"/>
                        <a:cs typeface="Source Sans 3"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9A521F"/>
                          </a:solidFill>
                          <a:latin typeface="Source Sans 3" pitchFamily="34" charset="0"/>
                          <a:ea typeface="Source Sans 3" pitchFamily="34" charset="-122"/>
                          <a:cs typeface="Source Sans 3" pitchFamily="34" charset="-120"/>
                        </a:rPr>
                        <a:t>no data owner</a:t>
                      </a:r>
                      <a:endParaRPr lang="en-US" sz="1200" dirty="0">
                        <a:latin typeface="Source Sans 3" charset="0"/>
                        <a:ea typeface="Source Sans 3" charset="0"/>
                        <a:cs typeface="Source Sans 3"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9A521F"/>
                          </a:solidFill>
                          <a:latin typeface="Source Sans 3" pitchFamily="34" charset="0"/>
                          <a:ea typeface="Source Sans 3" pitchFamily="34" charset="-122"/>
                          <a:cs typeface="Source Sans 3" pitchFamily="34" charset="-120"/>
                        </a:rPr>
                        <a:t>Not sure</a:t>
                      </a:r>
                      <a:endParaRPr lang="en-US" sz="1200" dirty="0">
                        <a:latin typeface="Source Sans 3" charset="0"/>
                        <a:ea typeface="Source Sans 3" charset="0"/>
                        <a:cs typeface="Source Sans 3"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9A521F"/>
                          </a:solidFill>
                          <a:latin typeface="Source Sans 3" pitchFamily="34" charset="0"/>
                          <a:ea typeface="Source Sans 3" pitchFamily="34" charset="-122"/>
                          <a:cs typeface="Source Sans 3" pitchFamily="34" charset="-120"/>
                        </a:rPr>
                        <a:t>Unknown</a:t>
                      </a:r>
                      <a:endParaRPr lang="en-US" sz="1200" dirty="0">
                        <a:latin typeface="Source Sans 3" charset="0"/>
                        <a:ea typeface="Source Sans 3" charset="0"/>
                        <a:cs typeface="Source Sans 3" charset="0"/>
                      </a:endParaRPr>
                    </a:p>
                  </a:txBody>
                  <a:tcPr marL="88900" marR="88900" marT="76200" marB="762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3527524"/>
            <a:ext cx="10883392"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52A52"/>
                </a:solidFill>
                <a:latin typeface="Source Sans 3" pitchFamily="34" charset="0"/>
                <a:ea typeface="Source Sans 3" pitchFamily="34" charset="-122"/>
                <a:cs typeface="Source Sans 3" pitchFamily="34" charset="-120"/>
              </a:rPr>
              <a:t>One row per field, grouped under its KPI.</a:t>
            </a:r>
            <a:r>
              <a:rPr lang="en-US" sz="1400" dirty="0">
                <a:solidFill>
                  <a:srgbClr val="052A52"/>
                </a:solidFill>
                <a:latin typeface="Source Sans 3" pitchFamily="34" charset="0"/>
                <a:ea typeface="Source Sans 3" pitchFamily="34" charset="-122"/>
                <a:cs typeface="Source Sans 3" pitchFamily="34" charset="-120"/>
              </a:rPr>
              <a:t> The unknowns are shown, not hidden: they are the first gaps module 3 will assess. Downloadable as a spreadsheet; kept in the product as a live catalogue.</a:t>
            </a:r>
            <a:endParaRPr lang="en-US" sz="14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E"/>
                </a:solidFill>
                <a:latin typeface="Source Sans 3" pitchFamily="34" charset="0"/>
                <a:ea typeface="Source Sans 3" pitchFamily="34" charset="-122"/>
                <a:cs typeface="Source Sans 3" pitchFamily="34" charset="-120"/>
              </a:rPr>
              <a:t>Signal Harbor · Module 2 Baseline, design for discussion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4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61665"/>
          </a:xfrm>
          <a:prstGeom prst="rect">
            <a:avLst/>
          </a:prstGeom>
          <a:noFill/>
          <a:ln/>
        </p:spPr>
        <p:txBody>
          <a:bodyPr wrap="square" lIns="0" tIns="0" rIns="0" bIns="0" rtlCol="0" anchor="t">
            <a:normAutofit/>
          </a:bodyPr>
          <a:lstStyle/>
          <a:p>
            <a:pPr algn="l" indent="0" marL="0">
              <a:lnSpc>
                <a:spcPts val="3465"/>
              </a:lnSpc>
              <a:buNone/>
            </a:pPr>
            <a:r>
              <a:rPr lang="en-US" sz="3150" b="0" i="0" dirty="0">
                <a:solidFill>
                  <a:srgbClr val="052A52"/>
                </a:solidFill>
                <a:latin typeface="Fraunces" pitchFamily="18" charset="0"/>
                <a:ea typeface="Fraunces" pitchFamily="18" charset="-122"/>
                <a:cs typeface="Fraunces" pitchFamily="18" charset="-120"/>
              </a:rPr>
              <a:t>The catalogue specification</a:t>
            </a:r>
            <a:endParaRPr lang="en-US" sz="31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39565"/>
          <a:ext cx="10553700" cy="4402435"/>
        </p:xfrm>
        <a:graphic>
          <a:graphicData uri="http://schemas.openxmlformats.org/drawingml/2006/table">
            <a:tbl>
              <a:tblPr/>
              <a:tblGrid>
                <a:gridCol w="3517900"/>
                <a:gridCol w="3517900"/>
                <a:gridCol w="3517900"/>
              </a:tblGrid>
              <a:tr h="319187">
                <a:tc>
                  <a:txBody>
                    <a:bodyPr/>
                    <a:lstStyle/>
                    <a:p>
                      <a:pPr indent="0" marL="0">
                        <a:lnSpc>
                          <a:spcPts val="1622"/>
                        </a:lnSpc>
                        <a:buNone/>
                      </a:pPr>
                      <a:r>
                        <a:rPr lang="en-US" sz="1159" b="1" dirty="0">
                          <a:solidFill>
                            <a:srgbClr val="4A5B6E"/>
                          </a:solidFill>
                          <a:latin typeface="Source Sans 3" pitchFamily="34" charset="0"/>
                          <a:ea typeface="Source Sans 3" pitchFamily="34" charset="-122"/>
                          <a:cs typeface="Source Sans 3" pitchFamily="34" charset="-120"/>
                        </a:rPr>
                        <a:t>Level</a:t>
                      </a:r>
                      <a:endParaRPr lang="en-US" sz="1159" dirty="0">
                        <a:latin typeface="Source Sans 3" charset="0"/>
                        <a:ea typeface="Source Sans 3" charset="0"/>
                        <a:cs typeface="Source Sans 3" charset="0"/>
                      </a:endParaRPr>
                    </a:p>
                  </a:txBody>
                  <a:tcPr marL="88900" marR="88900" marT="57150" marB="57150" anchor="t">
                    <a:lnL w="12700" cap="flat" cmpd="sng" algn="ctr">
                      <a:solidFill>
                        <a:srgbClr val="C1C3C4"/>
                      </a:solidFill>
                      <a:prstDash val="solid"/>
                      <a:round/>
                      <a:headEnd type="none" w="med" len="med"/>
                      <a:tailEnd type="none" w="med" len="med"/>
                    </a:lnL>
                    <a:lnR w="12700" cap="flat" cmpd="sng" algn="ctr">
                      <a:solidFill>
                        <a:srgbClr val="B3B5B6"/>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B3B5B6"/>
                      </a:solidFill>
                      <a:prstDash val="solid"/>
                      <a:round/>
                      <a:headEnd type="none" w="med" len="med"/>
                      <a:tailEnd type="none" w="med" len="med"/>
                    </a:lnB>
                    <a:solidFill>
                      <a:srgbClr val="E0E2E4"/>
                    </a:solidFill>
                  </a:tcPr>
                </a:tc>
                <a:tc>
                  <a:txBody>
                    <a:bodyPr/>
                    <a:lstStyle/>
                    <a:p>
                      <a:pPr indent="0" marL="0">
                        <a:lnSpc>
                          <a:spcPts val="1622"/>
                        </a:lnSpc>
                        <a:buNone/>
                      </a:pPr>
                      <a:r>
                        <a:rPr lang="en-US" sz="1159" b="1" dirty="0">
                          <a:solidFill>
                            <a:srgbClr val="4A5B6E"/>
                          </a:solidFill>
                          <a:latin typeface="Source Sans 3" pitchFamily="34" charset="0"/>
                          <a:ea typeface="Source Sans 3" pitchFamily="34" charset="-122"/>
                          <a:cs typeface="Source Sans 3" pitchFamily="34" charset="-120"/>
                        </a:rPr>
                        <a:t>What it holds</a:t>
                      </a:r>
                      <a:endParaRPr lang="en-US" sz="1159" dirty="0">
                        <a:latin typeface="Source Sans 3" charset="0"/>
                        <a:ea typeface="Source Sans 3" charset="0"/>
                        <a:cs typeface="Source Sans 3" charset="0"/>
                      </a:endParaRPr>
                    </a:p>
                  </a:txBody>
                  <a:tcPr marL="88900" marR="88900" marT="57150" marB="57150" anchor="t">
                    <a:lnL w="12700" cap="flat" cmpd="sng" algn="ctr">
                      <a:solidFill>
                        <a:srgbClr val="B3B5B6"/>
                      </a:solidFill>
                      <a:prstDash val="solid"/>
                      <a:round/>
                      <a:headEnd type="none" w="med" len="med"/>
                      <a:tailEnd type="none" w="med" len="med"/>
                    </a:lnL>
                    <a:lnR w="12700" cap="flat" cmpd="sng" algn="ctr">
                      <a:solidFill>
                        <a:srgbClr val="B3B5B6"/>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B3B5B6"/>
                      </a:solidFill>
                      <a:prstDash val="solid"/>
                      <a:round/>
                      <a:headEnd type="none" w="med" len="med"/>
                      <a:tailEnd type="none" w="med" len="med"/>
                    </a:lnB>
                    <a:solidFill>
                      <a:srgbClr val="E0E2E4"/>
                    </a:solidFill>
                  </a:tcPr>
                </a:tc>
                <a:tc>
                  <a:txBody>
                    <a:bodyPr/>
                    <a:lstStyle/>
                    <a:p>
                      <a:pPr indent="0" marL="0">
                        <a:lnSpc>
                          <a:spcPts val="1622"/>
                        </a:lnSpc>
                        <a:buNone/>
                      </a:pPr>
                      <a:r>
                        <a:rPr lang="en-US" sz="1159" b="1" dirty="0">
                          <a:solidFill>
                            <a:srgbClr val="4A5B6E"/>
                          </a:solidFill>
                          <a:latin typeface="Source Sans 3" pitchFamily="34" charset="0"/>
                          <a:ea typeface="Source Sans 3" pitchFamily="34" charset="-122"/>
                          <a:cs typeface="Source Sans 3" pitchFamily="34" charset="-120"/>
                        </a:rPr>
                        <a:t>Filled by</a:t>
                      </a:r>
                      <a:endParaRPr lang="en-US" sz="1159" dirty="0">
                        <a:latin typeface="Source Sans 3" charset="0"/>
                        <a:ea typeface="Source Sans 3" charset="0"/>
                        <a:cs typeface="Source Sans 3" charset="0"/>
                      </a:endParaRPr>
                    </a:p>
                  </a:txBody>
                  <a:tcPr marL="88900" marR="88900" marT="57150" marB="57150" anchor="t">
                    <a:lnL w="12700" cap="flat" cmpd="sng" algn="ctr">
                      <a:solidFill>
                        <a:srgbClr val="B3B5B6"/>
                      </a:solidFill>
                      <a:prstDash val="solid"/>
                      <a:round/>
                      <a:headEnd type="none" w="med" len="med"/>
                      <a:tailEnd type="none" w="med" len="med"/>
                    </a:lnL>
                    <a:lnR w="12700" cap="flat" cmpd="sng" algn="ctr">
                      <a:solidFill>
                        <a:srgbClr val="B3B5B6"/>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B3B5B6"/>
                      </a:solidFill>
                      <a:prstDash val="solid"/>
                      <a:round/>
                      <a:headEnd type="none" w="med" len="med"/>
                      <a:tailEnd type="none" w="med" len="med"/>
                    </a:lnB>
                    <a:solidFill>
                      <a:srgbClr val="E0E2E4"/>
                    </a:solidFill>
                  </a:tcPr>
                </a:tc>
              </a:tr>
              <a:tr h="510381">
                <a:tc>
                  <a:txBody>
                    <a:bodyPr/>
                    <a:lstStyle/>
                    <a:p>
                      <a:pPr indent="0" marL="0">
                        <a:lnSpc>
                          <a:spcPts val="1622"/>
                        </a:lnSpc>
                        <a:buNone/>
                      </a:pPr>
                      <a:r>
                        <a:rPr lang="en-US" sz="1159" dirty="0">
                          <a:solidFill>
                            <a:srgbClr val="052A52"/>
                          </a:solidFill>
                          <a:latin typeface="Source Sans 3" pitchFamily="34" charset="0"/>
                          <a:ea typeface="Source Sans 3" pitchFamily="34" charset="-122"/>
                          <a:cs typeface="Source Sans 3" pitchFamily="34" charset="-120"/>
                        </a:rPr>
                        <a:t>KPI</a:t>
                      </a:r>
                      <a:endParaRPr lang="en-US" sz="1159" dirty="0">
                        <a:latin typeface="Source Sans 3" charset="0"/>
                        <a:ea typeface="Source Sans 3" charset="0"/>
                        <a:cs typeface="Source Sans 3" charset="0"/>
                      </a:endParaRPr>
                    </a:p>
                  </a:txBody>
                  <a:tcPr marL="88900" marR="889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B3B5B6"/>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622"/>
                        </a:lnSpc>
                        <a:buNone/>
                      </a:pPr>
                      <a:r>
                        <a:rPr lang="en-US" sz="1159" dirty="0">
                          <a:solidFill>
                            <a:srgbClr val="052A52"/>
                          </a:solidFill>
                          <a:latin typeface="Source Sans 3" pitchFamily="34" charset="0"/>
                          <a:ea typeface="Source Sans 3" pitchFamily="34" charset="-122"/>
                          <a:cs typeface="Source Sans 3" pitchFamily="34" charset="-120"/>
                        </a:rPr>
                        <a:t>Name, definition, priority, the problem it serves, business owner</a:t>
                      </a:r>
                      <a:endParaRPr lang="en-US" sz="1159" dirty="0">
                        <a:latin typeface="Source Sans 3" charset="0"/>
                        <a:ea typeface="Source Sans 3" charset="0"/>
                        <a:cs typeface="Source Sans 3" charset="0"/>
                      </a:endParaRPr>
                    </a:p>
                  </a:txBody>
                  <a:tcPr marL="88900" marR="889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B3B5B6"/>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622"/>
                        </a:lnSpc>
                        <a:buNone/>
                      </a:pPr>
                      <a:r>
                        <a:rPr lang="en-US" sz="1159" dirty="0">
                          <a:solidFill>
                            <a:srgbClr val="052A52"/>
                          </a:solidFill>
                          <a:latin typeface="Source Sans 3" pitchFamily="34" charset="0"/>
                          <a:ea typeface="Source Sans 3" pitchFamily="34" charset="-122"/>
                          <a:cs typeface="Source Sans 3" pitchFamily="34" charset="-120"/>
                        </a:rPr>
                        <a:t>Charter, Lens, business owner</a:t>
                      </a:r>
                      <a:endParaRPr lang="en-US" sz="1159" dirty="0">
                        <a:latin typeface="Source Sans 3" charset="0"/>
                        <a:ea typeface="Source Sans 3" charset="0"/>
                        <a:cs typeface="Source Sans 3" charset="0"/>
                      </a:endParaRPr>
                    </a:p>
                  </a:txBody>
                  <a:tcPr marL="88900" marR="889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B3B5B6"/>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r h="510381">
                <a:tc>
                  <a:txBody>
                    <a:bodyPr/>
                    <a:lstStyle/>
                    <a:p>
                      <a:pPr indent="0" marL="0">
                        <a:lnSpc>
                          <a:spcPts val="1622"/>
                        </a:lnSpc>
                        <a:buNone/>
                      </a:pPr>
                      <a:r>
                        <a:rPr lang="en-US" sz="1159" dirty="0">
                          <a:solidFill>
                            <a:srgbClr val="052A52"/>
                          </a:solidFill>
                          <a:latin typeface="Source Sans 3" pitchFamily="34" charset="0"/>
                          <a:ea typeface="Source Sans 3" pitchFamily="34" charset="-122"/>
                          <a:cs typeface="Source Sans 3" pitchFamily="34" charset="-120"/>
                        </a:rPr>
                        <a:t>Source system</a:t>
                      </a:r>
                      <a:endParaRPr lang="en-US" sz="1159" dirty="0">
                        <a:latin typeface="Source Sans 3" charset="0"/>
                        <a:ea typeface="Source Sans 3" charset="0"/>
                        <a:cs typeface="Source Sans 3" charset="0"/>
                      </a:endParaRPr>
                    </a:p>
                  </a:txBody>
                  <a:tcPr marL="88900" marR="889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622"/>
                        </a:lnSpc>
                        <a:buNone/>
                      </a:pPr>
                      <a:r>
                        <a:rPr lang="en-US" sz="1159" dirty="0">
                          <a:solidFill>
                            <a:srgbClr val="052A52"/>
                          </a:solidFill>
                          <a:latin typeface="Source Sans 3" pitchFamily="34" charset="0"/>
                          <a:ea typeface="Source Sans 3" pitchFamily="34" charset="-122"/>
                          <a:cs typeface="Source Sans 3" pitchFamily="34" charset="-120"/>
                        </a:rPr>
                        <a:t>Name, kind (database, file, email, third party), structured or unstructured, data owner</a:t>
                      </a:r>
                      <a:endParaRPr lang="en-US" sz="1159" dirty="0">
                        <a:latin typeface="Source Sans 3" charset="0"/>
                        <a:ea typeface="Source Sans 3" charset="0"/>
                        <a:cs typeface="Source Sans 3" charset="0"/>
                      </a:endParaRPr>
                    </a:p>
                  </a:txBody>
                  <a:tcPr marL="88900" marR="889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622"/>
                        </a:lnSpc>
                        <a:buNone/>
                      </a:pPr>
                      <a:r>
                        <a:rPr lang="en-US" sz="1159" dirty="0">
                          <a:solidFill>
                            <a:srgbClr val="052A52"/>
                          </a:solidFill>
                          <a:latin typeface="Source Sans 3" pitchFamily="34" charset="0"/>
                          <a:ea typeface="Source Sans 3" pitchFamily="34" charset="-122"/>
                          <a:cs typeface="Source Sans 3" pitchFamily="34" charset="-120"/>
                        </a:rPr>
                        <a:t>Data owner</a:t>
                      </a:r>
                      <a:endParaRPr lang="en-US" sz="1159" dirty="0">
                        <a:latin typeface="Source Sans 3" charset="0"/>
                        <a:ea typeface="Source Sans 3" charset="0"/>
                        <a:cs typeface="Source Sans 3" charset="0"/>
                      </a:endParaRPr>
                    </a:p>
                  </a:txBody>
                  <a:tcPr marL="88900" marR="889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r h="510381">
                <a:tc>
                  <a:txBody>
                    <a:bodyPr/>
                    <a:lstStyle/>
                    <a:p>
                      <a:pPr indent="0" marL="0">
                        <a:lnSpc>
                          <a:spcPts val="1622"/>
                        </a:lnSpc>
                        <a:buNone/>
                      </a:pPr>
                      <a:r>
                        <a:rPr lang="en-US" sz="1159" dirty="0">
                          <a:solidFill>
                            <a:srgbClr val="052A52"/>
                          </a:solidFill>
                          <a:latin typeface="Source Sans 3" pitchFamily="34" charset="0"/>
                          <a:ea typeface="Source Sans 3" pitchFamily="34" charset="-122"/>
                          <a:cs typeface="Source Sans 3" pitchFamily="34" charset="-120"/>
                        </a:rPr>
                        <a:t>Table or file</a:t>
                      </a:r>
                      <a:endParaRPr lang="en-US" sz="1159" dirty="0">
                        <a:latin typeface="Source Sans 3" charset="0"/>
                        <a:ea typeface="Source Sans 3" charset="0"/>
                        <a:cs typeface="Source Sans 3" charset="0"/>
                      </a:endParaRPr>
                    </a:p>
                  </a:txBody>
                  <a:tcPr marL="88900" marR="889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622"/>
                        </a:lnSpc>
                        <a:buNone/>
                      </a:pPr>
                      <a:r>
                        <a:rPr lang="en-US" sz="1159" dirty="0">
                          <a:solidFill>
                            <a:srgbClr val="052A52"/>
                          </a:solidFill>
                          <a:latin typeface="Source Sans 3" pitchFamily="34" charset="0"/>
                          <a:ea typeface="Source Sans 3" pitchFamily="34" charset="-122"/>
                          <a:cs typeface="Source Sans 3" pitchFamily="34" charset="-120"/>
                        </a:rPr>
                        <a:t>Name, what one row means if known, how often it updates, a sample reference</a:t>
                      </a:r>
                      <a:endParaRPr lang="en-US" sz="1159" dirty="0">
                        <a:latin typeface="Source Sans 3" charset="0"/>
                        <a:ea typeface="Source Sans 3" charset="0"/>
                        <a:cs typeface="Source Sans 3" charset="0"/>
                      </a:endParaRPr>
                    </a:p>
                  </a:txBody>
                  <a:tcPr marL="88900" marR="889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622"/>
                        </a:lnSpc>
                        <a:buNone/>
                      </a:pPr>
                      <a:r>
                        <a:rPr lang="en-US" sz="1159" dirty="0">
                          <a:solidFill>
                            <a:srgbClr val="052A52"/>
                          </a:solidFill>
                          <a:latin typeface="Source Sans 3" pitchFamily="34" charset="0"/>
                          <a:ea typeface="Source Sans 3" pitchFamily="34" charset="-122"/>
                          <a:cs typeface="Source Sans 3" pitchFamily="34" charset="-120"/>
                        </a:rPr>
                        <a:t>Data owner</a:t>
                      </a:r>
                      <a:endParaRPr lang="en-US" sz="1159" dirty="0">
                        <a:latin typeface="Source Sans 3" charset="0"/>
                        <a:ea typeface="Source Sans 3" charset="0"/>
                        <a:cs typeface="Source Sans 3" charset="0"/>
                      </a:endParaRPr>
                    </a:p>
                  </a:txBody>
                  <a:tcPr marL="88900" marR="889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r h="510381">
                <a:tc>
                  <a:txBody>
                    <a:bodyPr/>
                    <a:lstStyle/>
                    <a:p>
                      <a:pPr indent="0" marL="0">
                        <a:lnSpc>
                          <a:spcPts val="1622"/>
                        </a:lnSpc>
                        <a:buNone/>
                      </a:pPr>
                      <a:r>
                        <a:rPr lang="en-US" sz="1159" dirty="0">
                          <a:solidFill>
                            <a:srgbClr val="052A52"/>
                          </a:solidFill>
                          <a:latin typeface="Source Sans 3" pitchFamily="34" charset="0"/>
                          <a:ea typeface="Source Sans 3" pitchFamily="34" charset="-122"/>
                          <a:cs typeface="Source Sans 3" pitchFamily="34" charset="-120"/>
                        </a:rPr>
                        <a:t>Field</a:t>
                      </a:r>
                      <a:endParaRPr lang="en-US" sz="1159" dirty="0">
                        <a:latin typeface="Source Sans 3" charset="0"/>
                        <a:ea typeface="Source Sans 3" charset="0"/>
                        <a:cs typeface="Source Sans 3" charset="0"/>
                      </a:endParaRPr>
                    </a:p>
                  </a:txBody>
                  <a:tcPr marL="88900" marR="889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622"/>
                        </a:lnSpc>
                        <a:buNone/>
                      </a:pPr>
                      <a:r>
                        <a:rPr lang="en-US" sz="1159" dirty="0">
                          <a:solidFill>
                            <a:srgbClr val="052A52"/>
                          </a:solidFill>
                          <a:latin typeface="Source Sans 3" pitchFamily="34" charset="0"/>
                          <a:ea typeface="Source Sans 3" pitchFamily="34" charset="-122"/>
                          <a:cs typeface="Source Sans 3" pitchFamily="34" charset="-120"/>
                        </a:rPr>
                        <a:t>Name, meaning, type, personal-data class, which part of the KPI it feeds</a:t>
                      </a:r>
                      <a:endParaRPr lang="en-US" sz="1159" dirty="0">
                        <a:latin typeface="Source Sans 3" charset="0"/>
                        <a:ea typeface="Source Sans 3" charset="0"/>
                        <a:cs typeface="Source Sans 3" charset="0"/>
                      </a:endParaRPr>
                    </a:p>
                  </a:txBody>
                  <a:tcPr marL="88900" marR="889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622"/>
                        </a:lnSpc>
                        <a:buNone/>
                      </a:pPr>
                      <a:r>
                        <a:rPr lang="en-US" sz="1159" dirty="0">
                          <a:solidFill>
                            <a:srgbClr val="052A52"/>
                          </a:solidFill>
                          <a:latin typeface="Source Sans 3" pitchFamily="34" charset="0"/>
                          <a:ea typeface="Source Sans 3" pitchFamily="34" charset="-122"/>
                          <a:cs typeface="Source Sans 3" pitchFamily="34" charset="-120"/>
                        </a:rPr>
                        <a:t>Data owner, Lens</a:t>
                      </a:r>
                      <a:endParaRPr lang="en-US" sz="1159" dirty="0">
                        <a:latin typeface="Source Sans 3" charset="0"/>
                        <a:ea typeface="Source Sans 3" charset="0"/>
                        <a:cs typeface="Source Sans 3" charset="0"/>
                      </a:endParaRPr>
                    </a:p>
                  </a:txBody>
                  <a:tcPr marL="88900" marR="889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r h="510381">
                <a:tc>
                  <a:txBody>
                    <a:bodyPr/>
                    <a:lstStyle/>
                    <a:p>
                      <a:pPr indent="0" marL="0">
                        <a:lnSpc>
                          <a:spcPts val="1622"/>
                        </a:lnSpc>
                        <a:buNone/>
                      </a:pPr>
                      <a:r>
                        <a:rPr lang="en-US" sz="1159" dirty="0">
                          <a:solidFill>
                            <a:srgbClr val="052A52"/>
                          </a:solidFill>
                          <a:latin typeface="Source Sans 3" pitchFamily="34" charset="0"/>
                          <a:ea typeface="Source Sans 3" pitchFamily="34" charset="-122"/>
                          <a:cs typeface="Source Sans 3" pitchFamily="34" charset="-120"/>
                        </a:rPr>
                        <a:t>Operations</a:t>
                      </a:r>
                      <a:endParaRPr lang="en-US" sz="1159" dirty="0">
                        <a:latin typeface="Source Sans 3" charset="0"/>
                        <a:ea typeface="Source Sans 3" charset="0"/>
                        <a:cs typeface="Source Sans 3" charset="0"/>
                      </a:endParaRPr>
                    </a:p>
                  </a:txBody>
                  <a:tcPr marL="88900" marR="889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622"/>
                        </a:lnSpc>
                        <a:buNone/>
                      </a:pPr>
                      <a:r>
                        <a:rPr lang="en-US" sz="1159" dirty="0">
                          <a:solidFill>
                            <a:srgbClr val="052A52"/>
                          </a:solidFill>
                          <a:latin typeface="Source Sans 3" pitchFamily="34" charset="0"/>
                          <a:ea typeface="Source Sans 3" pitchFamily="34" charset="-122"/>
                          <a:cs typeface="Source Sans 3" pitchFamily="34" charset="-120"/>
                        </a:rPr>
                        <a:t>When it arrives today, the agreed time (SLA), who is told when it is late</a:t>
                      </a:r>
                      <a:endParaRPr lang="en-US" sz="1159" dirty="0">
                        <a:latin typeface="Source Sans 3" charset="0"/>
                        <a:ea typeface="Source Sans 3" charset="0"/>
                        <a:cs typeface="Source Sans 3" charset="0"/>
                      </a:endParaRPr>
                    </a:p>
                  </a:txBody>
                  <a:tcPr marL="88900" marR="889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622"/>
                        </a:lnSpc>
                        <a:buNone/>
                      </a:pPr>
                      <a:r>
                        <a:rPr lang="en-US" sz="1159" dirty="0">
                          <a:solidFill>
                            <a:srgbClr val="052A52"/>
                          </a:solidFill>
                          <a:latin typeface="Source Sans 3" pitchFamily="34" charset="0"/>
                          <a:ea typeface="Source Sans 3" pitchFamily="34" charset="-122"/>
                          <a:cs typeface="Source Sans 3" pitchFamily="34" charset="-120"/>
                        </a:rPr>
                        <a:t>Process owner</a:t>
                      </a:r>
                      <a:endParaRPr lang="en-US" sz="1159" dirty="0">
                        <a:latin typeface="Source Sans 3" charset="0"/>
                        <a:ea typeface="Source Sans 3" charset="0"/>
                        <a:cs typeface="Source Sans 3" charset="0"/>
                      </a:endParaRPr>
                    </a:p>
                  </a:txBody>
                  <a:tcPr marL="88900" marR="889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r h="701576">
                <a:tc>
                  <a:txBody>
                    <a:bodyPr/>
                    <a:lstStyle/>
                    <a:p>
                      <a:pPr indent="0" marL="0">
                        <a:lnSpc>
                          <a:spcPts val="1622"/>
                        </a:lnSpc>
                        <a:buNone/>
                      </a:pPr>
                      <a:r>
                        <a:rPr lang="en-US" sz="1159" dirty="0">
                          <a:solidFill>
                            <a:srgbClr val="052A52"/>
                          </a:solidFill>
                          <a:latin typeface="Source Sans 3" pitchFamily="34" charset="0"/>
                          <a:ea typeface="Source Sans 3" pitchFamily="34" charset="-122"/>
                          <a:cs typeface="Source Sans 3" pitchFamily="34" charset="-120"/>
                        </a:rPr>
                        <a:t>Lineage</a:t>
                      </a:r>
                      <a:endParaRPr lang="en-US" sz="1159" dirty="0">
                        <a:latin typeface="Source Sans 3" charset="0"/>
                        <a:ea typeface="Source Sans 3" charset="0"/>
                        <a:cs typeface="Source Sans 3" charset="0"/>
                      </a:endParaRPr>
                    </a:p>
                  </a:txBody>
                  <a:tcPr marL="88900" marR="889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622"/>
                        </a:lnSpc>
                        <a:buNone/>
                      </a:pPr>
                      <a:r>
                        <a:rPr lang="en-US" sz="1159" dirty="0">
                          <a:solidFill>
                            <a:srgbClr val="052A52"/>
                          </a:solidFill>
                          <a:latin typeface="Source Sans 3" pitchFamily="34" charset="0"/>
                          <a:ea typeface="Source Sans 3" pitchFamily="34" charset="-122"/>
                          <a:cs typeface="Source Sans 3" pitchFamily="34" charset="-120"/>
                        </a:rPr>
                        <a:t>Upstream (who supplies it), steps in between (including manual ones), downstream (who consumes it)</a:t>
                      </a:r>
                      <a:endParaRPr lang="en-US" sz="1159" dirty="0">
                        <a:latin typeface="Source Sans 3" charset="0"/>
                        <a:ea typeface="Source Sans 3" charset="0"/>
                        <a:cs typeface="Source Sans 3" charset="0"/>
                      </a:endParaRPr>
                    </a:p>
                  </a:txBody>
                  <a:tcPr marL="88900" marR="889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622"/>
                        </a:lnSpc>
                        <a:buNone/>
                      </a:pPr>
                      <a:r>
                        <a:rPr lang="en-US" sz="1159" dirty="0">
                          <a:solidFill>
                            <a:srgbClr val="052A52"/>
                          </a:solidFill>
                          <a:latin typeface="Source Sans 3" pitchFamily="34" charset="0"/>
                          <a:ea typeface="Source Sans 3" pitchFamily="34" charset="-122"/>
                          <a:cs typeface="Source Sans 3" pitchFamily="34" charset="-120"/>
                        </a:rPr>
                        <a:t>Process owner, Lens</a:t>
                      </a:r>
                      <a:endParaRPr lang="en-US" sz="1159" dirty="0">
                        <a:latin typeface="Source Sans 3" charset="0"/>
                        <a:ea typeface="Source Sans 3" charset="0"/>
                        <a:cs typeface="Source Sans 3" charset="0"/>
                      </a:endParaRPr>
                    </a:p>
                  </a:txBody>
                  <a:tcPr marL="88900" marR="889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r h="319286">
                <a:tc>
                  <a:txBody>
                    <a:bodyPr/>
                    <a:lstStyle/>
                    <a:p>
                      <a:pPr indent="0" marL="0">
                        <a:lnSpc>
                          <a:spcPts val="1622"/>
                        </a:lnSpc>
                        <a:buNone/>
                      </a:pPr>
                      <a:r>
                        <a:rPr lang="en-US" sz="1159" dirty="0">
                          <a:solidFill>
                            <a:srgbClr val="052A52"/>
                          </a:solidFill>
                          <a:latin typeface="Source Sans 3" pitchFamily="34" charset="0"/>
                          <a:ea typeface="Source Sans 3" pitchFamily="34" charset="-122"/>
                          <a:cs typeface="Source Sans 3" pitchFamily="34" charset="-120"/>
                        </a:rPr>
                        <a:t>Governance</a:t>
                      </a:r>
                      <a:endParaRPr lang="en-US" sz="1159" dirty="0">
                        <a:latin typeface="Source Sans 3" charset="0"/>
                        <a:ea typeface="Source Sans 3" charset="0"/>
                        <a:cs typeface="Source Sans 3" charset="0"/>
                      </a:endParaRPr>
                    </a:p>
                  </a:txBody>
                  <a:tcPr marL="88900" marR="889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622"/>
                        </a:lnSpc>
                        <a:buNone/>
                      </a:pPr>
                      <a:r>
                        <a:rPr lang="en-US" sz="1159" dirty="0">
                          <a:solidFill>
                            <a:srgbClr val="052A52"/>
                          </a:solidFill>
                          <a:latin typeface="Source Sans 3" pitchFamily="34" charset="0"/>
                          <a:ea typeface="Source Sans 3" pitchFamily="34" charset="-122"/>
                          <a:cs typeface="Source Sans 3" pitchFamily="34" charset="-120"/>
                        </a:rPr>
                        <a:t>Personal data or not, sensitivity, who may see it</a:t>
                      </a:r>
                      <a:endParaRPr lang="en-US" sz="1159" dirty="0">
                        <a:latin typeface="Source Sans 3" charset="0"/>
                        <a:ea typeface="Source Sans 3" charset="0"/>
                        <a:cs typeface="Source Sans 3" charset="0"/>
                      </a:endParaRPr>
                    </a:p>
                  </a:txBody>
                  <a:tcPr marL="88900" marR="889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622"/>
                        </a:lnSpc>
                        <a:buNone/>
                      </a:pPr>
                      <a:r>
                        <a:rPr lang="en-US" sz="1159" dirty="0">
                          <a:solidFill>
                            <a:srgbClr val="052A52"/>
                          </a:solidFill>
                          <a:latin typeface="Source Sans 3" pitchFamily="34" charset="0"/>
                          <a:ea typeface="Source Sans 3" pitchFamily="34" charset="-122"/>
                          <a:cs typeface="Source Sans 3" pitchFamily="34" charset="-120"/>
                        </a:rPr>
                        <a:t>Data owner, organiser</a:t>
                      </a:r>
                      <a:endParaRPr lang="en-US" sz="1159" dirty="0">
                        <a:latin typeface="Source Sans 3" charset="0"/>
                        <a:ea typeface="Source Sans 3" charset="0"/>
                        <a:cs typeface="Source Sans 3" charset="0"/>
                      </a:endParaRPr>
                    </a:p>
                  </a:txBody>
                  <a:tcPr marL="88900" marR="889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r h="510480">
                <a:tc>
                  <a:txBody>
                    <a:bodyPr/>
                    <a:lstStyle/>
                    <a:p>
                      <a:pPr indent="0" marL="0">
                        <a:lnSpc>
                          <a:spcPts val="1622"/>
                        </a:lnSpc>
                        <a:buNone/>
                      </a:pPr>
                      <a:r>
                        <a:rPr lang="en-US" sz="1159" dirty="0">
                          <a:solidFill>
                            <a:srgbClr val="052A52"/>
                          </a:solidFill>
                          <a:latin typeface="Source Sans 3" pitchFamily="34" charset="0"/>
                          <a:ea typeface="Source Sans 3" pitchFamily="34" charset="-122"/>
                          <a:cs typeface="Source Sans 3" pitchFamily="34" charset="-120"/>
                        </a:rPr>
                        <a:t>Provenance</a:t>
                      </a:r>
                      <a:endParaRPr lang="en-US" sz="1159" dirty="0">
                        <a:latin typeface="Source Sans 3" charset="0"/>
                        <a:ea typeface="Source Sans 3" charset="0"/>
                        <a:cs typeface="Source Sans 3" charset="0"/>
                      </a:endParaRPr>
                    </a:p>
                  </a:txBody>
                  <a:tcPr marL="88900" marR="889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622"/>
                        </a:lnSpc>
                        <a:buNone/>
                      </a:pPr>
                      <a:r>
                        <a:rPr lang="en-US" sz="1159" dirty="0">
                          <a:solidFill>
                            <a:srgbClr val="052A52"/>
                          </a:solidFill>
                          <a:latin typeface="Source Sans 3" pitchFamily="34" charset="0"/>
                          <a:ea typeface="Source Sans 3" pitchFamily="34" charset="-122"/>
                          <a:cs typeface="Source Sans 3" pitchFamily="34" charset="-120"/>
                        </a:rPr>
                        <a:t>Every value is marked stated, guessed or unknown, with who said it and when</a:t>
                      </a:r>
                      <a:endParaRPr lang="en-US" sz="1159" dirty="0">
                        <a:latin typeface="Source Sans 3" charset="0"/>
                        <a:ea typeface="Source Sans 3" charset="0"/>
                        <a:cs typeface="Source Sans 3" charset="0"/>
                      </a:endParaRPr>
                    </a:p>
                  </a:txBody>
                  <a:tcPr marL="88900" marR="889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622"/>
                        </a:lnSpc>
                        <a:buNone/>
                      </a:pPr>
                      <a:r>
                        <a:rPr lang="en-US" sz="1159" dirty="0">
                          <a:solidFill>
                            <a:srgbClr val="052A52"/>
                          </a:solidFill>
                          <a:latin typeface="Source Sans 3" pitchFamily="34" charset="0"/>
                          <a:ea typeface="Source Sans 3" pitchFamily="34" charset="-122"/>
                          <a:cs typeface="Source Sans 3" pitchFamily="34" charset="-120"/>
                        </a:rPr>
                        <a:t>The product</a:t>
                      </a:r>
                      <a:endParaRPr lang="en-US" sz="1159" dirty="0">
                        <a:latin typeface="Source Sans 3" charset="0"/>
                        <a:ea typeface="Source Sans 3" charset="0"/>
                        <a:cs typeface="Source Sans 3" charset="0"/>
                      </a:endParaRPr>
                    </a:p>
                  </a:txBody>
                  <a:tcPr marL="88900" marR="889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bl>
          </a:graphicData>
        </a:graphic>
      </p:graphicFrame>
      <p:sp>
        <p:nvSpPr>
          <p:cNvPr id="4" name="Text 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E"/>
                </a:solidFill>
                <a:latin typeface="Source Sans 3" pitchFamily="34" charset="0"/>
                <a:ea typeface="Source Sans 3" pitchFamily="34" charset="-122"/>
                <a:cs typeface="Source Sans 3" pitchFamily="34" charset="-120"/>
              </a:rPr>
              <a:t>Signal Harbor · Module 2 Baseline, design for discussion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4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052A52"/>
                </a:solidFill>
                <a:latin typeface="Fraunces" pitchFamily="18" charset="0"/>
                <a:ea typeface="Fraunces" pitchFamily="18" charset="-122"/>
                <a:cs typeface="Fraunces" pitchFamily="18" charset="-120"/>
              </a:rPr>
              <a:t>Governance and personal data</a:t>
            </a:r>
            <a:endParaRPr lang="en-US" sz="3200" dirty="0"/>
          </a:p>
        </p:txBody>
      </p:sp>
      <p:sp>
        <p:nvSpPr>
          <p:cNvPr id="3" name="Shape 1"/>
          <p:cNvSpPr/>
          <p:nvPr/>
        </p:nvSpPr>
        <p:spPr>
          <a:xfrm>
            <a:off x="815975" y="1516955"/>
            <a:ext cx="3380284" cy="1834753"/>
          </a:xfrm>
          <a:prstGeom prst="roundRect">
            <a:avLst>
              <a:gd name="adj" fmla="val 3980"/>
            </a:avLst>
          </a:prstGeom>
          <a:solidFill>
            <a:srgbClr val="FFFFFF"/>
          </a:solidFill>
          <a:ln w="6350">
            <a:solidFill>
              <a:srgbClr val="D5DBE1"/>
            </a:solidFill>
            <a:prstDash val="solid"/>
          </a:ln>
        </p:spPr>
      </p:sp>
      <p:sp>
        <p:nvSpPr>
          <p:cNvPr id="4" name="Text 2"/>
          <p:cNvSpPr/>
          <p:nvPr/>
        </p:nvSpPr>
        <p:spPr>
          <a:xfrm>
            <a:off x="1047750" y="1748730"/>
            <a:ext cx="3004236" cy="299641"/>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052A52"/>
                </a:solidFill>
                <a:latin typeface="Fraunces" pitchFamily="18" charset="0"/>
                <a:ea typeface="Fraunces" pitchFamily="18" charset="-122"/>
                <a:cs typeface="Fraunces" pitchFamily="18" charset="-120"/>
              </a:rPr>
              <a:t>Classify</a:t>
            </a:r>
            <a:endParaRPr lang="en-US" sz="1800" dirty="0"/>
          </a:p>
        </p:txBody>
      </p:sp>
      <p:sp>
        <p:nvSpPr>
          <p:cNvPr id="5" name="Text 3"/>
          <p:cNvSpPr/>
          <p:nvPr/>
        </p:nvSpPr>
        <p:spPr>
          <a:xfrm>
            <a:off x="1047750" y="2124571"/>
            <a:ext cx="3004236"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B6E"/>
                </a:solidFill>
                <a:latin typeface="Source Sans 3" pitchFamily="34" charset="0"/>
                <a:ea typeface="Source Sans 3" pitchFamily="34" charset="-122"/>
                <a:cs typeface="Source Sans 3" pitchFamily="34" charset="-120"/>
              </a:rPr>
              <a:t>Each field is marked: personal data, sensitive to the business, or neither. "Not sure" is allowed and is treated as personal until someone confirms.</a:t>
            </a:r>
            <a:endParaRPr lang="en-US" sz="1400" dirty="0"/>
          </a:p>
        </p:txBody>
      </p:sp>
      <p:sp>
        <p:nvSpPr>
          <p:cNvPr id="6" name="Shape 4"/>
          <p:cNvSpPr/>
          <p:nvPr/>
        </p:nvSpPr>
        <p:spPr>
          <a:xfrm>
            <a:off x="4405809" y="1516955"/>
            <a:ext cx="3380383" cy="1834753"/>
          </a:xfrm>
          <a:prstGeom prst="roundRect">
            <a:avLst>
              <a:gd name="adj" fmla="val 3980"/>
            </a:avLst>
          </a:prstGeom>
          <a:solidFill>
            <a:srgbClr val="FFFFFF"/>
          </a:solidFill>
          <a:ln w="6350">
            <a:solidFill>
              <a:srgbClr val="D5DBE1"/>
            </a:solidFill>
            <a:prstDash val="solid"/>
          </a:ln>
        </p:spPr>
      </p:sp>
      <p:sp>
        <p:nvSpPr>
          <p:cNvPr id="7" name="Text 5"/>
          <p:cNvSpPr/>
          <p:nvPr/>
        </p:nvSpPr>
        <p:spPr>
          <a:xfrm>
            <a:off x="4637584" y="1748730"/>
            <a:ext cx="3004338" cy="299641"/>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052A52"/>
                </a:solidFill>
                <a:latin typeface="Fraunces" pitchFamily="18" charset="0"/>
                <a:ea typeface="Fraunces" pitchFamily="18" charset="-122"/>
                <a:cs typeface="Fraunces" pitchFamily="18" charset="-120"/>
              </a:rPr>
              <a:t>Restrict</a:t>
            </a:r>
            <a:endParaRPr lang="en-US" sz="1800" dirty="0"/>
          </a:p>
        </p:txBody>
      </p:sp>
      <p:sp>
        <p:nvSpPr>
          <p:cNvPr id="8" name="Text 6"/>
          <p:cNvSpPr/>
          <p:nvPr/>
        </p:nvSpPr>
        <p:spPr>
          <a:xfrm>
            <a:off x="4637584" y="2124571"/>
            <a:ext cx="3004338"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B6E"/>
                </a:solidFill>
                <a:latin typeface="Source Sans 3" pitchFamily="34" charset="0"/>
                <a:ea typeface="Source Sans 3" pitchFamily="34" charset="-122"/>
                <a:cs typeface="Source Sans 3" pitchFamily="34" charset="-120"/>
              </a:rPr>
              <a:t>The organiser names exactly who may see each sensitive KPI and its fields. Everyone else sees that it exists, not what is in it.</a:t>
            </a:r>
            <a:endParaRPr lang="en-US" sz="1400" dirty="0"/>
          </a:p>
        </p:txBody>
      </p:sp>
      <p:sp>
        <p:nvSpPr>
          <p:cNvPr id="9" name="Shape 7"/>
          <p:cNvSpPr/>
          <p:nvPr/>
        </p:nvSpPr>
        <p:spPr>
          <a:xfrm>
            <a:off x="7995741" y="1516955"/>
            <a:ext cx="3380284" cy="1834753"/>
          </a:xfrm>
          <a:prstGeom prst="roundRect">
            <a:avLst>
              <a:gd name="adj" fmla="val 3980"/>
            </a:avLst>
          </a:prstGeom>
          <a:solidFill>
            <a:srgbClr val="FFFFFF"/>
          </a:solidFill>
          <a:ln w="6350">
            <a:solidFill>
              <a:srgbClr val="D5DBE1"/>
            </a:solidFill>
            <a:prstDash val="solid"/>
          </a:ln>
        </p:spPr>
      </p:sp>
      <p:sp>
        <p:nvSpPr>
          <p:cNvPr id="10" name="Text 8"/>
          <p:cNvSpPr/>
          <p:nvPr/>
        </p:nvSpPr>
        <p:spPr>
          <a:xfrm>
            <a:off x="8227516" y="1748730"/>
            <a:ext cx="3004236" cy="299641"/>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052A52"/>
                </a:solidFill>
                <a:latin typeface="Fraunces" pitchFamily="18" charset="0"/>
                <a:ea typeface="Fraunces" pitchFamily="18" charset="-122"/>
                <a:cs typeface="Fraunces" pitchFamily="18" charset="-120"/>
              </a:rPr>
              <a:t>Keep local</a:t>
            </a:r>
            <a:endParaRPr lang="en-US" sz="1800" dirty="0"/>
          </a:p>
        </p:txBody>
      </p:sp>
      <p:sp>
        <p:nvSpPr>
          <p:cNvPr id="11" name="Text 9"/>
          <p:cNvSpPr/>
          <p:nvPr/>
        </p:nvSpPr>
        <p:spPr>
          <a:xfrm>
            <a:off x="8227516" y="2124571"/>
            <a:ext cx="3004236"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B6E"/>
                </a:solidFill>
                <a:latin typeface="Source Sans 3" pitchFamily="34" charset="0"/>
                <a:ea typeface="Source Sans 3" pitchFamily="34" charset="-122"/>
                <a:cs typeface="Source Sans 3" pitchFamily="34" charset="-120"/>
              </a:rPr>
              <a:t>The catalogue describes data and never contains it. Samples stay on the client's machine. Requests to owners carry questions, never figures.</a:t>
            </a:r>
            <a:endParaRPr lang="en-US" sz="1400" dirty="0"/>
          </a:p>
        </p:txBody>
      </p:sp>
      <p:sp>
        <p:nvSpPr>
          <p:cNvPr id="12" name="Text 10"/>
          <p:cNvSpPr/>
          <p:nvPr/>
        </p:nvSpPr>
        <p:spPr>
          <a:xfrm>
            <a:off x="812800" y="3608884"/>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52A52"/>
                </a:solidFill>
                <a:latin typeface="Source Sans 3" pitchFamily="34" charset="0"/>
                <a:ea typeface="Source Sans 3" pitchFamily="34" charset="-122"/>
                <a:cs typeface="Source Sans 3" pitchFamily="34" charset="-120"/>
              </a:rPr>
              <a:t>One rule across the module:</a:t>
            </a:r>
            <a:r>
              <a:rPr lang="en-US" sz="1400" dirty="0">
                <a:solidFill>
                  <a:srgbClr val="052A52"/>
                </a:solidFill>
                <a:latin typeface="Source Sans 3" pitchFamily="34" charset="0"/>
                <a:ea typeface="Source Sans 3" pitchFamily="34" charset="-122"/>
                <a:cs typeface="Source Sans 3" pitchFamily="34" charset="-120"/>
              </a:rPr>
              <a:t> nothing that identifies a person or a client leaves the machine it started on.</a:t>
            </a:r>
            <a:endParaRPr lang="en-US" sz="14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E"/>
                </a:solidFill>
                <a:latin typeface="Source Sans 3" pitchFamily="34" charset="0"/>
                <a:ea typeface="Source Sans 3" pitchFamily="34" charset="-122"/>
                <a:cs typeface="Source Sans 3" pitchFamily="34" charset="-120"/>
              </a:rPr>
              <a:t>Signal Harbor · Module 2 Baseline, design for discussion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4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38249"/>
          </a:xfrm>
          <a:prstGeom prst="rect">
            <a:avLst/>
          </a:prstGeom>
          <a:noFill/>
          <a:ln/>
        </p:spPr>
        <p:txBody>
          <a:bodyPr wrap="square" lIns="0" tIns="0" rIns="0" bIns="0" rtlCol="0" anchor="t">
            <a:normAutofit/>
          </a:bodyPr>
          <a:lstStyle/>
          <a:p>
            <a:pPr algn="l" indent="0" marL="0">
              <a:lnSpc>
                <a:spcPts val="3267"/>
              </a:lnSpc>
              <a:buNone/>
            </a:pPr>
            <a:r>
              <a:rPr lang="en-US" sz="2970" b="0" i="0" dirty="0">
                <a:solidFill>
                  <a:srgbClr val="052A52"/>
                </a:solidFill>
                <a:latin typeface="Fraunces" pitchFamily="18" charset="0"/>
                <a:ea typeface="Fraunces" pitchFamily="18" charset="-122"/>
                <a:cs typeface="Fraunces" pitchFamily="18" charset="-120"/>
              </a:rPr>
              <a:t>What the sketch leaves open</a:t>
            </a:r>
            <a:endParaRPr lang="en-US" sz="297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41549"/>
          <a:ext cx="10553700" cy="4400451"/>
        </p:xfrm>
        <a:graphic>
          <a:graphicData uri="http://schemas.openxmlformats.org/drawingml/2006/table">
            <a:tbl>
              <a:tblPr/>
              <a:tblGrid>
                <a:gridCol w="5276850"/>
                <a:gridCol w="5276850"/>
              </a:tblGrid>
              <a:tr h="343793">
                <a:tc>
                  <a:txBody>
                    <a:bodyPr/>
                    <a:lstStyle/>
                    <a:p>
                      <a:pPr indent="0" marL="0">
                        <a:lnSpc>
                          <a:spcPts val="1633"/>
                        </a:lnSpc>
                        <a:buNone/>
                      </a:pPr>
                      <a:r>
                        <a:rPr lang="en-US" sz="1166" b="1" dirty="0">
                          <a:solidFill>
                            <a:srgbClr val="4A5B6E"/>
                          </a:solidFill>
                          <a:latin typeface="Source Sans 3" pitchFamily="34" charset="0"/>
                          <a:ea typeface="Source Sans 3" pitchFamily="34" charset="-122"/>
                          <a:cs typeface="Source Sans 3" pitchFamily="34" charset="-120"/>
                        </a:rPr>
                        <a:t>Situation</a:t>
                      </a:r>
                      <a:endParaRPr lang="en-US" sz="1166" dirty="0">
                        <a:latin typeface="Source Sans 3" charset="0"/>
                        <a:ea typeface="Source Sans 3" charset="0"/>
                        <a:cs typeface="Source Sans 3" charset="0"/>
                      </a:endParaRPr>
                    </a:p>
                  </a:txBody>
                  <a:tcPr marL="101600" marR="101600" marT="63500" marB="63500" anchor="t">
                    <a:lnL w="12700" cap="flat" cmpd="sng" algn="ctr">
                      <a:solidFill>
                        <a:srgbClr val="C1C3C4"/>
                      </a:solidFill>
                      <a:prstDash val="solid"/>
                      <a:round/>
                      <a:headEnd type="none" w="med" len="med"/>
                      <a:tailEnd type="none" w="med" len="med"/>
                    </a:lnL>
                    <a:lnR w="12700" cap="flat" cmpd="sng" algn="ctr">
                      <a:solidFill>
                        <a:srgbClr val="B3B5B6"/>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B3B5B6"/>
                      </a:solidFill>
                      <a:prstDash val="solid"/>
                      <a:round/>
                      <a:headEnd type="none" w="med" len="med"/>
                      <a:tailEnd type="none" w="med" len="med"/>
                    </a:lnB>
                    <a:solidFill>
                      <a:srgbClr val="E0E2E4"/>
                    </a:solidFill>
                  </a:tcPr>
                </a:tc>
                <a:tc>
                  <a:txBody>
                    <a:bodyPr/>
                    <a:lstStyle/>
                    <a:p>
                      <a:pPr indent="0" marL="0">
                        <a:lnSpc>
                          <a:spcPts val="1633"/>
                        </a:lnSpc>
                        <a:buNone/>
                      </a:pPr>
                      <a:r>
                        <a:rPr lang="en-US" sz="1166" b="1" dirty="0">
                          <a:solidFill>
                            <a:srgbClr val="4A5B6E"/>
                          </a:solidFill>
                          <a:latin typeface="Source Sans 3" pitchFamily="34" charset="0"/>
                          <a:ea typeface="Source Sans 3" pitchFamily="34" charset="-122"/>
                          <a:cs typeface="Source Sans 3" pitchFamily="34" charset="-120"/>
                        </a:rPr>
                        <a:t>What I propose happens</a:t>
                      </a:r>
                      <a:endParaRPr lang="en-US" sz="1166" dirty="0">
                        <a:latin typeface="Source Sans 3" charset="0"/>
                        <a:ea typeface="Source Sans 3" charset="0"/>
                        <a:cs typeface="Source Sans 3" charset="0"/>
                      </a:endParaRPr>
                    </a:p>
                  </a:txBody>
                  <a:tcPr marL="101600" marR="101600" marT="63500" marB="63500" anchor="t">
                    <a:lnL w="12700" cap="flat" cmpd="sng" algn="ctr">
                      <a:solidFill>
                        <a:srgbClr val="B3B5B6"/>
                      </a:solidFill>
                      <a:prstDash val="solid"/>
                      <a:round/>
                      <a:headEnd type="none" w="med" len="med"/>
                      <a:tailEnd type="none" w="med" len="med"/>
                    </a:lnL>
                    <a:lnR w="12700" cap="flat" cmpd="sng" algn="ctr">
                      <a:solidFill>
                        <a:srgbClr val="B3B5B6"/>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B3B5B6"/>
                      </a:solidFill>
                      <a:prstDash val="solid"/>
                      <a:round/>
                      <a:headEnd type="none" w="med" len="med"/>
                      <a:tailEnd type="none" w="med" len="med"/>
                    </a:lnB>
                    <a:solidFill>
                      <a:srgbClr val="E0E2E4"/>
                    </a:solidFill>
                  </a:tcPr>
                </a:tc>
              </a:tr>
              <a:tr h="536277">
                <a:tc>
                  <a:txBody>
                    <a:bodyPr/>
                    <a:lstStyle/>
                    <a:p>
                      <a:pPr indent="0" marL="0">
                        <a:lnSpc>
                          <a:spcPts val="1633"/>
                        </a:lnSpc>
                        <a:buNone/>
                      </a:pPr>
                      <a:r>
                        <a:rPr lang="en-US" sz="1166" dirty="0">
                          <a:solidFill>
                            <a:srgbClr val="052A52"/>
                          </a:solidFill>
                          <a:latin typeface="Source Sans 3" pitchFamily="34" charset="0"/>
                          <a:ea typeface="Source Sans 3" pitchFamily="34" charset="-122"/>
                          <a:cs typeface="Source Sans 3" pitchFamily="34" charset="-120"/>
                        </a:rPr>
                        <a:t>An owner does not reply</a:t>
                      </a:r>
                      <a:endParaRPr lang="en-US" sz="1166" dirty="0">
                        <a:latin typeface="Source Sans 3" charset="0"/>
                        <a:ea typeface="Source Sans 3" charset="0"/>
                        <a:cs typeface="Source Sans 3" charset="0"/>
                      </a:endParaRPr>
                    </a:p>
                  </a:txBody>
                  <a:tcPr marL="101600" marR="101600" marT="63500" marB="6350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B3B5B6"/>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633"/>
                        </a:lnSpc>
                        <a:buNone/>
                      </a:pPr>
                      <a:r>
                        <a:rPr lang="en-US" sz="1166" dirty="0">
                          <a:solidFill>
                            <a:srgbClr val="052A52"/>
                          </a:solidFill>
                          <a:latin typeface="Source Sans 3" pitchFamily="34" charset="0"/>
                          <a:ea typeface="Source Sans 3" pitchFamily="34" charset="-122"/>
                          <a:cs typeface="Source Sans 3" pitchFamily="34" charset="-120"/>
                        </a:rPr>
                        <a:t>Reminders at three and seven days, then the organiser is told; the KPI shows "waiting on" that person</a:t>
                      </a:r>
                      <a:endParaRPr lang="en-US" sz="1166" dirty="0">
                        <a:latin typeface="Source Sans 3" charset="0"/>
                        <a:ea typeface="Source Sans 3" charset="0"/>
                        <a:cs typeface="Source Sans 3" charset="0"/>
                      </a:endParaRPr>
                    </a:p>
                  </a:txBody>
                  <a:tcPr marL="101600" marR="101600" marT="63500" marB="6350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B3B5B6"/>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r h="536277">
                <a:tc>
                  <a:txBody>
                    <a:bodyPr/>
                    <a:lstStyle/>
                    <a:p>
                      <a:pPr indent="0" marL="0">
                        <a:lnSpc>
                          <a:spcPts val="1633"/>
                        </a:lnSpc>
                        <a:buNone/>
                      </a:pPr>
                      <a:r>
                        <a:rPr lang="en-US" sz="1166" dirty="0">
                          <a:solidFill>
                            <a:srgbClr val="052A52"/>
                          </a:solidFill>
                          <a:latin typeface="Source Sans 3" pitchFamily="34" charset="0"/>
                          <a:ea typeface="Source Sans 3" pitchFamily="34" charset="-122"/>
                          <a:cs typeface="Source Sans 3" pitchFamily="34" charset="-120"/>
                        </a:rPr>
                        <a:t>Nobody knows who owns it</a:t>
                      </a:r>
                      <a:endParaRPr lang="en-US" sz="1166" dirty="0">
                        <a:latin typeface="Source Sans 3" charset="0"/>
                        <a:ea typeface="Source Sans 3" charset="0"/>
                        <a:cs typeface="Source Sans 3" charset="0"/>
                      </a:endParaRPr>
                    </a:p>
                  </a:txBody>
                  <a:tcPr marL="101600" marR="101600" marT="63500" marB="6350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633"/>
                        </a:lnSpc>
                        <a:buNone/>
                      </a:pPr>
                      <a:r>
                        <a:rPr lang="en-US" sz="1166" dirty="0">
                          <a:solidFill>
                            <a:srgbClr val="052A52"/>
                          </a:solidFill>
                          <a:latin typeface="Source Sans 3" pitchFamily="34" charset="0"/>
                          <a:ea typeface="Source Sans 3" pitchFamily="34" charset="-122"/>
                          <a:cs typeface="Source Sans 3" pitchFamily="34" charset="-120"/>
                        </a:rPr>
                        <a:t>Recorded as "no owner". It blocks sign-off for that KPI and goes to the sponsor to name someone</a:t>
                      </a:r>
                      <a:endParaRPr lang="en-US" sz="1166" dirty="0">
                        <a:latin typeface="Source Sans 3" charset="0"/>
                        <a:ea typeface="Source Sans 3" charset="0"/>
                        <a:cs typeface="Source Sans 3" charset="0"/>
                      </a:endParaRPr>
                    </a:p>
                  </a:txBody>
                  <a:tcPr marL="101600" marR="101600" marT="63500" marB="6350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r h="536277">
                <a:tc>
                  <a:txBody>
                    <a:bodyPr/>
                    <a:lstStyle/>
                    <a:p>
                      <a:pPr indent="0" marL="0">
                        <a:lnSpc>
                          <a:spcPts val="1633"/>
                        </a:lnSpc>
                        <a:buNone/>
                      </a:pPr>
                      <a:r>
                        <a:rPr lang="en-US" sz="1166" dirty="0">
                          <a:solidFill>
                            <a:srgbClr val="052A52"/>
                          </a:solidFill>
                          <a:latin typeface="Source Sans 3" pitchFamily="34" charset="0"/>
                          <a:ea typeface="Source Sans 3" pitchFamily="34" charset="-122"/>
                          <a:cs typeface="Source Sans 3" pitchFamily="34" charset="-120"/>
                        </a:rPr>
                        <a:t>The KPI is not tracked today</a:t>
                      </a:r>
                      <a:endParaRPr lang="en-US" sz="1166" dirty="0">
                        <a:latin typeface="Source Sans 3" charset="0"/>
                        <a:ea typeface="Source Sans 3" charset="0"/>
                        <a:cs typeface="Source Sans 3" charset="0"/>
                      </a:endParaRPr>
                    </a:p>
                  </a:txBody>
                  <a:tcPr marL="101600" marR="101600" marT="63500" marB="6350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633"/>
                        </a:lnSpc>
                        <a:buNone/>
                      </a:pPr>
                      <a:r>
                        <a:rPr lang="en-US" sz="1166" dirty="0">
                          <a:solidFill>
                            <a:srgbClr val="052A52"/>
                          </a:solidFill>
                          <a:latin typeface="Source Sans 3" pitchFamily="34" charset="0"/>
                          <a:ea typeface="Source Sans 3" pitchFamily="34" charset="-122"/>
                          <a:cs typeface="Source Sans 3" pitchFamily="34" charset="-120"/>
                        </a:rPr>
                        <a:t>Recorded as "not tracked". That is a finding, not a failure; module 3 treats it as a gap</a:t>
                      </a:r>
                      <a:endParaRPr lang="en-US" sz="1166" dirty="0">
                        <a:latin typeface="Source Sans 3" charset="0"/>
                        <a:ea typeface="Source Sans 3" charset="0"/>
                        <a:cs typeface="Source Sans 3" charset="0"/>
                      </a:endParaRPr>
                    </a:p>
                  </a:txBody>
                  <a:tcPr marL="101600" marR="101600" marT="63500" marB="6350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r h="343793">
                <a:tc>
                  <a:txBody>
                    <a:bodyPr/>
                    <a:lstStyle/>
                    <a:p>
                      <a:pPr indent="0" marL="0">
                        <a:lnSpc>
                          <a:spcPts val="1633"/>
                        </a:lnSpc>
                        <a:buNone/>
                      </a:pPr>
                      <a:r>
                        <a:rPr lang="en-US" sz="1166" dirty="0">
                          <a:solidFill>
                            <a:srgbClr val="052A52"/>
                          </a:solidFill>
                          <a:latin typeface="Source Sans 3" pitchFamily="34" charset="0"/>
                          <a:ea typeface="Source Sans 3" pitchFamily="34" charset="-122"/>
                          <a:cs typeface="Source Sans 3" pitchFamily="34" charset="-120"/>
                        </a:rPr>
                        <a:t>Two owners define it differently</a:t>
                      </a:r>
                      <a:endParaRPr lang="en-US" sz="1166" dirty="0">
                        <a:latin typeface="Source Sans 3" charset="0"/>
                        <a:ea typeface="Source Sans 3" charset="0"/>
                        <a:cs typeface="Source Sans 3" charset="0"/>
                      </a:endParaRPr>
                    </a:p>
                  </a:txBody>
                  <a:tcPr marL="101600" marR="101600" marT="63500" marB="6350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633"/>
                        </a:lnSpc>
                        <a:buNone/>
                      </a:pPr>
                      <a:r>
                        <a:rPr lang="en-US" sz="1166" dirty="0">
                          <a:solidFill>
                            <a:srgbClr val="052A52"/>
                          </a:solidFill>
                          <a:latin typeface="Source Sans 3" pitchFamily="34" charset="0"/>
                          <a:ea typeface="Source Sans 3" pitchFamily="34" charset="-122"/>
                          <a:cs typeface="Source Sans 3" pitchFamily="34" charset="-120"/>
                        </a:rPr>
                        <a:t>A conflict report shows both versions and who said each; a named person settles it</a:t>
                      </a:r>
                      <a:endParaRPr lang="en-US" sz="1166" dirty="0">
                        <a:latin typeface="Source Sans 3" charset="0"/>
                        <a:ea typeface="Source Sans 3" charset="0"/>
                        <a:cs typeface="Source Sans 3" charset="0"/>
                      </a:endParaRPr>
                    </a:p>
                  </a:txBody>
                  <a:tcPr marL="101600" marR="101600" marT="63500" marB="6350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r h="536277">
                <a:tc>
                  <a:txBody>
                    <a:bodyPr/>
                    <a:lstStyle/>
                    <a:p>
                      <a:pPr indent="0" marL="0">
                        <a:lnSpc>
                          <a:spcPts val="1633"/>
                        </a:lnSpc>
                        <a:buNone/>
                      </a:pPr>
                      <a:r>
                        <a:rPr lang="en-US" sz="1166" dirty="0">
                          <a:solidFill>
                            <a:srgbClr val="052A52"/>
                          </a:solidFill>
                          <a:latin typeface="Source Sans 3" pitchFamily="34" charset="0"/>
                          <a:ea typeface="Source Sans 3" pitchFamily="34" charset="-122"/>
                          <a:cs typeface="Source Sans 3" pitchFamily="34" charset="-120"/>
                        </a:rPr>
                        <a:t>The source is an email or a workbook</a:t>
                      </a:r>
                      <a:endParaRPr lang="en-US" sz="1166" dirty="0">
                        <a:latin typeface="Source Sans 3" charset="0"/>
                        <a:ea typeface="Source Sans 3" charset="0"/>
                        <a:cs typeface="Source Sans 3" charset="0"/>
                      </a:endParaRPr>
                    </a:p>
                  </a:txBody>
                  <a:tcPr marL="101600" marR="101600" marT="63500" marB="6350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633"/>
                        </a:lnSpc>
                        <a:buNone/>
                      </a:pPr>
                      <a:r>
                        <a:rPr lang="en-US" sz="1166" dirty="0">
                          <a:solidFill>
                            <a:srgbClr val="052A52"/>
                          </a:solidFill>
                          <a:latin typeface="Source Sans 3" pitchFamily="34" charset="0"/>
                          <a:ea typeface="Source Sans 3" pitchFamily="34" charset="-122"/>
                          <a:cs typeface="Source Sans 3" pitchFamily="34" charset="-120"/>
                        </a:rPr>
                        <a:t>Recorded as a source of that kind, with a sample requested; the process map marks the step as manual</a:t>
                      </a:r>
                      <a:endParaRPr lang="en-US" sz="1166" dirty="0">
                        <a:latin typeface="Source Sans 3" charset="0"/>
                        <a:ea typeface="Source Sans 3" charset="0"/>
                        <a:cs typeface="Source Sans 3" charset="0"/>
                      </a:endParaRPr>
                    </a:p>
                  </a:txBody>
                  <a:tcPr marL="101600" marR="101600" marT="63500" marB="6350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r h="536277">
                <a:tc>
                  <a:txBody>
                    <a:bodyPr/>
                    <a:lstStyle/>
                    <a:p>
                      <a:pPr indent="0" marL="0">
                        <a:lnSpc>
                          <a:spcPts val="1633"/>
                        </a:lnSpc>
                        <a:buNone/>
                      </a:pPr>
                      <a:r>
                        <a:rPr lang="en-US" sz="1166" dirty="0">
                          <a:solidFill>
                            <a:srgbClr val="052A52"/>
                          </a:solidFill>
                          <a:latin typeface="Source Sans 3" pitchFamily="34" charset="0"/>
                          <a:ea typeface="Source Sans 3" pitchFamily="34" charset="-122"/>
                          <a:cs typeface="Source Sans 3" pitchFamily="34" charset="-120"/>
                        </a:rPr>
                        <a:t>Only unstructured data exists</a:t>
                      </a:r>
                      <a:endParaRPr lang="en-US" sz="1166" dirty="0">
                        <a:latin typeface="Source Sans 3" charset="0"/>
                        <a:ea typeface="Source Sans 3" charset="0"/>
                        <a:cs typeface="Source Sans 3" charset="0"/>
                      </a:endParaRPr>
                    </a:p>
                  </a:txBody>
                  <a:tcPr marL="101600" marR="101600" marT="63500" marB="6350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633"/>
                        </a:lnSpc>
                        <a:buNone/>
                      </a:pPr>
                      <a:r>
                        <a:rPr lang="en-US" sz="1166" dirty="0">
                          <a:solidFill>
                            <a:srgbClr val="052A52"/>
                          </a:solidFill>
                          <a:latin typeface="Source Sans 3" pitchFamily="34" charset="0"/>
                          <a:ea typeface="Source Sans 3" pitchFamily="34" charset="-122"/>
                          <a:cs typeface="Source Sans 3" pitchFamily="34" charset="-120"/>
                        </a:rPr>
                        <a:t>Recorded and flagged: usable as context, not as a source of a figure until a structured source exists</a:t>
                      </a:r>
                      <a:endParaRPr lang="en-US" sz="1166" dirty="0">
                        <a:latin typeface="Source Sans 3" charset="0"/>
                        <a:ea typeface="Source Sans 3" charset="0"/>
                        <a:cs typeface="Source Sans 3" charset="0"/>
                      </a:endParaRPr>
                    </a:p>
                  </a:txBody>
                  <a:tcPr marL="101600" marR="101600" marT="63500" marB="6350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r h="343793">
                <a:tc>
                  <a:txBody>
                    <a:bodyPr/>
                    <a:lstStyle/>
                    <a:p>
                      <a:pPr indent="0" marL="0">
                        <a:lnSpc>
                          <a:spcPts val="1633"/>
                        </a:lnSpc>
                        <a:buNone/>
                      </a:pPr>
                      <a:r>
                        <a:rPr lang="en-US" sz="1166" dirty="0">
                          <a:solidFill>
                            <a:srgbClr val="052A52"/>
                          </a:solidFill>
                          <a:latin typeface="Source Sans 3" pitchFamily="34" charset="0"/>
                          <a:ea typeface="Source Sans 3" pitchFamily="34" charset="-122"/>
                          <a:cs typeface="Source Sans 3" pitchFamily="34" charset="-120"/>
                        </a:rPr>
                        <a:t>An owner leaves or changes role</a:t>
                      </a:r>
                      <a:endParaRPr lang="en-US" sz="1166" dirty="0">
                        <a:latin typeface="Source Sans 3" charset="0"/>
                        <a:ea typeface="Source Sans 3" charset="0"/>
                        <a:cs typeface="Source Sans 3" charset="0"/>
                      </a:endParaRPr>
                    </a:p>
                  </a:txBody>
                  <a:tcPr marL="101600" marR="101600" marT="63500" marB="6350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633"/>
                        </a:lnSpc>
                        <a:buNone/>
                      </a:pPr>
                      <a:r>
                        <a:rPr lang="en-US" sz="1166" dirty="0">
                          <a:solidFill>
                            <a:srgbClr val="052A52"/>
                          </a:solidFill>
                          <a:latin typeface="Source Sans 3" pitchFamily="34" charset="0"/>
                          <a:ea typeface="Source Sans 3" pitchFamily="34" charset="-122"/>
                          <a:cs typeface="Source Sans 3" pitchFamily="34" charset="-120"/>
                        </a:rPr>
                        <a:t>The organiser reassigns; the earlier answers stay with the name of who gave them</a:t>
                      </a:r>
                      <a:endParaRPr lang="en-US" sz="1166" dirty="0">
                        <a:latin typeface="Source Sans 3" charset="0"/>
                        <a:ea typeface="Source Sans 3" charset="0"/>
                        <a:cs typeface="Source Sans 3" charset="0"/>
                      </a:endParaRPr>
                    </a:p>
                  </a:txBody>
                  <a:tcPr marL="101600" marR="101600" marT="63500" marB="6350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r h="343793">
                <a:tc>
                  <a:txBody>
                    <a:bodyPr/>
                    <a:lstStyle/>
                    <a:p>
                      <a:pPr indent="0" marL="0">
                        <a:lnSpc>
                          <a:spcPts val="1633"/>
                        </a:lnSpc>
                        <a:buNone/>
                      </a:pPr>
                      <a:r>
                        <a:rPr lang="en-US" sz="1166" dirty="0">
                          <a:solidFill>
                            <a:srgbClr val="052A52"/>
                          </a:solidFill>
                          <a:latin typeface="Source Sans 3" pitchFamily="34" charset="0"/>
                          <a:ea typeface="Source Sans 3" pitchFamily="34" charset="-122"/>
                          <a:cs typeface="Source Sans 3" pitchFamily="34" charset="-120"/>
                        </a:rPr>
                        <a:t>One KPI serves two problems</a:t>
                      </a:r>
                      <a:endParaRPr lang="en-US" sz="1166" dirty="0">
                        <a:latin typeface="Source Sans 3" charset="0"/>
                        <a:ea typeface="Source Sans 3" charset="0"/>
                        <a:cs typeface="Source Sans 3" charset="0"/>
                      </a:endParaRPr>
                    </a:p>
                  </a:txBody>
                  <a:tcPr marL="101600" marR="101600" marT="63500" marB="6350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633"/>
                        </a:lnSpc>
                        <a:buNone/>
                      </a:pPr>
                      <a:r>
                        <a:rPr lang="en-US" sz="1166" dirty="0">
                          <a:solidFill>
                            <a:srgbClr val="052A52"/>
                          </a:solidFill>
                          <a:latin typeface="Source Sans 3" pitchFamily="34" charset="0"/>
                          <a:ea typeface="Source Sans 3" pitchFamily="34" charset="-122"/>
                          <a:cs typeface="Source Sans 3" pitchFamily="34" charset="-120"/>
                        </a:rPr>
                        <a:t>One catalogue row, linked to both problems</a:t>
                      </a:r>
                      <a:endParaRPr lang="en-US" sz="1166" dirty="0">
                        <a:latin typeface="Source Sans 3" charset="0"/>
                        <a:ea typeface="Source Sans 3" charset="0"/>
                        <a:cs typeface="Source Sans 3" charset="0"/>
                      </a:endParaRPr>
                    </a:p>
                  </a:txBody>
                  <a:tcPr marL="101600" marR="101600" marT="63500" marB="6350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r h="343892">
                <a:tc>
                  <a:txBody>
                    <a:bodyPr/>
                    <a:lstStyle/>
                    <a:p>
                      <a:pPr indent="0" marL="0">
                        <a:lnSpc>
                          <a:spcPts val="1633"/>
                        </a:lnSpc>
                        <a:buNone/>
                      </a:pPr>
                      <a:r>
                        <a:rPr lang="en-US" sz="1166" dirty="0">
                          <a:solidFill>
                            <a:srgbClr val="052A52"/>
                          </a:solidFill>
                          <a:latin typeface="Source Sans 3" pitchFamily="34" charset="0"/>
                          <a:ea typeface="Source Sans 3" pitchFamily="34" charset="-122"/>
                          <a:cs typeface="Source Sans 3" pitchFamily="34" charset="-120"/>
                        </a:rPr>
                        <a:t>The data is personal or sensitive</a:t>
                      </a:r>
                      <a:endParaRPr lang="en-US" sz="1166" dirty="0">
                        <a:latin typeface="Source Sans 3" charset="0"/>
                        <a:ea typeface="Source Sans 3" charset="0"/>
                        <a:cs typeface="Source Sans 3" charset="0"/>
                      </a:endParaRPr>
                    </a:p>
                  </a:txBody>
                  <a:tcPr marL="101600" marR="101600" marT="63500" marB="6350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633"/>
                        </a:lnSpc>
                        <a:buNone/>
                      </a:pPr>
                      <a:r>
                        <a:rPr lang="en-US" sz="1166" dirty="0">
                          <a:solidFill>
                            <a:srgbClr val="052A52"/>
                          </a:solidFill>
                          <a:latin typeface="Source Sans 3" pitchFamily="34" charset="0"/>
                          <a:ea typeface="Source Sans 3" pitchFamily="34" charset="-122"/>
                          <a:cs typeface="Source Sans 3" pitchFamily="34" charset="-120"/>
                        </a:rPr>
                        <a:t>Only the named people see it; the owner sees only their own rows</a:t>
                      </a:r>
                      <a:endParaRPr lang="en-US" sz="1166" dirty="0">
                        <a:latin typeface="Source Sans 3" charset="0"/>
                        <a:ea typeface="Source Sans 3" charset="0"/>
                        <a:cs typeface="Source Sans 3" charset="0"/>
                      </a:endParaRPr>
                    </a:p>
                  </a:txBody>
                  <a:tcPr marL="101600" marR="101600" marT="63500" marB="6350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bl>
          </a:graphicData>
        </a:graphic>
      </p:graphicFrame>
      <p:sp>
        <p:nvSpPr>
          <p:cNvPr id="4" name="Text 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E"/>
                </a:solidFill>
                <a:latin typeface="Source Sans 3" pitchFamily="34" charset="0"/>
                <a:ea typeface="Source Sans 3" pitchFamily="34" charset="-122"/>
                <a:cs typeface="Source Sans 3" pitchFamily="34" charset="-120"/>
              </a:rPr>
              <a:t>Signal Harbor · Module 2 Baseline, design for discussion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4F6"/>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25152"/>
          </a:xfrm>
          <a:prstGeom prst="rect">
            <a:avLst/>
          </a:prstGeom>
          <a:noFill/>
          <a:ln/>
        </p:spPr>
        <p:txBody>
          <a:bodyPr wrap="square" lIns="0" tIns="0" rIns="0" bIns="0" rtlCol="0" anchor="t">
            <a:normAutofit/>
          </a:bodyPr>
          <a:lstStyle/>
          <a:p>
            <a:pPr algn="l" indent="0" marL="0">
              <a:lnSpc>
                <a:spcPts val="3168"/>
              </a:lnSpc>
              <a:buNone/>
            </a:pPr>
            <a:r>
              <a:rPr lang="en-US" sz="2880" b="0" i="0" dirty="0">
                <a:solidFill>
                  <a:srgbClr val="052A52"/>
                </a:solidFill>
                <a:latin typeface="Fraunces" pitchFamily="18" charset="0"/>
                <a:ea typeface="Fraunces" pitchFamily="18" charset="-122"/>
                <a:cs typeface="Fraunces" pitchFamily="18" charset="-120"/>
              </a:rPr>
              <a:t>What exists, and what is new</a:t>
            </a:r>
            <a:endParaRPr lang="en-US" sz="288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03052"/>
          <a:ext cx="10553700" cy="4438948"/>
        </p:xfrm>
        <a:graphic>
          <a:graphicData uri="http://schemas.openxmlformats.org/drawingml/2006/table">
            <a:tbl>
              <a:tblPr/>
              <a:tblGrid>
                <a:gridCol w="3517900"/>
                <a:gridCol w="3517900"/>
                <a:gridCol w="3517900"/>
              </a:tblGrid>
              <a:tr h="318294">
                <a:tc>
                  <a:txBody>
                    <a:bodyPr/>
                    <a:lstStyle/>
                    <a:p>
                      <a:pPr indent="0" marL="0">
                        <a:lnSpc>
                          <a:spcPts val="1591"/>
                        </a:lnSpc>
                        <a:buNone/>
                      </a:pPr>
                      <a:r>
                        <a:rPr lang="en-US" sz="1136" b="1" dirty="0">
                          <a:solidFill>
                            <a:srgbClr val="4A5B6E"/>
                          </a:solidFill>
                          <a:latin typeface="Source Sans 3" pitchFamily="34" charset="0"/>
                          <a:ea typeface="Source Sans 3" pitchFamily="34" charset="-122"/>
                          <a:cs typeface="Source Sans 3" pitchFamily="34" charset="-120"/>
                        </a:rPr>
                        <a:t>Part</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C1C3C4"/>
                      </a:solidFill>
                      <a:prstDash val="solid"/>
                      <a:round/>
                      <a:headEnd type="none" w="med" len="med"/>
                      <a:tailEnd type="none" w="med" len="med"/>
                    </a:lnL>
                    <a:lnR w="12700" cap="flat" cmpd="sng" algn="ctr">
                      <a:solidFill>
                        <a:srgbClr val="B3B5B6"/>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B3B5B6"/>
                      </a:solidFill>
                      <a:prstDash val="solid"/>
                      <a:round/>
                      <a:headEnd type="none" w="med" len="med"/>
                      <a:tailEnd type="none" w="med" len="med"/>
                    </a:lnB>
                    <a:solidFill>
                      <a:srgbClr val="E0E2E4"/>
                    </a:solidFill>
                  </a:tcPr>
                </a:tc>
                <a:tc>
                  <a:txBody>
                    <a:bodyPr/>
                    <a:lstStyle/>
                    <a:p>
                      <a:pPr indent="0" marL="0">
                        <a:lnSpc>
                          <a:spcPts val="1591"/>
                        </a:lnSpc>
                        <a:buNone/>
                      </a:pPr>
                      <a:r>
                        <a:rPr lang="en-US" sz="1136" b="1" dirty="0">
                          <a:solidFill>
                            <a:srgbClr val="4A5B6E"/>
                          </a:solidFill>
                          <a:latin typeface="Source Sans 3" pitchFamily="34" charset="0"/>
                          <a:ea typeface="Source Sans 3" pitchFamily="34" charset="-122"/>
                          <a:cs typeface="Source Sans 3" pitchFamily="34" charset="-120"/>
                        </a:rPr>
                        <a:t>State</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B3B5B6"/>
                      </a:solidFill>
                      <a:prstDash val="solid"/>
                      <a:round/>
                      <a:headEnd type="none" w="med" len="med"/>
                      <a:tailEnd type="none" w="med" len="med"/>
                    </a:lnL>
                    <a:lnR w="12700" cap="flat" cmpd="sng" algn="ctr">
                      <a:solidFill>
                        <a:srgbClr val="B3B5B6"/>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B3B5B6"/>
                      </a:solidFill>
                      <a:prstDash val="solid"/>
                      <a:round/>
                      <a:headEnd type="none" w="med" len="med"/>
                      <a:tailEnd type="none" w="med" len="med"/>
                    </a:lnB>
                    <a:solidFill>
                      <a:srgbClr val="E0E2E4"/>
                    </a:solidFill>
                  </a:tcPr>
                </a:tc>
                <a:tc>
                  <a:txBody>
                    <a:bodyPr/>
                    <a:lstStyle/>
                    <a:p>
                      <a:pPr indent="0" marL="0">
                        <a:lnSpc>
                          <a:spcPts val="1591"/>
                        </a:lnSpc>
                        <a:buNone/>
                      </a:pPr>
                      <a:r>
                        <a:rPr lang="en-US" sz="1136" b="1" dirty="0">
                          <a:solidFill>
                            <a:srgbClr val="4A5B6E"/>
                          </a:solidFill>
                          <a:latin typeface="Source Sans 3" pitchFamily="34" charset="0"/>
                          <a:ea typeface="Source Sans 3" pitchFamily="34" charset="-122"/>
                          <a:cs typeface="Source Sans 3" pitchFamily="34" charset="-120"/>
                        </a:rPr>
                        <a:t>Note</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B3B5B6"/>
                      </a:solidFill>
                      <a:prstDash val="solid"/>
                      <a:round/>
                      <a:headEnd type="none" w="med" len="med"/>
                      <a:tailEnd type="none" w="med" len="med"/>
                    </a:lnL>
                    <a:lnR w="12700" cap="flat" cmpd="sng" algn="ctr">
                      <a:solidFill>
                        <a:srgbClr val="B3B5B6"/>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B3B5B6"/>
                      </a:solidFill>
                      <a:prstDash val="solid"/>
                      <a:round/>
                      <a:headEnd type="none" w="med" len="med"/>
                      <a:tailEnd type="none" w="med" len="med"/>
                    </a:lnB>
                    <a:solidFill>
                      <a:srgbClr val="E0E2E4"/>
                    </a:solidFill>
                  </a:tcPr>
                </a:tc>
              </a:tr>
              <a:tr h="505817">
                <a:tc>
                  <a:txBody>
                    <a:bodyPr/>
                    <a:lstStyle/>
                    <a:p>
                      <a:pPr indent="0" marL="0">
                        <a:lnSpc>
                          <a:spcPts val="1591"/>
                        </a:lnSpc>
                        <a:buNone/>
                      </a:pPr>
                      <a:r>
                        <a:rPr lang="en-US" sz="1136" dirty="0">
                          <a:solidFill>
                            <a:srgbClr val="052A52"/>
                          </a:solidFill>
                          <a:latin typeface="Source Sans 3" pitchFamily="34" charset="0"/>
                          <a:ea typeface="Source Sans 3" pitchFamily="34" charset="-122"/>
                          <a:cs typeface="Source Sans 3" pitchFamily="34" charset="-120"/>
                        </a:rPr>
                        <a:t>Definitions drafted from the industry pack, with questions for the business</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B3B5B6"/>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591"/>
                        </a:lnSpc>
                        <a:buNone/>
                      </a:pPr>
                      <a:r>
                        <a:rPr lang="en-US" sz="1136" dirty="0">
                          <a:solidFill>
                            <a:srgbClr val="0A6F78"/>
                          </a:solidFill>
                          <a:latin typeface="Source Sans 3" pitchFamily="34" charset="0"/>
                          <a:ea typeface="Source Sans 3" pitchFamily="34" charset="-122"/>
                          <a:cs typeface="Source Sans 3" pitchFamily="34" charset="-120"/>
                        </a:rPr>
                        <a:t>Built</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B3B5B6"/>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591"/>
                        </a:lnSpc>
                        <a:buNone/>
                      </a:pPr>
                      <a:r>
                        <a:rPr lang="en-US" sz="1136" dirty="0">
                          <a:solidFill>
                            <a:srgbClr val="4A5B6E"/>
                          </a:solidFill>
                          <a:latin typeface="Source Sans 3" pitchFamily="34" charset="0"/>
                          <a:ea typeface="Source Sans 3" pitchFamily="34" charset="-122"/>
                          <a:cs typeface="Source Sans 3" pitchFamily="34" charset="-120"/>
                        </a:rPr>
                        <a:t>Each company gets its own industry's content</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B3B5B6"/>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r h="318294">
                <a:tc>
                  <a:txBody>
                    <a:bodyPr/>
                    <a:lstStyle/>
                    <a:p>
                      <a:pPr indent="0" marL="0">
                        <a:lnSpc>
                          <a:spcPts val="1591"/>
                        </a:lnSpc>
                        <a:buNone/>
                      </a:pPr>
                      <a:r>
                        <a:rPr lang="en-US" sz="1136" dirty="0">
                          <a:solidFill>
                            <a:srgbClr val="052A52"/>
                          </a:solidFill>
                          <a:latin typeface="Source Sans 3" pitchFamily="34" charset="0"/>
                          <a:ea typeface="Source Sans 3" pitchFamily="34" charset="-122"/>
                          <a:cs typeface="Source Sans 3" pitchFamily="34" charset="-120"/>
                        </a:rPr>
                        <a:t>Process map with validate, edit and remove</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591"/>
                        </a:lnSpc>
                        <a:buNone/>
                      </a:pPr>
                      <a:r>
                        <a:rPr lang="en-US" sz="1136" dirty="0">
                          <a:solidFill>
                            <a:srgbClr val="0A6F78"/>
                          </a:solidFill>
                          <a:latin typeface="Source Sans 3" pitchFamily="34" charset="0"/>
                          <a:ea typeface="Source Sans 3" pitchFamily="34" charset="-122"/>
                          <a:cs typeface="Source Sans 3" pitchFamily="34" charset="-120"/>
                        </a:rPr>
                        <a:t>Built</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591"/>
                        </a:lnSpc>
                        <a:buNone/>
                      </a:pPr>
                      <a:r>
                        <a:rPr lang="en-US" sz="1136" dirty="0">
                          <a:solidFill>
                            <a:srgbClr val="4A5B6E"/>
                          </a:solidFill>
                          <a:latin typeface="Source Sans 3" pitchFamily="34" charset="0"/>
                          <a:ea typeface="Source Sans 3" pitchFamily="34" charset="-122"/>
                          <a:cs typeface="Source Sans 3" pitchFamily="34" charset="-120"/>
                        </a:rPr>
                        <a:t>Drafted from the pack today, not from owners' answers</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r h="505817">
                <a:tc>
                  <a:txBody>
                    <a:bodyPr/>
                    <a:lstStyle/>
                    <a:p>
                      <a:pPr indent="0" marL="0">
                        <a:lnSpc>
                          <a:spcPts val="1591"/>
                        </a:lnSpc>
                        <a:buNone/>
                      </a:pPr>
                      <a:r>
                        <a:rPr lang="en-US" sz="1136" dirty="0">
                          <a:solidFill>
                            <a:srgbClr val="052A52"/>
                          </a:solidFill>
                          <a:latin typeface="Source Sans 3" pitchFamily="34" charset="0"/>
                          <a:ea typeface="Source Sans 3" pitchFamily="34" charset="-122"/>
                          <a:cs typeface="Source Sans 3" pitchFamily="34" charset="-120"/>
                        </a:rPr>
                        <a:t>Data landscape, conflicts, sign-off with re-draft protection</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591"/>
                        </a:lnSpc>
                        <a:buNone/>
                      </a:pPr>
                      <a:r>
                        <a:rPr lang="en-US" sz="1136" dirty="0">
                          <a:solidFill>
                            <a:srgbClr val="0A6F78"/>
                          </a:solidFill>
                          <a:latin typeface="Source Sans 3" pitchFamily="34" charset="0"/>
                          <a:ea typeface="Source Sans 3" pitchFamily="34" charset="-122"/>
                          <a:cs typeface="Source Sans 3" pitchFamily="34" charset="-120"/>
                        </a:rPr>
                        <a:t>Built</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591"/>
                        </a:lnSpc>
                        <a:buNone/>
                      </a:pPr>
                      <a:r>
                        <a:rPr lang="en-US" sz="1136" dirty="0">
                          <a:solidFill>
                            <a:srgbClr val="4A5B6E"/>
                          </a:solidFill>
                          <a:latin typeface="Source Sans 3" pitchFamily="34" charset="0"/>
                          <a:ea typeface="Source Sans 3" pitchFamily="34" charset="-122"/>
                          <a:cs typeface="Source Sans 3" pitchFamily="34" charset="-120"/>
                        </a:rPr>
                        <a:t>Landed this week</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r h="318294">
                <a:tc>
                  <a:txBody>
                    <a:bodyPr/>
                    <a:lstStyle/>
                    <a:p>
                      <a:pPr indent="0" marL="0">
                        <a:lnSpc>
                          <a:spcPts val="1591"/>
                        </a:lnSpc>
                        <a:buNone/>
                      </a:pPr>
                      <a:r>
                        <a:rPr lang="en-US" sz="1136" dirty="0">
                          <a:solidFill>
                            <a:srgbClr val="052A52"/>
                          </a:solidFill>
                          <a:latin typeface="Source Sans 3" pitchFamily="34" charset="0"/>
                          <a:ea typeface="Source Sans 3" pitchFamily="34" charset="-122"/>
                          <a:cs typeface="Source Sans 3" pitchFamily="34" charset="-120"/>
                        </a:rPr>
                        <a:t>Personal-data levels on data model fields</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591"/>
                        </a:lnSpc>
                        <a:buNone/>
                      </a:pPr>
                      <a:r>
                        <a:rPr lang="en-US" sz="1136" dirty="0">
                          <a:solidFill>
                            <a:srgbClr val="9A521F"/>
                          </a:solidFill>
                          <a:latin typeface="Source Sans 3" pitchFamily="34" charset="0"/>
                          <a:ea typeface="Source Sans 3" pitchFamily="34" charset="-122"/>
                          <a:cs typeface="Source Sans 3" pitchFamily="34" charset="-120"/>
                        </a:rPr>
                        <a:t>Partly</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591"/>
                        </a:lnSpc>
                        <a:buNone/>
                      </a:pPr>
                      <a:r>
                        <a:rPr lang="en-US" sz="1136" dirty="0">
                          <a:solidFill>
                            <a:srgbClr val="4A5B6E"/>
                          </a:solidFill>
                          <a:latin typeface="Source Sans 3" pitchFamily="34" charset="0"/>
                          <a:ea typeface="Source Sans 3" pitchFamily="34" charset="-122"/>
                          <a:cs typeface="Source Sans 3" pitchFamily="34" charset="-120"/>
                        </a:rPr>
                        <a:t>Exist in contracts; asking per field at baseline is new</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r h="505817">
                <a:tc>
                  <a:txBody>
                    <a:bodyPr/>
                    <a:lstStyle/>
                    <a:p>
                      <a:pPr indent="0" marL="0">
                        <a:lnSpc>
                          <a:spcPts val="1591"/>
                        </a:lnSpc>
                        <a:buNone/>
                      </a:pPr>
                      <a:r>
                        <a:rPr lang="en-US" sz="1136" dirty="0">
                          <a:solidFill>
                            <a:srgbClr val="052A52"/>
                          </a:solidFill>
                          <a:latin typeface="Source Sans 3" pitchFamily="34" charset="0"/>
                          <a:ea typeface="Source Sans 3" pitchFamily="34" charset="-122"/>
                          <a:cs typeface="Source Sans 3" pitchFamily="34" charset="-120"/>
                        </a:rPr>
                        <a:t>Sensing: numbers tracked today, beliefs, benchmarks</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591"/>
                        </a:lnSpc>
                        <a:buNone/>
                      </a:pPr>
                      <a:r>
                        <a:rPr lang="en-US" sz="1136" dirty="0">
                          <a:solidFill>
                            <a:srgbClr val="9A521F"/>
                          </a:solidFill>
                          <a:latin typeface="Source Sans 3" pitchFamily="34" charset="0"/>
                          <a:ea typeface="Source Sans 3" pitchFamily="34" charset="-122"/>
                          <a:cs typeface="Source Sans 3" pitchFamily="34" charset="-120"/>
                        </a:rPr>
                        <a:t>Partly</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591"/>
                        </a:lnSpc>
                        <a:buNone/>
                      </a:pPr>
                      <a:r>
                        <a:rPr lang="en-US" sz="1136" dirty="0">
                          <a:solidFill>
                            <a:srgbClr val="4A5B6E"/>
                          </a:solidFill>
                          <a:latin typeface="Source Sans 3" pitchFamily="34" charset="0"/>
                          <a:ea typeface="Source Sans 3" pitchFamily="34" charset="-122"/>
                          <a:cs typeface="Source Sans 3" pitchFamily="34" charset="-120"/>
                        </a:rPr>
                        <a:t>A separate Sense peek screen; the owner questionnaire is new</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r h="318294">
                <a:tc>
                  <a:txBody>
                    <a:bodyPr/>
                    <a:lstStyle/>
                    <a:p>
                      <a:pPr indent="0" marL="0">
                        <a:lnSpc>
                          <a:spcPts val="1591"/>
                        </a:lnSpc>
                        <a:buNone/>
                      </a:pPr>
                      <a:r>
                        <a:rPr lang="en-US" sz="1136" dirty="0">
                          <a:solidFill>
                            <a:srgbClr val="052A52"/>
                          </a:solidFill>
                          <a:latin typeface="Source Sans 3" pitchFamily="34" charset="0"/>
                          <a:ea typeface="Source Sans 3" pitchFamily="34" charset="-122"/>
                          <a:cs typeface="Source Sans 3" pitchFamily="34" charset="-120"/>
                        </a:rPr>
                        <a:t>Triage of what is known per KPI</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591"/>
                        </a:lnSpc>
                        <a:buNone/>
                      </a:pPr>
                      <a:r>
                        <a:rPr lang="en-US" sz="1136" dirty="0">
                          <a:solidFill>
                            <a:srgbClr val="B4642A"/>
                          </a:solidFill>
                          <a:latin typeface="Source Sans 3" pitchFamily="34" charset="0"/>
                          <a:ea typeface="Source Sans 3" pitchFamily="34" charset="-122"/>
                          <a:cs typeface="Source Sans 3" pitchFamily="34" charset="-120"/>
                        </a:rPr>
                        <a:t>New</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591"/>
                        </a:lnSpc>
                        <a:buNone/>
                      </a:pPr>
                      <a:r>
                        <a:rPr lang="en-US" sz="1136" dirty="0">
                          <a:solidFill>
                            <a:srgbClr val="4A5B6E"/>
                          </a:solidFill>
                          <a:latin typeface="Source Sans 3" pitchFamily="34" charset="0"/>
                          <a:ea typeface="Source Sans 3" pitchFamily="34" charset="-122"/>
                          <a:cs typeface="Source Sans 3" pitchFamily="34" charset="-120"/>
                        </a:rPr>
                        <a:t>Work list from the charter</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r h="318294">
                <a:tc>
                  <a:txBody>
                    <a:bodyPr/>
                    <a:lstStyle/>
                    <a:p>
                      <a:pPr indent="0" marL="0">
                        <a:lnSpc>
                          <a:spcPts val="1591"/>
                        </a:lnSpc>
                        <a:buNone/>
                      </a:pPr>
                      <a:r>
                        <a:rPr lang="en-US" sz="1136" dirty="0">
                          <a:solidFill>
                            <a:srgbClr val="052A52"/>
                          </a:solidFill>
                          <a:latin typeface="Source Sans 3" pitchFamily="34" charset="0"/>
                          <a:ea typeface="Source Sans 3" pitchFamily="34" charset="-122"/>
                          <a:cs typeface="Source Sans 3" pitchFamily="34" charset="-120"/>
                        </a:rPr>
                        <a:t>Nominating business, data and process owner per KPI</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591"/>
                        </a:lnSpc>
                        <a:buNone/>
                      </a:pPr>
                      <a:r>
                        <a:rPr lang="en-US" sz="1136" dirty="0">
                          <a:solidFill>
                            <a:srgbClr val="B4642A"/>
                          </a:solidFill>
                          <a:latin typeface="Source Sans 3" pitchFamily="34" charset="0"/>
                          <a:ea typeface="Source Sans 3" pitchFamily="34" charset="-122"/>
                          <a:cs typeface="Source Sans 3" pitchFamily="34" charset="-120"/>
                        </a:rPr>
                        <a:t>New</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591"/>
                        </a:lnSpc>
                        <a:buNone/>
                      </a:pPr>
                      <a:r>
                        <a:rPr lang="en-US" sz="1136" dirty="0">
                          <a:solidFill>
                            <a:srgbClr val="4A5B6E"/>
                          </a:solidFill>
                          <a:latin typeface="Source Sans 3" pitchFamily="34" charset="0"/>
                          <a:ea typeface="Source Sans 3" pitchFamily="34" charset="-122"/>
                          <a:cs typeface="Source Sans 3" pitchFamily="34" charset="-120"/>
                        </a:rPr>
                        <a:t>Roles exist; the per-KPI step does not</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r h="505817">
                <a:tc>
                  <a:txBody>
                    <a:bodyPr/>
                    <a:lstStyle/>
                    <a:p>
                      <a:pPr indent="0" marL="0">
                        <a:lnSpc>
                          <a:spcPts val="1591"/>
                        </a:lnSpc>
                        <a:buNone/>
                      </a:pPr>
                      <a:r>
                        <a:rPr lang="en-US" sz="1136" dirty="0">
                          <a:solidFill>
                            <a:srgbClr val="052A52"/>
                          </a:solidFill>
                          <a:latin typeface="Source Sans 3" pitchFamily="34" charset="0"/>
                          <a:ea typeface="Source Sans 3" pitchFamily="34" charset="-122"/>
                          <a:cs typeface="Source Sans 3" pitchFamily="34" charset="-120"/>
                        </a:rPr>
                        <a:t>Requests to owners by email with an answer link, and chasing</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591"/>
                        </a:lnSpc>
                        <a:buNone/>
                      </a:pPr>
                      <a:r>
                        <a:rPr lang="en-US" sz="1136" dirty="0">
                          <a:solidFill>
                            <a:srgbClr val="B4642A"/>
                          </a:solidFill>
                          <a:latin typeface="Source Sans 3" pitchFamily="34" charset="0"/>
                          <a:ea typeface="Source Sans 3" pitchFamily="34" charset="-122"/>
                          <a:cs typeface="Source Sans 3" pitchFamily="34" charset="-120"/>
                        </a:rPr>
                        <a:t>New</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591"/>
                        </a:lnSpc>
                        <a:buNone/>
                      </a:pPr>
                      <a:r>
                        <a:rPr lang="en-US" sz="1136" dirty="0">
                          <a:solidFill>
                            <a:srgbClr val="4A5B6E"/>
                          </a:solidFill>
                          <a:latin typeface="Source Sans 3" pitchFamily="34" charset="0"/>
                          <a:ea typeface="Source Sans 3" pitchFamily="34" charset="-122"/>
                          <a:cs typeface="Source Sans 3" pitchFamily="34" charset="-120"/>
                        </a:rPr>
                        <a:t>Needs an outbound email service</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r h="318294">
                <a:tc>
                  <a:txBody>
                    <a:bodyPr/>
                    <a:lstStyle/>
                    <a:p>
                      <a:pPr indent="0" marL="0">
                        <a:lnSpc>
                          <a:spcPts val="1591"/>
                        </a:lnSpc>
                        <a:buNone/>
                      </a:pPr>
                      <a:r>
                        <a:rPr lang="en-US" sz="1136" dirty="0">
                          <a:solidFill>
                            <a:srgbClr val="052A52"/>
                          </a:solidFill>
                          <a:latin typeface="Source Sans 3" pitchFamily="34" charset="0"/>
                          <a:ea typeface="Source Sans 3" pitchFamily="34" charset="-122"/>
                          <a:cs typeface="Source Sans 3" pitchFamily="34" charset="-120"/>
                        </a:rPr>
                        <a:t>Upstream and downstream trace</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591"/>
                        </a:lnSpc>
                        <a:buNone/>
                      </a:pPr>
                      <a:r>
                        <a:rPr lang="en-US" sz="1136" dirty="0">
                          <a:solidFill>
                            <a:srgbClr val="B4642A"/>
                          </a:solidFill>
                          <a:latin typeface="Source Sans 3" pitchFamily="34" charset="0"/>
                          <a:ea typeface="Source Sans 3" pitchFamily="34" charset="-122"/>
                          <a:cs typeface="Source Sans 3" pitchFamily="34" charset="-120"/>
                        </a:rPr>
                        <a:t>New</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591"/>
                        </a:lnSpc>
                        <a:buNone/>
                      </a:pPr>
                      <a:r>
                        <a:rPr lang="en-US" sz="1136" dirty="0">
                          <a:solidFill>
                            <a:srgbClr val="4A5B6E"/>
                          </a:solidFill>
                          <a:latin typeface="Source Sans 3" pitchFamily="34" charset="0"/>
                          <a:ea typeface="Source Sans 3" pitchFamily="34" charset="-122"/>
                          <a:cs typeface="Source Sans 3" pitchFamily="34" charset="-120"/>
                        </a:rPr>
                        <a:t>Lineage at the process level</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r h="505916">
                <a:tc>
                  <a:txBody>
                    <a:bodyPr/>
                    <a:lstStyle/>
                    <a:p>
                      <a:pPr indent="0" marL="0">
                        <a:lnSpc>
                          <a:spcPts val="1591"/>
                        </a:lnSpc>
                        <a:buNone/>
                      </a:pPr>
                      <a:r>
                        <a:rPr lang="en-US" sz="1136" dirty="0">
                          <a:solidFill>
                            <a:srgbClr val="052A52"/>
                          </a:solidFill>
                          <a:latin typeface="Source Sans 3" pitchFamily="34" charset="0"/>
                          <a:ea typeface="Source Sans 3" pitchFamily="34" charset="-122"/>
                          <a:cs typeface="Source Sans 3" pitchFamily="34" charset="-120"/>
                        </a:rPr>
                        <a:t>The data catalogue as one document, with provenance per value</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591"/>
                        </a:lnSpc>
                        <a:buNone/>
                      </a:pPr>
                      <a:r>
                        <a:rPr lang="en-US" sz="1136" dirty="0">
                          <a:solidFill>
                            <a:srgbClr val="B4642A"/>
                          </a:solidFill>
                          <a:latin typeface="Source Sans 3" pitchFamily="34" charset="0"/>
                          <a:ea typeface="Source Sans 3" pitchFamily="34" charset="-122"/>
                          <a:cs typeface="Source Sans 3" pitchFamily="34" charset="-120"/>
                        </a:rPr>
                        <a:t>New</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c>
                  <a:txBody>
                    <a:bodyPr/>
                    <a:lstStyle/>
                    <a:p>
                      <a:pPr indent="0" marL="0">
                        <a:lnSpc>
                          <a:spcPts val="1591"/>
                        </a:lnSpc>
                        <a:buNone/>
                      </a:pPr>
                      <a:r>
                        <a:rPr lang="en-US" sz="1136" dirty="0">
                          <a:solidFill>
                            <a:srgbClr val="4A5B6E"/>
                          </a:solidFill>
                          <a:latin typeface="Source Sans 3" pitchFamily="34" charset="0"/>
                          <a:ea typeface="Source Sans 3" pitchFamily="34" charset="-122"/>
                          <a:cs typeface="Source Sans 3" pitchFamily="34" charset="-120"/>
                        </a:rPr>
                        <a:t>The main new build of this module</a:t>
                      </a:r>
                      <a:endParaRPr lang="en-US" sz="1136" dirty="0">
                        <a:latin typeface="Source Sans 3" charset="0"/>
                        <a:ea typeface="Source Sans 3" charset="0"/>
                        <a:cs typeface="Source Sans 3" charset="0"/>
                      </a:endParaRPr>
                    </a:p>
                  </a:txBody>
                  <a:tcPr marL="101600" marR="101600" marT="57150" marB="57150" anchor="t">
                    <a:lnL w="12700" cap="flat" cmpd="sng" algn="ctr">
                      <a:solidFill>
                        <a:srgbClr val="C1C3C4"/>
                      </a:solidFill>
                      <a:prstDash val="solid"/>
                      <a:round/>
                      <a:headEnd type="none" w="med" len="med"/>
                      <a:tailEnd type="none" w="med" len="med"/>
                    </a:lnL>
                    <a:lnR w="12700" cap="flat" cmpd="sng" algn="ctr">
                      <a:solidFill>
                        <a:srgbClr val="C1C3C4"/>
                      </a:solidFill>
                      <a:prstDash val="solid"/>
                      <a:round/>
                      <a:headEnd type="none" w="med" len="med"/>
                      <a:tailEnd type="none" w="med" len="med"/>
                    </a:lnR>
                    <a:lnT w="12700" cap="flat" cmpd="sng" algn="ctr">
                      <a:solidFill>
                        <a:srgbClr val="C1C3C4"/>
                      </a:solidFill>
                      <a:prstDash val="solid"/>
                      <a:round/>
                      <a:headEnd type="none" w="med" len="med"/>
                      <a:tailEnd type="none" w="med" len="med"/>
                    </a:lnT>
                    <a:lnB w="12700" cap="flat" cmpd="sng" algn="ctr">
                      <a:solidFill>
                        <a:srgbClr val="C1C3C4"/>
                      </a:solidFill>
                      <a:prstDash val="solid"/>
                      <a:round/>
                      <a:headEnd type="none" w="med" len="med"/>
                      <a:tailEnd type="none" w="med" len="med"/>
                    </a:lnB>
                  </a:tcPr>
                </a:tc>
              </a:tr>
            </a:tbl>
          </a:graphicData>
        </a:graphic>
      </p:graphicFrame>
      <p:sp>
        <p:nvSpPr>
          <p:cNvPr id="4" name="Text 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E"/>
                </a:solidFill>
                <a:latin typeface="Source Sans 3" pitchFamily="34" charset="0"/>
                <a:ea typeface="Source Sans 3" pitchFamily="34" charset="-122"/>
                <a:cs typeface="Source Sans 3" pitchFamily="34" charset="-120"/>
              </a:rPr>
              <a:t>Signal Harbor · Module 2 Baseline, design for discussion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52A5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F2F4F6"/>
                </a:solidFill>
                <a:latin typeface="Fraunces" pitchFamily="18" charset="0"/>
                <a:ea typeface="Fraunces" pitchFamily="18" charset="-122"/>
                <a:cs typeface="Fraunces" pitchFamily="18" charset="-120"/>
              </a:rPr>
              <a:t>Decisions for you on module 2</a:t>
            </a:r>
            <a:endParaRPr lang="en-US" sz="3200" dirty="0"/>
          </a:p>
        </p:txBody>
      </p:sp>
      <p:sp>
        <p:nvSpPr>
          <p:cNvPr id="3" name="Text 1"/>
          <p:cNvSpPr/>
          <p:nvPr/>
        </p:nvSpPr>
        <p:spPr>
          <a:xfrm>
            <a:off x="923925" y="1513780"/>
            <a:ext cx="10763885" cy="2603103"/>
          </a:xfrm>
          <a:prstGeom prst="rect">
            <a:avLst/>
          </a:prstGeom>
          <a:noFill/>
          <a:ln/>
        </p:spPr>
        <p:txBody>
          <a:bodyPr wrap="square" lIns="0" tIns="0" rIns="0" bIns="0" rtlCol="0" anchor="t">
            <a:normAutofit/>
          </a:bodyPr>
          <a:lstStyle/>
          <a:p>
            <a:pPr algn="l" marL="168275" indent="-168275">
              <a:lnSpc>
                <a:spcPts val="2030"/>
              </a:lnSpc>
              <a:buSzPct val="100000"/>
              <a:buFontTx/>
              <a:buAutoNum type="arabicPeriod" startAt="1"/>
            </a:pPr>
            <a:r>
              <a:rPr lang="en-US" sz="1400" b="1" dirty="0">
                <a:solidFill>
                  <a:srgbClr val="F2F4F6"/>
                </a:solidFill>
                <a:latin typeface="Source Sans 3" pitchFamily="34" charset="0"/>
                <a:ea typeface="Source Sans 3" pitchFamily="34" charset="-122"/>
                <a:cs typeface="Source Sans 3" pitchFamily="34" charset="-120"/>
              </a:rPr>
              <a:t>Who signs the baseline?</a:t>
            </a:r>
            <a:r>
              <a:rPr lang="en-US" sz="1400" dirty="0">
                <a:solidFill>
                  <a:srgbClr val="F2F4F6"/>
                </a:solidFill>
                <a:latin typeface="Source Sans 3" pitchFamily="34" charset="0"/>
                <a:ea typeface="Source Sans 3" pitchFamily="34" charset="-122"/>
                <a:cs typeface="Source Sans 3" pitchFamily="34" charset="-120"/>
              </a:rPr>
              <a:t> I recommend each owner confirms their own part (the business owner the definition, the data owner the source, the process owner the process), and the sponsor and the head of data sign the whole.</a:t>
            </a:r>
            <a:endParaRPr lang="en-US" sz="1400" dirty="0"/>
          </a:p>
          <a:p>
            <a:pPr algn="l" marL="168275" indent="-168275">
              <a:lnSpc>
                <a:spcPts val="2030"/>
              </a:lnSpc>
              <a:buSzPct val="100000"/>
              <a:buFontTx/>
              <a:buAutoNum type="arabicPeriod" startAt="1"/>
            </a:pPr>
            <a:r>
              <a:rPr lang="en-US" sz="1400" b="1" dirty="0">
                <a:solidFill>
                  <a:srgbClr val="F2F4F6"/>
                </a:solidFill>
                <a:latin typeface="Source Sans 3" pitchFamily="34" charset="0"/>
                <a:ea typeface="Source Sans 3" pitchFamily="34" charset="-122"/>
                <a:cs typeface="Source Sans 3" pitchFamily="34" charset="-120"/>
              </a:rPr>
              <a:t>How do requests reach owners?</a:t>
            </a:r>
            <a:r>
              <a:rPr lang="en-US" sz="1400" dirty="0">
                <a:solidFill>
                  <a:srgbClr val="F2F4F6"/>
                </a:solidFill>
                <a:latin typeface="Source Sans 3" pitchFamily="34" charset="0"/>
                <a:ea typeface="Source Sans 3" pitchFamily="34" charset="-122"/>
                <a:cs typeface="Source Sans 3" pitchFamily="34" charset="-120"/>
              </a:rPr>
              <a:t> I recommend an email with a link, no account, carrying only the KPI name and the questions. It needs an outbound email service.</a:t>
            </a:r>
            <a:endParaRPr lang="en-US" sz="1400" dirty="0"/>
          </a:p>
          <a:p>
            <a:pPr algn="l" marL="168275" indent="-168275">
              <a:lnSpc>
                <a:spcPts val="2030"/>
              </a:lnSpc>
              <a:buSzPct val="100000"/>
              <a:buFontTx/>
              <a:buAutoNum type="arabicPeriod" startAt="1"/>
            </a:pPr>
            <a:r>
              <a:rPr lang="en-US" sz="1400" b="1" dirty="0">
                <a:solidFill>
                  <a:srgbClr val="F2F4F6"/>
                </a:solidFill>
                <a:latin typeface="Source Sans 3" pitchFamily="34" charset="0"/>
                <a:ea typeface="Source Sans 3" pitchFamily="34" charset="-122"/>
                <a:cs typeface="Source Sans 3" pitchFamily="34" charset="-120"/>
              </a:rPr>
              <a:t>May an owner upload an existing document</a:t>
            </a:r>
            <a:r>
              <a:rPr lang="en-US" sz="1400" dirty="0">
                <a:solidFill>
                  <a:srgbClr val="F2F4F6"/>
                </a:solidFill>
                <a:latin typeface="Source Sans 3" pitchFamily="34" charset="0"/>
                <a:ea typeface="Source Sans 3" pitchFamily="34" charset="-122"/>
                <a:cs typeface="Source Sans 3" pitchFamily="34" charset="-120"/>
              </a:rPr>
              <a:t> (a data dictionary, a process note) for Lens to read? I recommend yes, as context only, always confirmed by a person.</a:t>
            </a:r>
            <a:endParaRPr lang="en-US" sz="1400" dirty="0"/>
          </a:p>
          <a:p>
            <a:pPr algn="l" marL="168275" indent="-168275">
              <a:lnSpc>
                <a:spcPts val="2030"/>
              </a:lnSpc>
              <a:buSzPct val="100000"/>
              <a:buFontTx/>
              <a:buAutoNum type="arabicPeriod" startAt="1"/>
            </a:pPr>
            <a:r>
              <a:rPr lang="en-US" sz="1400" b="1" dirty="0">
                <a:solidFill>
                  <a:srgbClr val="F2F4F6"/>
                </a:solidFill>
                <a:latin typeface="Source Sans 3" pitchFamily="34" charset="0"/>
                <a:ea typeface="Source Sans 3" pitchFamily="34" charset="-122"/>
                <a:cs typeface="Source Sans 3" pitchFamily="34" charset="-120"/>
              </a:rPr>
              <a:t>The catalogue file.</a:t>
            </a:r>
            <a:r>
              <a:rPr lang="en-US" sz="1400" dirty="0">
                <a:solidFill>
                  <a:srgbClr val="F2F4F6"/>
                </a:solidFill>
                <a:latin typeface="Source Sans 3" pitchFamily="34" charset="0"/>
                <a:ea typeface="Source Sans 3" pitchFamily="34" charset="-122"/>
                <a:cs typeface="Source Sans 3" pitchFamily="34" charset="-120"/>
              </a:rPr>
              <a:t> I could not find your earlier catalogue template in the repository. Please compare the columns on the catalogue slides and tell me what differs.</a:t>
            </a:r>
            <a:endParaRPr lang="en-US" sz="1400" dirty="0"/>
          </a:p>
          <a:p>
            <a:pPr algn="l" marL="168275" indent="-168275">
              <a:lnSpc>
                <a:spcPts val="2030"/>
              </a:lnSpc>
              <a:buSzPct val="100000"/>
              <a:buFontTx/>
              <a:buAutoNum type="arabicPeriod" startAt="1"/>
            </a:pPr>
            <a:r>
              <a:rPr lang="en-US" sz="1400" b="1" dirty="0">
                <a:solidFill>
                  <a:srgbClr val="F2F4F6"/>
                </a:solidFill>
                <a:latin typeface="Source Sans 3" pitchFamily="34" charset="0"/>
                <a:ea typeface="Source Sans 3" pitchFamily="34" charset="-122"/>
                <a:cs typeface="Source Sans 3" pitchFamily="34" charset="-120"/>
              </a:rPr>
              <a:t>What makes the baseline ready for module 3?</a:t>
            </a:r>
            <a:r>
              <a:rPr lang="en-US" sz="1400" dirty="0">
                <a:solidFill>
                  <a:srgbClr val="F2F4F6"/>
                </a:solidFill>
                <a:latin typeface="Source Sans 3" pitchFamily="34" charset="0"/>
                <a:ea typeface="Source Sans 3" pitchFamily="34" charset="-122"/>
                <a:cs typeface="Source Sans 3" pitchFamily="34" charset="-120"/>
              </a:rPr>
              <a:t> I recommend: every KPI has its three owners or is marked blocked, a stated source or "unknown", and the sensing questions answered. Unknown is allowed but stays visible.</a:t>
            </a:r>
            <a:endParaRPr lang="en-US" sz="1400" dirty="0"/>
          </a:p>
        </p:txBody>
      </p:sp>
    </p:spTree>
  </p:cSld>
  <p:clrMapOvr>
    <a:masterClrMapping/>
  </p:clrMapOvr>
</p:sld>
</file>

<file path=ppt/theme/theme1.xml><?xml version="1.0" encoding="utf-8"?>
<a:theme xmlns:a="http://schemas.openxmlformats.org/drawingml/2006/main" name="Module 2 Baseline: process and data mapping">
  <a:themeElements>
    <a:clrScheme name="Module 2 Baseline: process and data mapping">
      <a:dk1>
        <a:srgbClr val="052A52"/>
      </a:dk1>
      <a:lt1>
        <a:srgbClr val="F2F4F6"/>
      </a:lt1>
      <a:dk2>
        <a:srgbClr val="405D7B"/>
      </a:dk2>
      <a:lt2>
        <a:srgbClr val="DAE0E6"/>
      </a:lt2>
      <a:accent1>
        <a:srgbClr val="9A521F"/>
      </a:accent1>
      <a:accent2>
        <a:srgbClr val="0A6F78"/>
      </a:accent2>
      <a:accent3>
        <a:srgbClr val="7FD6DD"/>
      </a:accent3>
      <a:accent4>
        <a:srgbClr val="4A5B6E"/>
      </a:accent4>
      <a:accent5>
        <a:srgbClr val="F6E7D8"/>
      </a:accent5>
      <a:accent6>
        <a:srgbClr val="C9D3DE"/>
      </a:accent6>
      <a:hlink>
        <a:srgbClr val="0563C1"/>
      </a:hlink>
      <a:folHlink>
        <a:srgbClr val="954F72"/>
      </a:folHlink>
    </a:clrScheme>
    <a:fontScheme name="Module 2 Baseline: process and data mapping">
      <a:majorFont>
        <a:latin typeface="Fraunce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ource Sans 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 Baseline: process and data mapping</dc:title>
  <dc:subject/>
  <dc:creator/>
  <cp:lastModifiedBy/>
  <cp:revision>1</cp:revision>
  <dcterms:created xsi:type="dcterms:W3CDTF">2026-10-02T23:33:27Z</dcterms:created>
  <dcterms:modified xsi:type="dcterms:W3CDTF">2026-10-02T23:33:27Z</dcterms:modified>
</cp:coreProperties>
</file>