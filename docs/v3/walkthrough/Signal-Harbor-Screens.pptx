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B3A5C"/>
                </a:solidFill>
                <a:latin typeface="Georgia"/>
              </a:rPr>
              <a:t>Signal Harbor 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5A6878"/>
                </a:solidFill>
                <a:latin typeface="Calibri"/>
              </a:rPr>
              <a:t>The app, screen by screen — Evergreen Office (synthetic data), test cycle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08D57"/>
                </a:solidFill>
                <a:latin typeface="Calibri"/>
              </a:rPr>
              <a:t>One assistant, Harbor. Four places: Action · Build · Consume · Knowledge.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1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Sign in</a:t>
            </a:r>
          </a:p>
        </p:txBody>
      </p:sp>
      <p:pic>
        <p:nvPicPr>
          <p:cNvPr id="4" name="Picture 3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6" y="1371600"/>
            <a:ext cx="833932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2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Home: what needs you today</a:t>
            </a:r>
          </a:p>
        </p:txBody>
      </p:sp>
      <p:pic>
        <p:nvPicPr>
          <p:cNvPr id="4" name="Picture 3" descr="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130" y="1371600"/>
            <a:ext cx="475325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3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Action: decisions waiting for you</a:t>
            </a:r>
          </a:p>
        </p:txBody>
      </p:sp>
      <p:pic>
        <p:nvPicPr>
          <p:cNvPr id="4" name="Picture 3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5" y="1371600"/>
            <a:ext cx="395020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4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Build: say what you need, drop your files</a:t>
            </a:r>
          </a:p>
        </p:txBody>
      </p:sp>
      <p:pic>
        <p:nvPicPr>
          <p:cNvPr id="4" name="Picture 3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847" y="1371600"/>
            <a:ext cx="215982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5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Harbor drafts the brief</a:t>
            </a:r>
          </a:p>
        </p:txBody>
      </p:sp>
      <p:pic>
        <p:nvPicPr>
          <p:cNvPr id="4" name="Picture 3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6" y="1371600"/>
            <a:ext cx="833932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6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Decision 1: the brief</a:t>
            </a:r>
          </a:p>
        </p:txBody>
      </p:sp>
      <p:pic>
        <p:nvPicPr>
          <p:cNvPr id="4" name="Picture 3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272" y="1371600"/>
            <a:ext cx="179297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7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Sofia sends the brief to Daniel to sign</a:t>
            </a:r>
          </a:p>
        </p:txBody>
      </p:sp>
      <p:pic>
        <p:nvPicPr>
          <p:cNvPr id="4" name="Picture 3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468" y="1371600"/>
            <a:ext cx="322258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8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Daniel sees it in Action</a:t>
            </a:r>
          </a:p>
        </p:txBody>
      </p:sp>
      <p:pic>
        <p:nvPicPr>
          <p:cNvPr id="4" name="Picture 3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5" y="1371600"/>
            <a:ext cx="395020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9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The record: who raised it, who signed</a:t>
            </a:r>
          </a:p>
        </p:txBody>
      </p:sp>
      <p:pic>
        <p:nvPicPr>
          <p:cNvPr id="4" name="Picture 3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586" y="1371600"/>
            <a:ext cx="2796346" cy="52120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10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Decision 2: is this the process?</a:t>
            </a:r>
          </a:p>
        </p:txBody>
      </p:sp>
      <p:pic>
        <p:nvPicPr>
          <p:cNvPr id="4" name="Picture 3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044" y="1371600"/>
            <a:ext cx="330343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11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Decision 3: SOP preview, then go live</a:t>
            </a:r>
          </a:p>
        </p:txBody>
      </p:sp>
      <p:pic>
        <p:nvPicPr>
          <p:cNvPr id="4" name="Picture 3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560" y="1371600"/>
            <a:ext cx="281839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12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Live</a:t>
            </a:r>
          </a:p>
        </p:txBody>
      </p:sp>
      <p:pic>
        <p:nvPicPr>
          <p:cNvPr id="4" name="Picture 3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576" y="1371600"/>
            <a:ext cx="244236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13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Consume: ask, get the figure</a:t>
            </a:r>
          </a:p>
        </p:txBody>
      </p:sp>
      <p:pic>
        <p:nvPicPr>
          <p:cNvPr id="4" name="Picture 3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26" y="1371600"/>
            <a:ext cx="641486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14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Knowledge: the company graph</a:t>
            </a:r>
          </a:p>
        </p:txBody>
      </p:sp>
      <p:pic>
        <p:nvPicPr>
          <p:cNvPr id="4" name="Picture 3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689" y="1371600"/>
            <a:ext cx="51301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15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Knowledge: Harbor's skills</a:t>
            </a:r>
          </a:p>
        </p:txBody>
      </p:sp>
      <p:pic>
        <p:nvPicPr>
          <p:cNvPr id="4" name="Picture 3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102" y="1371600"/>
            <a:ext cx="139531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THE TOUR · 16 of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3A5C"/>
                </a:solidFill>
                <a:latin typeface="Georgia"/>
              </a:rPr>
              <a:t>Phone</a:t>
            </a:r>
          </a:p>
        </p:txBody>
      </p:sp>
      <p:pic>
        <p:nvPicPr>
          <p:cNvPr id="4" name="Picture 3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582" y="1371600"/>
            <a:ext cx="68835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HEAD OF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3A5C"/>
                </a:solidFill>
                <a:latin typeface="Georgia"/>
              </a:rPr>
              <a:t>Daniel Foo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85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7B4F"/>
                </a:solidFill>
                <a:latin typeface="Calibri"/>
              </a:rPr>
              <a:t>Live · answer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Calibri"/>
              </a:rPr>
              <a:t>Asked: What is our cash by entity today?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878"/>
                </a:solidFill>
                <a:latin typeface="Calibri"/>
              </a:rPr>
              <a:t>Harbor answered: Cash by entity: Entity B 905,000.00; Evergreen Holdings 2,305,906.48; Evergreen Family Trust 1,252,492.34. Total 4,463,398.82 USD (as at 31 Jul 2026).</a:t>
            </a:r>
          </a:p>
        </p:txBody>
      </p:sp>
      <p:pic>
        <p:nvPicPr>
          <p:cNvPr id="7" name="Picture 6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56" y="3200400"/>
            <a:ext cx="1904966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350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The build, live</a:t>
            </a:r>
          </a:p>
        </p:txBody>
      </p:sp>
      <p:pic>
        <p:nvPicPr>
          <p:cNvPr id="9" name="Picture 8" descr="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160" y="3613785"/>
            <a:ext cx="3505199" cy="2190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8160" y="6263640"/>
            <a:ext cx="350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Consume</a:t>
            </a:r>
          </a:p>
        </p:txBody>
      </p:sp>
      <p:pic>
        <p:nvPicPr>
          <p:cNvPr id="11" name="Picture 10" descr="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709" y="3200400"/>
            <a:ext cx="2571141" cy="3017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07680" y="6263640"/>
            <a:ext cx="350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Home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HEAD OF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3A5C"/>
                </a:solidFill>
                <a:latin typeface="Georgia"/>
              </a:rPr>
              <a:t>Anita Rao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85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7B4F"/>
                </a:solidFill>
                <a:latin typeface="Calibri"/>
              </a:rPr>
              <a:t>Live · answer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Calibri"/>
              </a:rPr>
              <a:t>Asked: What was the Evergreen Liquid portfolio worth at 30 September 2026?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878"/>
                </a:solidFill>
                <a:latin typeface="Calibri"/>
              </a:rPr>
              <a:t>Harbor answered: Net worth by portfolio for Evergreen Liquid portfolio in September 2026: 41,200,000.</a:t>
            </a:r>
          </a:p>
        </p:txBody>
      </p:sp>
      <p:pic>
        <p:nvPicPr>
          <p:cNvPr id="7" name="Picture 6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907" y="3200400"/>
            <a:ext cx="1456664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350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The build, live</a:t>
            </a:r>
          </a:p>
        </p:txBody>
      </p:sp>
      <p:pic>
        <p:nvPicPr>
          <p:cNvPr id="9" name="Picture 8" descr="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160" y="3613785"/>
            <a:ext cx="3505199" cy="2190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8160" y="6263640"/>
            <a:ext cx="350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Consume</a:t>
            </a:r>
          </a:p>
        </p:txBody>
      </p:sp>
      <p:pic>
        <p:nvPicPr>
          <p:cNvPr id="11" name="Picture 10" descr="0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680" y="3395927"/>
            <a:ext cx="3505199" cy="26264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07680" y="6263640"/>
            <a:ext cx="350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Home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OFFICE AND 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3A5C"/>
                </a:solidFill>
                <a:latin typeface="Georgia"/>
              </a:rPr>
              <a:t>Priya Nair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85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7B4F"/>
                </a:solidFill>
                <a:latin typeface="Calibri"/>
              </a:rPr>
              <a:t>Live · answer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Calibri"/>
              </a:rPr>
              <a:t>Asked: What are the steps of the month-end report process and who does each one?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878"/>
                </a:solidFill>
                <a:latin typeface="Calibri"/>
              </a:rPr>
              <a:t>Harbor answered: Monthly investment report in USD and SGD has 6 steps: 1. Collect the exports (Mei Chen, File drop); 2. Check cash against the administrator (Mei Chen, Excel); 3. Collect manager statements (Mei Chen, Email); 4. Convert to SGD (Raj Patel, Excel); 5. Review and approve the report (Raj Patel, Report pack); 6. Read the report (Daniel Foo, Report pack).</a:t>
            </a:r>
          </a:p>
        </p:txBody>
      </p:sp>
      <p:pic>
        <p:nvPicPr>
          <p:cNvPr id="7" name="Picture 6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" y="3200400"/>
            <a:ext cx="1931212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Stuck</a:t>
            </a:r>
          </a:p>
        </p:txBody>
      </p:sp>
      <p:pic>
        <p:nvPicPr>
          <p:cNvPr id="9" name="Picture 8" descr="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251" y="3200400"/>
            <a:ext cx="1936376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8327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The build, live</a:t>
            </a:r>
          </a:p>
        </p:txBody>
      </p:sp>
      <p:pic>
        <p:nvPicPr>
          <p:cNvPr id="11" name="Picture 10" descr="0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19" y="3909060"/>
            <a:ext cx="256032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1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Consume</a:t>
            </a:r>
          </a:p>
        </p:txBody>
      </p:sp>
      <p:pic>
        <p:nvPicPr>
          <p:cNvPr id="13" name="Picture 12" descr="0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59" y="3909060"/>
            <a:ext cx="2560320" cy="1600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5255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Home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3A5C"/>
                </a:solidFill>
                <a:latin typeface="Georgia"/>
              </a:rPr>
              <a:t>Raj Patel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85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7791F"/>
                </a:solidFill>
                <a:latin typeface="Calibri"/>
              </a:rPr>
              <a:t>Live · figure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Calibri"/>
              </a:rPr>
              <a:t>Asked: Why did Fund A move since the issued September report?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878"/>
                </a:solidFill>
                <a:latin typeface="Calibri"/>
              </a:rPr>
              <a:t>Harbor answered: Not available yet: no ready table of this project holds that figure (its figures are Net worth, Time‑weighted return net of fees, Allocation drift, Single‑issuer concentration). Not loaded: 04_revision_notice_A_2026-09-30_amended.eml: This file is quarantined and cannot be loaded.</a:t>
            </a:r>
          </a:p>
        </p:txBody>
      </p:sp>
      <p:pic>
        <p:nvPicPr>
          <p:cNvPr id="7" name="Picture 6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03" y="3200400"/>
            <a:ext cx="2508792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Stuck</a:t>
            </a:r>
          </a:p>
        </p:txBody>
      </p:sp>
      <p:pic>
        <p:nvPicPr>
          <p:cNvPr id="9" name="Picture 8" descr="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956" y="3200400"/>
            <a:ext cx="1904966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8327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The build, live</a:t>
            </a:r>
          </a:p>
        </p:txBody>
      </p:sp>
      <p:pic>
        <p:nvPicPr>
          <p:cNvPr id="11" name="Picture 10" descr="0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19" y="3909060"/>
            <a:ext cx="256032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1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Consume</a:t>
            </a:r>
          </a:p>
        </p:txBody>
      </p:sp>
      <p:pic>
        <p:nvPicPr>
          <p:cNvPr id="13" name="Picture 12" descr="0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59" y="3770375"/>
            <a:ext cx="2560320" cy="1877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5255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Home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3A5C"/>
                </a:solidFill>
                <a:latin typeface="Georgia"/>
              </a:rPr>
              <a:t>Mei 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85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7791F"/>
                </a:solidFill>
                <a:latin typeface="Calibri"/>
              </a:rPr>
              <a:t>Live · figure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Calibri"/>
              </a:rPr>
              <a:t>Asked: What are we worth in the latest report?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878"/>
                </a:solidFill>
                <a:latin typeface="Calibri"/>
              </a:rPr>
              <a:t>Harbor answered: Net worth USD for USD in October 2026: 44,000,000.</a:t>
            </a:r>
          </a:p>
        </p:txBody>
      </p:sp>
      <p:pic>
        <p:nvPicPr>
          <p:cNvPr id="7" name="Picture 6" descr="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37" y="3200400"/>
            <a:ext cx="1998725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Stuck</a:t>
            </a:r>
          </a:p>
        </p:txBody>
      </p:sp>
      <p:pic>
        <p:nvPicPr>
          <p:cNvPr id="9" name="Picture 8" descr="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188" y="3200400"/>
            <a:ext cx="1408502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8327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The build, live</a:t>
            </a:r>
          </a:p>
        </p:txBody>
      </p:sp>
      <p:pic>
        <p:nvPicPr>
          <p:cNvPr id="11" name="Picture 10" descr="0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19" y="3909060"/>
            <a:ext cx="256032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1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Consume</a:t>
            </a:r>
          </a:p>
        </p:txBody>
      </p:sp>
      <p:pic>
        <p:nvPicPr>
          <p:cNvPr id="13" name="Picture 12" descr="0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59" y="3908171"/>
            <a:ext cx="2560320" cy="16019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5255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Home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OPERATIONS LEAD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3A5C"/>
                </a:solidFill>
                <a:latin typeface="Georgia"/>
              </a:rPr>
              <a:t>Grace 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85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7791F"/>
                </a:solidFill>
                <a:latin typeface="Calibri"/>
              </a:rPr>
              <a:t>Live · figure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Calibri"/>
              </a:rPr>
              <a:t>Asked: Which entity has a cash break on 8 October and by how much?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878"/>
                </a:solidFill>
                <a:latin typeface="Calibri"/>
              </a:rPr>
              <a:t>Harbor answered: Not available yet: Cash breakovers has no figure for that day.</a:t>
            </a:r>
          </a:p>
        </p:txBody>
      </p:sp>
      <p:pic>
        <p:nvPicPr>
          <p:cNvPr id="7" name="Picture 6" descr="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76" y="3200400"/>
            <a:ext cx="1411246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Stuck</a:t>
            </a:r>
          </a:p>
        </p:txBody>
      </p:sp>
      <p:pic>
        <p:nvPicPr>
          <p:cNvPr id="9" name="Picture 8" descr="0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691" y="3200400"/>
            <a:ext cx="1883497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8327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The build, live</a:t>
            </a:r>
          </a:p>
        </p:txBody>
      </p:sp>
      <p:pic>
        <p:nvPicPr>
          <p:cNvPr id="11" name="Picture 10" descr="0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19" y="3490341"/>
            <a:ext cx="2560320" cy="24376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1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Consume</a:t>
            </a:r>
          </a:p>
        </p:txBody>
      </p:sp>
      <p:pic>
        <p:nvPicPr>
          <p:cNvPr id="13" name="Picture 12" descr="0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59" y="3868165"/>
            <a:ext cx="2560320" cy="16819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5255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Home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INVESTMENT ANALYST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3A5C"/>
                </a:solidFill>
                <a:latin typeface="Georgia"/>
              </a:rPr>
              <a:t>Sofia Reyes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85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7791F"/>
                </a:solidFill>
                <a:latin typeface="Calibri"/>
              </a:rPr>
              <a:t>Live · figure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Calibri"/>
              </a:rPr>
              <a:t>Asked: What changed at Kestrel Ridge since the last meeting?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878"/>
                </a:solidFill>
                <a:latin typeface="Calibri"/>
              </a:rPr>
              <a:t>Harbor answered: Not available yet: no ready table of this project holds that figure (its figures are Net worth, Time‑weighted return (net of fees), Allocation drift, Single‑issuer concentration, Cash drag). Not loaded: 04_kestrel_ridge_onsite_2026-06-12.md: This file is quarantined and cannot be loaded. | kestrel_ridge_q3_2026_newsletter.pdf: I have not seen this layout before. Open the thread and tell me which line holds the amount…</a:t>
            </a:r>
          </a:p>
        </p:txBody>
      </p:sp>
      <p:pic>
        <p:nvPicPr>
          <p:cNvPr id="7" name="Picture 6" descr="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3200400"/>
            <a:ext cx="1234439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Stuck</a:t>
            </a:r>
          </a:p>
        </p:txBody>
      </p:sp>
      <p:pic>
        <p:nvPicPr>
          <p:cNvPr id="9" name="Picture 8" descr="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786" y="3200400"/>
            <a:ext cx="1837306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8327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The build, live</a:t>
            </a:r>
          </a:p>
        </p:txBody>
      </p:sp>
      <p:pic>
        <p:nvPicPr>
          <p:cNvPr id="11" name="Picture 10" descr="0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19" y="3909060"/>
            <a:ext cx="256032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1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Consume</a:t>
            </a:r>
          </a:p>
        </p:txBody>
      </p:sp>
      <p:pic>
        <p:nvPicPr>
          <p:cNvPr id="13" name="Picture 12" descr="0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59" y="3386328"/>
            <a:ext cx="2560320" cy="26456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5255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Home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SOFIA REYES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Georgia"/>
              </a:rPr>
              <a:t>Sent to signer</a:t>
            </a:r>
          </a:p>
        </p:txBody>
      </p:sp>
      <p:pic>
        <p:nvPicPr>
          <p:cNvPr id="4" name="Picture 3" descr="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705" y="1371600"/>
            <a:ext cx="191610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SOFIA REYES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Georgia"/>
              </a:rPr>
              <a:t>Signed record</a:t>
            </a:r>
          </a:p>
        </p:txBody>
      </p:sp>
      <p:pic>
        <p:nvPicPr>
          <p:cNvPr id="4" name="Picture 3" descr="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924" y="1371600"/>
            <a:ext cx="575567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SOFIA REYES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Georgia"/>
              </a:rPr>
              <a:t>Signer's Action</a:t>
            </a:r>
          </a:p>
        </p:txBody>
      </p:sp>
      <p:pic>
        <p:nvPicPr>
          <p:cNvPr id="4" name="Picture 3" descr="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6" y="1371600"/>
            <a:ext cx="833932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RISK AND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3A5C"/>
                </a:solidFill>
                <a:latin typeface="Georgia"/>
              </a:rPr>
              <a:t>Tom Hale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85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7791F"/>
                </a:solidFill>
                <a:latin typeface="Calibri"/>
              </a:rPr>
              <a:t>Live · figure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Calibri"/>
              </a:rPr>
              <a:t>Asked: Which holding is over its single-name limit?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878"/>
                </a:solidFill>
                <a:latin typeface="Calibri"/>
              </a:rPr>
              <a:t>Harbor answered: Not available yet: Single‑issuer concentration has no figure in the ready tables. metrics has no rows: it reads silver liquidity headroom, silver single issuer concentration, which hold nothing yet.</a:t>
            </a:r>
          </a:p>
        </p:txBody>
      </p:sp>
      <p:pic>
        <p:nvPicPr>
          <p:cNvPr id="7" name="Picture 6" descr="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394" y="3200400"/>
            <a:ext cx="121681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Stuck</a:t>
            </a:r>
          </a:p>
        </p:txBody>
      </p:sp>
      <p:pic>
        <p:nvPicPr>
          <p:cNvPr id="9" name="Picture 8" descr="0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432" y="3200400"/>
            <a:ext cx="1308015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8327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The build, live</a:t>
            </a:r>
          </a:p>
        </p:txBody>
      </p:sp>
      <p:pic>
        <p:nvPicPr>
          <p:cNvPr id="11" name="Picture 10" descr="0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19" y="3909060"/>
            <a:ext cx="256032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1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Consume</a:t>
            </a:r>
          </a:p>
        </p:txBody>
      </p:sp>
      <p:pic>
        <p:nvPicPr>
          <p:cNvPr id="13" name="Picture 12" descr="0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59" y="3608577"/>
            <a:ext cx="2560320" cy="2201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5255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Home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TOM 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Georgia"/>
              </a:rPr>
              <a:t>Sent to signer</a:t>
            </a:r>
          </a:p>
        </p:txBody>
      </p:sp>
      <p:pic>
        <p:nvPicPr>
          <p:cNvPr id="4" name="Picture 3" descr="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566" y="1371600"/>
            <a:ext cx="209238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TOM 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Georgia"/>
              </a:rPr>
              <a:t>Signed record</a:t>
            </a:r>
          </a:p>
        </p:txBody>
      </p:sp>
      <p:pic>
        <p:nvPicPr>
          <p:cNvPr id="4" name="Picture 3" descr="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274" y="1371600"/>
            <a:ext cx="332097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TOM 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Georgia"/>
              </a:rPr>
              <a:t>Signer's Action</a:t>
            </a:r>
          </a:p>
        </p:txBody>
      </p:sp>
      <p:pic>
        <p:nvPicPr>
          <p:cNvPr id="4" name="Picture 3" descr="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6" y="1371600"/>
            <a:ext cx="833932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FUND ACCOUNTANT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3A5C"/>
                </a:solidFill>
                <a:latin typeface="Georgia"/>
              </a:rPr>
              <a:t>Helen Foo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85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7791F"/>
                </a:solidFill>
                <a:latin typeface="Calibri"/>
              </a:rPr>
              <a:t>Live · figure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Calibri"/>
              </a:rPr>
              <a:t>Asked: Which statement is missing and how overdue is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878"/>
                </a:solidFill>
                <a:latin typeface="Calibri"/>
              </a:rPr>
              <a:t>Harbor answered: Rules-only reply: I could not check a figure in my answer against the data, so I left it out. About For every fund I want: This project has 1 set of figures ready for dashboards: Shows for each fund the expected statement arrival date, the actual arrival date, the lag in days, and whether the statement is missing. You can see 0 dashboards. You can ask me for arrival lag days. For how the figures are built, open Build…</a:t>
            </a:r>
          </a:p>
        </p:txBody>
      </p:sp>
      <p:pic>
        <p:nvPicPr>
          <p:cNvPr id="7" name="Picture 6" descr="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52" y="3200400"/>
            <a:ext cx="2473095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Stuck</a:t>
            </a:r>
          </a:p>
        </p:txBody>
      </p:sp>
      <p:pic>
        <p:nvPicPr>
          <p:cNvPr id="9" name="Picture 8" descr="0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856" y="3200400"/>
            <a:ext cx="1371167" cy="30175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8327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The build, live</a:t>
            </a:r>
          </a:p>
        </p:txBody>
      </p:sp>
      <p:pic>
        <p:nvPicPr>
          <p:cNvPr id="11" name="Picture 10" descr="0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19" y="3909060"/>
            <a:ext cx="256032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1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Consume</a:t>
            </a:r>
          </a:p>
        </p:txBody>
      </p:sp>
      <p:pic>
        <p:nvPicPr>
          <p:cNvPr id="13" name="Picture 12" descr="0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59" y="3426333"/>
            <a:ext cx="2560320" cy="25656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5255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Home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8D57"/>
                </a:solidFill>
                <a:latin typeface="Calibri"/>
              </a:rPr>
              <a:t>OPERATIONS CLERK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3A5C"/>
                </a:solidFill>
                <a:latin typeface="Georgia"/>
              </a:rPr>
              <a:t>Sam Lee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85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7791F"/>
                </a:solidFill>
                <a:latin typeface="Calibri"/>
              </a:rPr>
              <a:t>Live · figure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Calibri"/>
              </a:rPr>
              <a:t>Asked: How much does the FX forward confirmation differ from our record?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878"/>
                </a:solidFill>
                <a:latin typeface="Calibri"/>
              </a:rPr>
              <a:t>Harbor answered: Not available yet: FX forward confirmation variance has no figure in the ready tables. each day i match what trade and fx variance has 5 rows but none holds a value for FX forward confirmation variance. Not loaded: trading_export_20260915.csv: Nothing was loaded. All 1 rows are held back: 0 instrument name(s) and 0 portfolio code(s) need approval. Row 2: T-20260915-F01: side 'sell usd / buy sgd' is not buy or sell. |…</a:t>
            </a:r>
          </a:p>
        </p:txBody>
      </p:sp>
      <p:pic>
        <p:nvPicPr>
          <p:cNvPr id="7" name="Picture 6" descr="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90" y="3200400"/>
            <a:ext cx="2536619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Stuck</a:t>
            </a:r>
          </a:p>
        </p:txBody>
      </p:sp>
      <p:pic>
        <p:nvPicPr>
          <p:cNvPr id="9" name="Picture 8" descr="0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847" y="3200400"/>
            <a:ext cx="1157184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8327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The build, live</a:t>
            </a:r>
          </a:p>
        </p:txBody>
      </p:sp>
      <p:pic>
        <p:nvPicPr>
          <p:cNvPr id="11" name="Picture 10" descr="0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19" y="3805935"/>
            <a:ext cx="2560320" cy="1806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1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Consume</a:t>
            </a:r>
          </a:p>
        </p:txBody>
      </p:sp>
      <p:pic>
        <p:nvPicPr>
          <p:cNvPr id="13" name="Picture 12" descr="0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3669" y="3200400"/>
            <a:ext cx="2538100" cy="3017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52559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878"/>
                </a:solidFill>
                <a:latin typeface="Calibri"/>
              </a:rPr>
              <a:t>Home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